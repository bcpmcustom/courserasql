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6" name="PlaceHolder 2"/>
          <p:cNvSpPr>
            <a:spLocks noGrp="1"/>
          </p:cNvSpPr>
          <p:nvPr>
            <p:ph type="subTitle"/>
          </p:nvPr>
        </p:nvSpPr>
        <p:spPr>
          <a:xfrm>
            <a:off x="504000" y="1768680"/>
            <a:ext cx="9072000" cy="4384080"/>
          </a:xfrm>
          <a:prstGeom prst="rect">
            <a:avLst/>
          </a:prstGeom>
          <a:noFill/>
          <a:ln w="0">
            <a:noFill/>
          </a:ln>
        </p:spPr>
        <p:txBody>
          <a:bodyPr lIns="0" rIns="0" tIns="0" bIns="0" anchor="ctr">
            <a:noAutofit/>
          </a:bodyPr>
          <a:p>
            <a:pPr indent="0" algn="ctr">
              <a:buNone/>
            </a:pPr>
            <a:endParaRPr b="0" lang="en-CA"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1EAA1F9-BB17-4744-A9F6-F217776FAD5E}"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533F44E-DCC6-4B42-9DBE-881D567135F2}" type="slidenum">
              <a:t>&lt;#&gt;</a:t>
            </a:fld>
          </a:p>
        </p:txBody>
      </p:sp>
      <p:sp>
        <p:nvSpPr>
          <p:cNvPr id="4" name="PlaceHolder 3"/>
          <p:cNvSpPr>
            <a:spLocks noGrp="1"/>
          </p:cNvSpPr>
          <p:nvPr>
            <p:ph type="dt" idx="6"/>
          </p:nvPr>
        </p:nvSpPr>
        <p:spPr/>
        <p:txBody>
          <a:bodyPr/>
          <a:p>
            <a:r>
              <a:rPr lang="en-CA"/>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9500">
              <a:srgbClr val="dddddd"/>
            </a:gs>
            <a:gs pos="50000">
              <a:srgbClr val="858585"/>
            </a:gs>
            <a:gs pos="90500">
              <a:srgbClr val="dddddd"/>
            </a:gs>
          </a:gsLst>
          <a:lin ang="17700000"/>
        </a:gradFill>
      </p:bgPr>
    </p:bg>
    <p:spTree>
      <p:nvGrpSpPr>
        <p:cNvPr id="1" name=""/>
        <p:cNvGrpSpPr/>
        <p:nvPr/>
      </p:nvGrpSpPr>
      <p:grpSpPr>
        <a:xfrm>
          <a:off x="0" y="0"/>
          <a:ext cx="0" cy="0"/>
          <a:chOff x="0" y="0"/>
          <a:chExt cx="0" cy="0"/>
        </a:xfrm>
      </p:grpSpPr>
      <p:pic>
        <p:nvPicPr>
          <p:cNvPr id="0" name="" descr=""/>
          <p:cNvPicPr/>
          <p:nvPr/>
        </p:nvPicPr>
        <p:blipFill>
          <a:blip r:embed="rId2"/>
          <a:stretch/>
        </p:blipFill>
        <p:spPr>
          <a:xfrm>
            <a:off x="8780400" y="6543720"/>
            <a:ext cx="938520" cy="655200"/>
          </a:xfrm>
          <a:prstGeom prst="rect">
            <a:avLst/>
          </a:prstGeom>
          <a:ln w="0">
            <a:noFill/>
          </a:ln>
          <a:effectLst>
            <a:outerShdw blurRad="127080" dir="8100000" dist="50402" rotWithShape="0">
              <a:srgbClr val="1c1c1c">
                <a:alpha val="65000"/>
              </a:srgbClr>
            </a:outerShdw>
          </a:effectLst>
        </p:spPr>
      </p:pic>
      <p:sp>
        <p:nvSpPr>
          <p:cNvPr id="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CA" sz="1800" spc="-1" strike="noStrike">
                <a:solidFill>
                  <a:srgbClr val="000000"/>
                </a:solidFill>
                <a:latin typeface="Arial"/>
              </a:rPr>
              <a:t>Click to edit the title text format</a:t>
            </a:r>
            <a:endParaRPr b="0" lang="en-CA" sz="1800" spc="-1" strike="noStrike">
              <a:solidFill>
                <a:srgbClr val="000000"/>
              </a:solidFill>
              <a:latin typeface="Arial"/>
            </a:endParaRPr>
          </a:p>
        </p:txBody>
      </p:sp>
      <p:sp>
        <p:nvSpPr>
          <p:cNvPr id="2" name="PlaceHolder 2"/>
          <p:cNvSpPr>
            <a:spLocks noGrp="1"/>
          </p:cNvSpPr>
          <p:nvPr>
            <p:ph type="ftr" idx="1"/>
          </p:nvPr>
        </p:nvSpPr>
        <p:spPr>
          <a:xfrm>
            <a:off x="3447360" y="6886800"/>
            <a:ext cx="3193920" cy="519840"/>
          </a:xfrm>
          <a:prstGeom prst="rect">
            <a:avLst/>
          </a:prstGeom>
          <a:noFill/>
          <a:ln w="0">
            <a:noFill/>
          </a:ln>
        </p:spPr>
        <p:txBody>
          <a:bodyPr lIns="0" rIns="0" tIns="0" bIns="0" anchor="t">
            <a:noAutofit/>
          </a:bodyPr>
          <a:lstStyle>
            <a:lvl1pPr indent="0" algn="ctr">
              <a:lnSpc>
                <a:spcPct val="100000"/>
              </a:lnSpc>
              <a:buNone/>
              <a:tabLst>
                <a:tab algn="l" pos="0"/>
              </a:tabLst>
              <a:defRPr b="0" lang="en-CA" sz="1400" spc="-1" strike="noStrike">
                <a:solidFill>
                  <a:srgbClr val="000000"/>
                </a:solidFill>
                <a:latin typeface="Times New Roman"/>
              </a:defRPr>
            </a:lvl1pPr>
          </a:lstStyle>
          <a:p>
            <a:pPr indent="0" algn="ctr">
              <a:lnSpc>
                <a:spcPct val="100000"/>
              </a:lnSpc>
              <a:buNone/>
              <a:tabLst>
                <a:tab algn="l" pos="0"/>
              </a:tabLst>
            </a:pPr>
            <a:r>
              <a:rPr b="0" lang="en-CA" sz="1400" spc="-1" strike="noStrike">
                <a:solidFill>
                  <a:srgbClr val="000000"/>
                </a:solidFill>
                <a:latin typeface="Times New Roman"/>
              </a:rPr>
              <a:t> </a:t>
            </a:r>
            <a:endParaRPr b="0" lang="en-CA" sz="1400" spc="-1" strike="noStrike">
              <a:solidFill>
                <a:srgbClr val="000000"/>
              </a:solidFill>
              <a:latin typeface="Times New Roman"/>
            </a:endParaRPr>
          </a:p>
        </p:txBody>
      </p:sp>
      <p:sp>
        <p:nvSpPr>
          <p:cNvPr id="3" name="PlaceHolder 3"/>
          <p:cNvSpPr>
            <a:spLocks noGrp="1"/>
          </p:cNvSpPr>
          <p:nvPr>
            <p:ph type="sldNum" idx="2"/>
          </p:nvPr>
        </p:nvSpPr>
        <p:spPr>
          <a:xfrm>
            <a:off x="7227360" y="6886800"/>
            <a:ext cx="2347200" cy="519840"/>
          </a:xfrm>
          <a:prstGeom prst="rect">
            <a:avLst/>
          </a:prstGeom>
          <a:noFill/>
          <a:ln w="0">
            <a:noFill/>
          </a:ln>
        </p:spPr>
        <p:txBody>
          <a:bodyPr lIns="0" rIns="0" tIns="0" bIns="0" anchor="t">
            <a:noAutofit/>
          </a:bodyPr>
          <a:lstStyle>
            <a:lvl1pPr indent="0" algn="r">
              <a:lnSpc>
                <a:spcPct val="100000"/>
              </a:lnSpc>
              <a:buNone/>
              <a:tabLst>
                <a:tab algn="l" pos="0"/>
              </a:tabLst>
              <a:defRPr b="0" lang="en-CA" sz="1400" spc="-1" strike="noStrike">
                <a:solidFill>
                  <a:srgbClr val="000000"/>
                </a:solidFill>
                <a:latin typeface="Times New Roman"/>
              </a:defRPr>
            </a:lvl1pPr>
          </a:lstStyle>
          <a:p>
            <a:pPr indent="0" algn="r">
              <a:lnSpc>
                <a:spcPct val="100000"/>
              </a:lnSpc>
              <a:buNone/>
              <a:tabLst>
                <a:tab algn="l" pos="0"/>
              </a:tabLst>
            </a:pPr>
            <a:fld id="{47C586ED-B75F-45D7-9710-64562F0F5D9F}" type="slidenum">
              <a:rPr b="0" lang="en-CA" sz="1400" spc="-1" strike="noStrike">
                <a:solidFill>
                  <a:srgbClr val="000000"/>
                </a:solidFill>
                <a:latin typeface="Times New Roman"/>
              </a:rPr>
              <a:t>22</a:t>
            </a:fld>
            <a:endParaRPr b="0" lang="en-CA" sz="1400" spc="-1" strike="noStrike">
              <a:solidFill>
                <a:srgbClr val="000000"/>
              </a:solidFill>
              <a:latin typeface="Times New Roman"/>
            </a:endParaRPr>
          </a:p>
        </p:txBody>
      </p:sp>
      <p:sp>
        <p:nvSpPr>
          <p:cNvPr id="4" name="PlaceHolder 4"/>
          <p:cNvSpPr>
            <a:spLocks noGrp="1"/>
          </p:cNvSpPr>
          <p:nvPr>
            <p:ph type="dt" idx="3"/>
          </p:nvPr>
        </p:nvSpPr>
        <p:spPr>
          <a:xfrm>
            <a:off x="504000" y="6886800"/>
            <a:ext cx="2347200" cy="519840"/>
          </a:xfrm>
          <a:prstGeom prst="rect">
            <a:avLst/>
          </a:prstGeom>
          <a:noFill/>
          <a:ln w="0">
            <a:noFill/>
          </a:ln>
        </p:spPr>
        <p:txBody>
          <a:bodyPr lIns="0" rIns="0" tIns="0" bIns="0" anchor="t">
            <a:noAutofit/>
          </a:bodyPr>
          <a:lstStyle>
            <a:lvl1pPr indent="0">
              <a:buNone/>
              <a:defRPr b="0" lang="en-CA" sz="1400" spc="-1" strike="noStrike">
                <a:solidFill>
                  <a:srgbClr val="000000"/>
                </a:solidFill>
                <a:latin typeface="Times New Roman"/>
              </a:defRPr>
            </a:lvl1pPr>
          </a:lstStyle>
          <a:p>
            <a:pPr indent="0">
              <a:buNone/>
            </a:pPr>
            <a:r>
              <a:rPr b="0" lang="en-CA" sz="1400" spc="-1" strike="noStrike">
                <a:solidFill>
                  <a:srgbClr val="000000"/>
                </a:solidFill>
                <a:latin typeface="Times New Roman"/>
              </a:rPr>
              <a:t> </a:t>
            </a:r>
            <a:endParaRPr b="0" lang="en-CA"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9500">
              <a:srgbClr val="dddddd"/>
            </a:gs>
            <a:gs pos="50000">
              <a:srgbClr val="858585"/>
            </a:gs>
            <a:gs pos="90500">
              <a:srgbClr val="dddddd"/>
            </a:gs>
          </a:gsLst>
          <a:lin ang="17700000"/>
        </a:gradFill>
      </p:bgPr>
    </p:bg>
    <p:spTree>
      <p:nvGrpSpPr>
        <p:cNvPr id="1" name=""/>
        <p:cNvGrpSpPr/>
        <p:nvPr/>
      </p:nvGrpSpPr>
      <p:grpSpPr>
        <a:xfrm>
          <a:off x="0" y="0"/>
          <a:ext cx="0" cy="0"/>
          <a:chOff x="0" y="0"/>
          <a:chExt cx="0" cy="0"/>
        </a:xfrm>
      </p:grpSpPr>
      <p:pic>
        <p:nvPicPr>
          <p:cNvPr id="7" name="" descr=""/>
          <p:cNvPicPr/>
          <p:nvPr/>
        </p:nvPicPr>
        <p:blipFill>
          <a:blip r:embed="rId2"/>
          <a:stretch/>
        </p:blipFill>
        <p:spPr>
          <a:xfrm>
            <a:off x="8780400" y="6543720"/>
            <a:ext cx="938520" cy="655200"/>
          </a:xfrm>
          <a:prstGeom prst="rect">
            <a:avLst/>
          </a:prstGeom>
          <a:ln w="0">
            <a:noFill/>
          </a:ln>
          <a:effectLst>
            <a:outerShdw blurRad="127080" dir="8100000" dist="50402" rotWithShape="0">
              <a:srgbClr val="1c1c1c">
                <a:alpha val="65000"/>
              </a:srgbClr>
            </a:outerShdw>
          </a:effectLst>
        </p:spPr>
      </p:pic>
      <p:sp>
        <p:nvSpPr>
          <p:cNvPr id="8" name="PlaceHolder 1"/>
          <p:cNvSpPr>
            <a:spLocks noGrp="1"/>
          </p:cNvSpPr>
          <p:nvPr>
            <p:ph type="ftr" idx="4"/>
          </p:nvPr>
        </p:nvSpPr>
        <p:spPr>
          <a:xfrm>
            <a:off x="3447360" y="6886800"/>
            <a:ext cx="3193920" cy="519840"/>
          </a:xfrm>
          <a:prstGeom prst="rect">
            <a:avLst/>
          </a:prstGeom>
          <a:noFill/>
          <a:ln w="0">
            <a:noFill/>
          </a:ln>
        </p:spPr>
        <p:txBody>
          <a:bodyPr lIns="0" rIns="0" tIns="0" bIns="0" anchor="t">
            <a:noAutofit/>
          </a:bodyPr>
          <a:lstStyle>
            <a:lvl1pPr indent="0" algn="ctr">
              <a:lnSpc>
                <a:spcPct val="100000"/>
              </a:lnSpc>
              <a:buNone/>
              <a:tabLst>
                <a:tab algn="l" pos="0"/>
              </a:tabLst>
              <a:defRPr b="0" lang="en-CA" sz="1400" spc="-1" strike="noStrike">
                <a:solidFill>
                  <a:srgbClr val="000000"/>
                </a:solidFill>
                <a:latin typeface="Times New Roman"/>
              </a:defRPr>
            </a:lvl1pPr>
          </a:lstStyle>
          <a:p>
            <a:pPr indent="0"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solidFill>
                <a:srgbClr val="000000"/>
              </a:solidFill>
              <a:latin typeface="Times New Roman"/>
            </a:endParaRPr>
          </a:p>
        </p:txBody>
      </p:sp>
      <p:sp>
        <p:nvSpPr>
          <p:cNvPr id="9" name="PlaceHolder 2"/>
          <p:cNvSpPr>
            <a:spLocks noGrp="1"/>
          </p:cNvSpPr>
          <p:nvPr>
            <p:ph type="sldNum" idx="5"/>
          </p:nvPr>
        </p:nvSpPr>
        <p:spPr>
          <a:xfrm>
            <a:off x="7227360" y="6886800"/>
            <a:ext cx="2347200" cy="519840"/>
          </a:xfrm>
          <a:prstGeom prst="rect">
            <a:avLst/>
          </a:prstGeom>
          <a:noFill/>
          <a:ln w="0">
            <a:noFill/>
          </a:ln>
        </p:spPr>
        <p:txBody>
          <a:bodyPr lIns="0" rIns="0" tIns="0" bIns="0" anchor="t">
            <a:noAutofit/>
          </a:bodyPr>
          <a:lstStyle>
            <a:lvl1pPr indent="0" algn="r">
              <a:lnSpc>
                <a:spcPct val="100000"/>
              </a:lnSpc>
              <a:buNone/>
              <a:tabLst>
                <a:tab algn="l" pos="0"/>
              </a:tabLst>
              <a:defRPr b="0" lang="en-CA" sz="1400" spc="-1" strike="noStrike">
                <a:solidFill>
                  <a:srgbClr val="000000"/>
                </a:solidFill>
                <a:latin typeface="Times New Roman"/>
              </a:defRPr>
            </a:lvl1pPr>
          </a:lstStyle>
          <a:p>
            <a:pPr indent="0" algn="r">
              <a:lnSpc>
                <a:spcPct val="100000"/>
              </a:lnSpc>
              <a:buNone/>
              <a:tabLst>
                <a:tab algn="l" pos="0"/>
              </a:tabLst>
            </a:pPr>
            <a:fld id="{2B3BD40A-C328-4131-A442-CEE0CA35CA19}" type="slidenum">
              <a:rPr b="0" lang="en-CA" sz="1400" spc="-1" strike="noStrike">
                <a:solidFill>
                  <a:srgbClr val="000000"/>
                </a:solidFill>
                <a:latin typeface="Times New Roman"/>
              </a:rPr>
              <a:t>&lt;number&gt;</a:t>
            </a:fld>
            <a:endParaRPr b="0" lang="en-CA" sz="1400" spc="-1" strike="noStrike">
              <a:solidFill>
                <a:srgbClr val="000000"/>
              </a:solidFill>
              <a:latin typeface="Times New Roman"/>
            </a:endParaRPr>
          </a:p>
        </p:txBody>
      </p:sp>
      <p:sp>
        <p:nvSpPr>
          <p:cNvPr id="10" name="PlaceHolder 3"/>
          <p:cNvSpPr>
            <a:spLocks noGrp="1"/>
          </p:cNvSpPr>
          <p:nvPr>
            <p:ph type="dt" idx="6"/>
          </p:nvPr>
        </p:nvSpPr>
        <p:spPr>
          <a:xfrm>
            <a:off x="504000" y="6886800"/>
            <a:ext cx="2347200" cy="519840"/>
          </a:xfrm>
          <a:prstGeom prst="rect">
            <a:avLst/>
          </a:prstGeom>
          <a:noFill/>
          <a:ln w="0">
            <a:noFill/>
          </a:ln>
        </p:spPr>
        <p:txBody>
          <a:bodyPr lIns="0" rIns="0" tIns="0" bIns="0" anchor="t">
            <a:noAutofit/>
          </a:bodyPr>
          <a:lstStyle>
            <a:lvl1pPr indent="0">
              <a:buNone/>
              <a:defRPr b="0" lang="en-CA" sz="1400" spc="-1" strike="noStrike">
                <a:solidFill>
                  <a:srgbClr val="000000"/>
                </a:solidFill>
                <a:latin typeface="Times New Roman"/>
              </a:defRPr>
            </a:lvl1pPr>
          </a:lstStyle>
          <a:p>
            <a:pPr indent="0">
              <a:buNone/>
            </a:pPr>
            <a:r>
              <a:rPr b="0" lang="en-CA" sz="1400" spc="-1" strike="noStrike">
                <a:solidFill>
                  <a:srgbClr val="000000"/>
                </a:solidFill>
                <a:latin typeface="Times New Roman"/>
              </a:rPr>
              <a:t>&lt;date/time&gt;</a:t>
            </a:r>
            <a:endParaRPr b="0" lang="en-CA" sz="1400" spc="-1" strike="noStrike">
              <a:solidFill>
                <a:srgbClr val="000000"/>
              </a:solidFill>
              <a:latin typeface="Times New Roman"/>
            </a:endParaRPr>
          </a:p>
        </p:txBody>
      </p:sp>
      <p:sp>
        <p:nvSpPr>
          <p:cNvPr id="11" name="PlaceHolder 4"/>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CA" sz="4400" spc="-1" strike="noStrike">
                <a:solidFill>
                  <a:srgbClr val="000000"/>
                </a:solidFill>
                <a:latin typeface="Arial"/>
              </a:rPr>
              <a:t>Click to edit the title text format</a:t>
            </a:r>
            <a:endParaRPr b="0" lang="en-CA" sz="4400" spc="-1" strike="noStrike">
              <a:solidFill>
                <a:srgbClr val="000000"/>
              </a:solidFill>
              <a:latin typeface="Arial"/>
            </a:endParaRPr>
          </a:p>
        </p:txBody>
      </p:sp>
      <p:sp>
        <p:nvSpPr>
          <p:cNvPr id="12" name="PlaceHolder 5"/>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solidFill>
                  <a:srgbClr val="000000"/>
                </a:solidFill>
                <a:latin typeface="Arial"/>
              </a:rPr>
              <a:t>Click to edit the outline text format</a:t>
            </a:r>
            <a:endParaRPr b="0" lang="en-CA"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CA" sz="2800" spc="-1" strike="noStrike">
                <a:solidFill>
                  <a:srgbClr val="000000"/>
                </a:solidFill>
                <a:latin typeface="Arial"/>
              </a:rPr>
              <a:t>Second Outline Level</a:t>
            </a:r>
            <a:endParaRPr b="0" lang="en-CA"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CA" sz="2400" spc="-1" strike="noStrike">
                <a:solidFill>
                  <a:srgbClr val="000000"/>
                </a:solidFill>
                <a:latin typeface="Arial"/>
              </a:rPr>
              <a:t>Third Outline Level</a:t>
            </a:r>
            <a:endParaRPr b="0" lang="en-CA"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CA" sz="2000" spc="-1" strike="noStrike">
                <a:solidFill>
                  <a:srgbClr val="000000"/>
                </a:solidFill>
                <a:latin typeface="Arial"/>
              </a:rPr>
              <a:t>Fourth Outline Level</a:t>
            </a:r>
            <a:endParaRPr b="0" lang="en-CA"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CA" sz="2000" spc="-1" strike="noStrike">
                <a:solidFill>
                  <a:srgbClr val="000000"/>
                </a:solidFill>
                <a:latin typeface="Arial"/>
              </a:rPr>
              <a:t>Fifth Outline Level</a:t>
            </a:r>
            <a:endParaRPr b="0" lang="en-C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CA" sz="2000" spc="-1" strike="noStrike">
                <a:solidFill>
                  <a:srgbClr val="000000"/>
                </a:solidFill>
                <a:latin typeface="Arial"/>
              </a:rPr>
              <a:t>Sixth Outline Level</a:t>
            </a:r>
            <a:endParaRPr b="0" lang="en-C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CA" sz="2000" spc="-1" strike="noStrike">
                <a:solidFill>
                  <a:srgbClr val="000000"/>
                </a:solidFill>
                <a:latin typeface="Arial"/>
              </a:rPr>
              <a:t>Seventh Outline Level</a:t>
            </a:r>
            <a:endParaRPr b="0" lang="en-C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 name="" descr=""/>
          <p:cNvPicPr/>
          <p:nvPr/>
        </p:nvPicPr>
        <p:blipFill>
          <a:blip r:embed="rId1"/>
          <a:srcRect l="0" t="1550" r="0" b="4695"/>
          <a:stretch/>
        </p:blipFill>
        <p:spPr>
          <a:xfrm>
            <a:off x="1260000" y="2160000"/>
            <a:ext cx="7379640" cy="4611960"/>
          </a:xfrm>
          <a:prstGeom prst="rect">
            <a:avLst/>
          </a:prstGeom>
          <a:ln w="0">
            <a:noFill/>
          </a:ln>
          <a:effectLst>
            <a:outerShdw blurRad="127080" dir="8100000" dist="50402" rotWithShape="0">
              <a:srgbClr val="1c1c1c">
                <a:alpha val="65000"/>
              </a:srgbClr>
            </a:outerShdw>
          </a:effectLst>
        </p:spPr>
      </p:pic>
      <p:sp>
        <p:nvSpPr>
          <p:cNvPr id="14"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5" name="TextBox 2"/>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Mint Classics Warehouse Elimination Study</a:t>
            </a:r>
            <a:endParaRPr b="0" lang="en-CA" sz="4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7"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8" name="TextBox 3"/>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Initial inspection of stock on hand by warehouse location</a:t>
            </a:r>
            <a:endParaRPr b="0" lang="en-CA" sz="4200" spc="-1" strike="noStrike">
              <a:solidFill>
                <a:srgbClr val="000000"/>
              </a:solidFill>
              <a:latin typeface="Arial"/>
            </a:endParaRPr>
          </a:p>
        </p:txBody>
      </p:sp>
      <p:sp>
        <p:nvSpPr>
          <p:cNvPr id="19" name="TextBox 4"/>
          <p:cNvSpPr/>
          <p:nvPr/>
        </p:nvSpPr>
        <p:spPr>
          <a:xfrm>
            <a:off x="640080" y="2286000"/>
            <a:ext cx="8777520" cy="759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The first thing to check is the distribution of product stock according to which warehouse location the stock is being stored.</a:t>
            </a:r>
            <a:endParaRPr b="0" lang="en-CA" sz="2200" spc="-1" strike="noStrike">
              <a:solidFill>
                <a:srgbClr val="000000"/>
              </a:solidFill>
              <a:latin typeface="Arial"/>
            </a:endParaRPr>
          </a:p>
        </p:txBody>
      </p:sp>
      <p:pic>
        <p:nvPicPr>
          <p:cNvPr id="20" name="Picture 5" descr="output_11_0.png"/>
          <p:cNvPicPr/>
          <p:nvPr/>
        </p:nvPicPr>
        <p:blipFill>
          <a:blip r:embed="rId1"/>
          <a:stretch/>
        </p:blipFill>
        <p:spPr>
          <a:xfrm>
            <a:off x="1168200" y="3155040"/>
            <a:ext cx="7739640" cy="31446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Rectangle 3"/>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CA" sz="1800" spc="-1" strike="noStrike">
              <a:solidFill>
                <a:schemeClr val="lt1"/>
              </a:solidFill>
              <a:latin typeface="Arial"/>
              <a:ea typeface="DejaVu Sans"/>
            </a:endParaRPr>
          </a:p>
        </p:txBody>
      </p:sp>
      <p:sp>
        <p:nvSpPr>
          <p:cNvPr id="22" name="Rectangle 4"/>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CA" sz="1800" spc="-1" strike="noStrike">
              <a:solidFill>
                <a:schemeClr val="lt1"/>
              </a:solidFill>
              <a:latin typeface="Arial"/>
              <a:ea typeface="DejaVu Sans"/>
            </a:endParaRPr>
          </a:p>
        </p:txBody>
      </p:sp>
      <p:sp>
        <p:nvSpPr>
          <p:cNvPr id="23" name="TextBox 1"/>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Initial inspection of stock on hand by warehouse location</a:t>
            </a:r>
            <a:endParaRPr b="0" lang="en-CA" sz="4200" spc="-1" strike="noStrike">
              <a:solidFill>
                <a:srgbClr val="000000"/>
              </a:solidFill>
              <a:latin typeface="Arial"/>
            </a:endParaRPr>
          </a:p>
        </p:txBody>
      </p:sp>
      <p:sp>
        <p:nvSpPr>
          <p:cNvPr id="24" name="TextBox 6"/>
          <p:cNvSpPr/>
          <p:nvPr/>
        </p:nvSpPr>
        <p:spPr>
          <a:xfrm>
            <a:off x="640080" y="2286000"/>
            <a:ext cx="8777520" cy="1918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The majority of product stock is stored in Warehouse A.</a:t>
            </a:r>
            <a:endParaRPr b="0" lang="en-CA" sz="2200" spc="-1" strike="noStrike">
              <a:solidFill>
                <a:srgbClr val="000000"/>
              </a:solidFill>
              <a:latin typeface="Arial"/>
            </a:endParaRPr>
          </a:p>
          <a:p>
            <a:pPr>
              <a:lnSpc>
                <a:spcPct val="100000"/>
              </a:lnSpc>
            </a:pPr>
            <a:endParaRPr b="0" lang="en-CA" sz="10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The cost of the stock in Warehouse A is comparatively higher than the cost of the stock stored in any of the other warehouses as demonstrated by the 'Investment Value' being 6% higher than the 'Stock Quantity'</a:t>
            </a:r>
            <a:endParaRPr b="0" lang="en-CA" sz="2200" spc="-1" strike="noStrike">
              <a:solidFill>
                <a:srgbClr val="000000"/>
              </a:solidFill>
              <a:latin typeface="Arial"/>
            </a:endParaRPr>
          </a:p>
        </p:txBody>
      </p:sp>
      <p:pic>
        <p:nvPicPr>
          <p:cNvPr id="25" name="Picture 1" descr="output_11_0.png"/>
          <p:cNvPicPr/>
          <p:nvPr/>
        </p:nvPicPr>
        <p:blipFill>
          <a:blip r:embed="rId1"/>
          <a:stretch/>
        </p:blipFill>
        <p:spPr>
          <a:xfrm>
            <a:off x="2484360" y="4273200"/>
            <a:ext cx="4987080" cy="202644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Rectangle 5"/>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CA" sz="1800" spc="-1" strike="noStrike">
              <a:solidFill>
                <a:schemeClr val="lt1"/>
              </a:solidFill>
              <a:latin typeface="Arial"/>
              <a:ea typeface="DejaVu Sans"/>
            </a:endParaRPr>
          </a:p>
        </p:txBody>
      </p:sp>
      <p:sp>
        <p:nvSpPr>
          <p:cNvPr id="27" name="Rectangle 6"/>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CA" sz="1800" spc="-1" strike="noStrike">
              <a:solidFill>
                <a:schemeClr val="lt1"/>
              </a:solidFill>
              <a:latin typeface="Arial"/>
              <a:ea typeface="DejaVu Sans"/>
            </a:endParaRPr>
          </a:p>
        </p:txBody>
      </p:sp>
      <p:sp>
        <p:nvSpPr>
          <p:cNvPr id="28" name="TextBox 7"/>
          <p:cNvSpPr/>
          <p:nvPr/>
        </p:nvSpPr>
        <p:spPr>
          <a:xfrm>
            <a:off x="654840" y="949680"/>
            <a:ext cx="8777520" cy="82080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b="0" lang="en-CA" sz="4800" spc="-1" strike="noStrike">
                <a:solidFill>
                  <a:srgbClr val="ffffff"/>
                </a:solidFill>
                <a:latin typeface="Arial"/>
                <a:ea typeface="DejaVu Sans"/>
              </a:rPr>
              <a:t>Check Customer Locations</a:t>
            </a:r>
            <a:endParaRPr b="0" lang="en-CA" sz="4800" spc="-1" strike="noStrike">
              <a:solidFill>
                <a:srgbClr val="000000"/>
              </a:solidFill>
              <a:latin typeface="Arial"/>
            </a:endParaRPr>
          </a:p>
        </p:txBody>
      </p:sp>
      <p:sp>
        <p:nvSpPr>
          <p:cNvPr id="29" name="TextBox 8"/>
          <p:cNvSpPr/>
          <p:nvPr/>
        </p:nvSpPr>
        <p:spPr>
          <a:xfrm>
            <a:off x="640080" y="2286000"/>
            <a:ext cx="877752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Where does each warehouse ship it's products?</a:t>
            </a:r>
            <a:endParaRPr b="0" lang="en-CA" sz="2200" spc="-1" strike="noStrike">
              <a:solidFill>
                <a:srgbClr val="000000"/>
              </a:solidFill>
              <a:latin typeface="Arial"/>
            </a:endParaRPr>
          </a:p>
          <a:p>
            <a:pPr>
              <a:lnSpc>
                <a:spcPct val="100000"/>
              </a:lnSpc>
            </a:pPr>
            <a:endParaRPr b="0" lang="en-CA" sz="10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Does each warehouse service it's own geographic location?</a:t>
            </a:r>
            <a:endParaRPr b="0" lang="en-CA" sz="2200" spc="-1" strike="noStrike">
              <a:solidFill>
                <a:srgbClr val="000000"/>
              </a:solidFill>
              <a:latin typeface="Arial"/>
            </a:endParaRPr>
          </a:p>
        </p:txBody>
      </p:sp>
      <p:pic>
        <p:nvPicPr>
          <p:cNvPr id="30" name="Picture 2" descr="9cd8f22a-1241-4222-9e36-da9f3df30ceb.png"/>
          <p:cNvPicPr/>
          <p:nvPr/>
        </p:nvPicPr>
        <p:blipFill>
          <a:blip r:embed="rId1"/>
          <a:stretch/>
        </p:blipFill>
        <p:spPr>
          <a:xfrm>
            <a:off x="1756080" y="3288240"/>
            <a:ext cx="6659640" cy="28314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Rectangle 7"/>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CA" sz="1800" spc="-1" strike="noStrike">
              <a:solidFill>
                <a:schemeClr val="lt1"/>
              </a:solidFill>
              <a:latin typeface="Arial"/>
              <a:ea typeface="DejaVu Sans"/>
            </a:endParaRPr>
          </a:p>
        </p:txBody>
      </p:sp>
      <p:sp>
        <p:nvSpPr>
          <p:cNvPr id="32" name="Rectangle 8"/>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CA" sz="1800" spc="-1" strike="noStrike">
              <a:solidFill>
                <a:schemeClr val="lt1"/>
              </a:solidFill>
              <a:latin typeface="Arial"/>
              <a:ea typeface="DejaVu Sans"/>
            </a:endParaRPr>
          </a:p>
        </p:txBody>
      </p:sp>
      <p:sp>
        <p:nvSpPr>
          <p:cNvPr id="33" name="TextBox 9"/>
          <p:cNvSpPr/>
          <p:nvPr/>
        </p:nvSpPr>
        <p:spPr>
          <a:xfrm>
            <a:off x="640080" y="978480"/>
            <a:ext cx="8777520" cy="82080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b="0" lang="en-CA" sz="4800" spc="-1" strike="noStrike">
                <a:solidFill>
                  <a:srgbClr val="ffffff"/>
                </a:solidFill>
                <a:latin typeface="Arial"/>
                <a:ea typeface="DejaVu Sans"/>
              </a:rPr>
              <a:t>Check Customer Locations</a:t>
            </a:r>
            <a:endParaRPr b="0" lang="en-CA" sz="4800" spc="-1" strike="noStrike">
              <a:solidFill>
                <a:srgbClr val="000000"/>
              </a:solidFill>
              <a:latin typeface="Arial"/>
            </a:endParaRPr>
          </a:p>
        </p:txBody>
      </p:sp>
      <p:sp>
        <p:nvSpPr>
          <p:cNvPr id="34" name="TextBox 10"/>
          <p:cNvSpPr/>
          <p:nvPr/>
        </p:nvSpPr>
        <p:spPr>
          <a:xfrm>
            <a:off x="640080" y="2286000"/>
            <a:ext cx="8777520" cy="759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The map shows that each of the four warehouses ship to all customer regions.</a:t>
            </a:r>
            <a:endParaRPr b="0" lang="en-CA" sz="2200" spc="-1" strike="noStrike">
              <a:solidFill>
                <a:srgbClr val="000000"/>
              </a:solidFill>
              <a:latin typeface="Arial"/>
            </a:endParaRPr>
          </a:p>
        </p:txBody>
      </p:sp>
      <p:pic>
        <p:nvPicPr>
          <p:cNvPr id="35" name="Picture 3" descr="9cd8f22a-1241-4222-9e36-da9f3df30ceb.png"/>
          <p:cNvPicPr/>
          <p:nvPr/>
        </p:nvPicPr>
        <p:blipFill>
          <a:blip r:embed="rId1"/>
          <a:stretch/>
        </p:blipFill>
        <p:spPr>
          <a:xfrm>
            <a:off x="1259280" y="3046680"/>
            <a:ext cx="7560360" cy="313776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37"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38" name="TextBox 3"/>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Check Warehouse Sales &amp; Overhead</a:t>
            </a:r>
            <a:endParaRPr b="0" lang="en-CA" sz="4200" spc="-1" strike="noStrike">
              <a:solidFill>
                <a:srgbClr val="000000"/>
              </a:solidFill>
              <a:latin typeface="Arial"/>
            </a:endParaRPr>
          </a:p>
        </p:txBody>
      </p:sp>
      <p:sp>
        <p:nvSpPr>
          <p:cNvPr id="39" name="TextBox 4"/>
          <p:cNvSpPr/>
          <p:nvPr/>
        </p:nvSpPr>
        <p:spPr>
          <a:xfrm>
            <a:off x="640080" y="2286000"/>
            <a:ext cx="8777520" cy="852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What does the overall product overhead look like?</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How much overhead investment cost is in each warehouse?</a:t>
            </a:r>
            <a:endParaRPr b="0" lang="en-CA" sz="2200" spc="-1" strike="noStrike">
              <a:solidFill>
                <a:srgbClr val="000000"/>
              </a:solidFill>
              <a:latin typeface="Arial"/>
            </a:endParaRPr>
          </a:p>
        </p:txBody>
      </p:sp>
      <p:pic>
        <p:nvPicPr>
          <p:cNvPr id="40" name="Picture 5" descr="output_22_0.png"/>
          <p:cNvPicPr/>
          <p:nvPr/>
        </p:nvPicPr>
        <p:blipFill>
          <a:blip r:embed="rId1"/>
          <a:stretch/>
        </p:blipFill>
        <p:spPr>
          <a:xfrm>
            <a:off x="1080000" y="3231000"/>
            <a:ext cx="7791840" cy="30690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Rectangle 9"/>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42" name="Rectangle 10"/>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43" name="TextBox 11"/>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Check Warehouse Sales &amp; Overhead</a:t>
            </a:r>
            <a:endParaRPr b="0" lang="en-CA" sz="4200" spc="-1" strike="noStrike">
              <a:solidFill>
                <a:srgbClr val="000000"/>
              </a:solidFill>
              <a:latin typeface="Arial"/>
            </a:endParaRPr>
          </a:p>
        </p:txBody>
      </p:sp>
      <p:sp>
        <p:nvSpPr>
          <p:cNvPr id="44" name="TextBox 12"/>
          <p:cNvSpPr/>
          <p:nvPr/>
        </p:nvSpPr>
        <p:spPr>
          <a:xfrm>
            <a:off x="640080" y="2286000"/>
            <a:ext cx="8777520" cy="1613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Overall, sales look reasonable across all product codes with no serious problems in terms of extreme poor sales performance.</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The amount of inventory for each product code is fairly inconsistent.</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Several products show extremely low inventory on hand.</a:t>
            </a:r>
            <a:endParaRPr b="0" lang="en-CA" sz="2200" spc="-1" strike="noStrike">
              <a:solidFill>
                <a:srgbClr val="000000"/>
              </a:solidFill>
              <a:latin typeface="Arial"/>
            </a:endParaRPr>
          </a:p>
        </p:txBody>
      </p:sp>
      <p:pic>
        <p:nvPicPr>
          <p:cNvPr id="45" name="Picture 4" descr="output_22_0.png"/>
          <p:cNvPicPr/>
          <p:nvPr/>
        </p:nvPicPr>
        <p:blipFill>
          <a:blip r:embed="rId1"/>
          <a:stretch/>
        </p:blipFill>
        <p:spPr>
          <a:xfrm>
            <a:off x="2340000" y="3992760"/>
            <a:ext cx="5400000" cy="212724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47"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48" name="TextBox 3"/>
          <p:cNvSpPr/>
          <p:nvPr/>
        </p:nvSpPr>
        <p:spPr>
          <a:xfrm>
            <a:off x="640080" y="900000"/>
            <a:ext cx="877752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800" spc="-1" strike="noStrike">
                <a:solidFill>
                  <a:srgbClr val="ffffff"/>
                </a:solidFill>
                <a:latin typeface="Arial"/>
                <a:ea typeface="DejaVu Sans"/>
              </a:rPr>
              <a:t>Sort Products by Warehouse</a:t>
            </a:r>
            <a:endParaRPr b="0" lang="en-CA" sz="4800" spc="-1" strike="noStrike">
              <a:solidFill>
                <a:srgbClr val="000000"/>
              </a:solidFill>
              <a:latin typeface="Arial"/>
            </a:endParaRPr>
          </a:p>
        </p:txBody>
      </p:sp>
      <p:pic>
        <p:nvPicPr>
          <p:cNvPr id="49" name="Picture 5" descr="output_29_0.png"/>
          <p:cNvPicPr/>
          <p:nvPr/>
        </p:nvPicPr>
        <p:blipFill>
          <a:blip r:embed="rId1"/>
          <a:stretch/>
        </p:blipFill>
        <p:spPr>
          <a:xfrm>
            <a:off x="900000" y="2880000"/>
            <a:ext cx="8280000" cy="285408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Rectangle 1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51" name="Rectangle 1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52" name="TextBox 13"/>
          <p:cNvSpPr/>
          <p:nvPr/>
        </p:nvSpPr>
        <p:spPr>
          <a:xfrm>
            <a:off x="640080" y="900000"/>
            <a:ext cx="877752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800" spc="-1" strike="noStrike">
                <a:solidFill>
                  <a:srgbClr val="ffffff"/>
                </a:solidFill>
                <a:latin typeface="Arial"/>
                <a:ea typeface="DejaVu Sans"/>
              </a:rPr>
              <a:t>Sort Products by Warehouse</a:t>
            </a:r>
            <a:endParaRPr b="0" lang="en-CA" sz="4800" spc="-1" strike="noStrike">
              <a:solidFill>
                <a:srgbClr val="000000"/>
              </a:solidFill>
              <a:latin typeface="Arial"/>
            </a:endParaRPr>
          </a:p>
        </p:txBody>
      </p:sp>
      <p:sp>
        <p:nvSpPr>
          <p:cNvPr id="53" name="TextBox 14"/>
          <p:cNvSpPr/>
          <p:nvPr/>
        </p:nvSpPr>
        <p:spPr>
          <a:xfrm>
            <a:off x="640080" y="2286000"/>
            <a:ext cx="8777520" cy="1949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All warehouses are selling inventory with reasonable distributions.</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All warehouses contain some products which appear to contain insufficient stock levels based on previous sales.</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Depending on the reasons behind the low inventory of certain products it may be advisable to discontinue those particular products.</a:t>
            </a:r>
            <a:endParaRPr b="0" lang="en-CA" sz="2200" spc="-1" strike="noStrike">
              <a:solidFill>
                <a:srgbClr val="000000"/>
              </a:solidFill>
              <a:latin typeface="Arial"/>
            </a:endParaRPr>
          </a:p>
        </p:txBody>
      </p:sp>
      <p:pic>
        <p:nvPicPr>
          <p:cNvPr id="54" name="Picture 7" descr="output_29_0.png"/>
          <p:cNvPicPr/>
          <p:nvPr/>
        </p:nvPicPr>
        <p:blipFill>
          <a:blip r:embed="rId1"/>
          <a:stretch/>
        </p:blipFill>
        <p:spPr>
          <a:xfrm>
            <a:off x="2307960" y="4427640"/>
            <a:ext cx="5432040" cy="187236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56"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57" name="TextBox 3"/>
          <p:cNvSpPr/>
          <p:nvPr/>
        </p:nvSpPr>
        <p:spPr>
          <a:xfrm>
            <a:off x="610560" y="978840"/>
            <a:ext cx="8777520" cy="7297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Check Low-Stock by Manufacturer</a:t>
            </a:r>
            <a:endParaRPr b="0" lang="en-CA" sz="4200" spc="-1" strike="noStrike">
              <a:solidFill>
                <a:srgbClr val="000000"/>
              </a:solidFill>
              <a:latin typeface="Arial"/>
            </a:endParaRPr>
          </a:p>
        </p:txBody>
      </p:sp>
      <p:sp>
        <p:nvSpPr>
          <p:cNvPr id="58" name="TextBox 4"/>
          <p:cNvSpPr/>
          <p:nvPr/>
        </p:nvSpPr>
        <p:spPr>
          <a:xfrm>
            <a:off x="640080" y="2286000"/>
            <a:ext cx="8777520" cy="1522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Check for low stock by the current investment in inventory by product code.</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Inspect whether there is any correlation between low-stock items and any particular manufacturer.</a:t>
            </a:r>
            <a:endParaRPr b="0" lang="en-CA" sz="2200" spc="-1" strike="noStrike">
              <a:solidFill>
                <a:srgbClr val="000000"/>
              </a:solidFill>
              <a:latin typeface="Arial"/>
            </a:endParaRPr>
          </a:p>
        </p:txBody>
      </p:sp>
      <p:pic>
        <p:nvPicPr>
          <p:cNvPr id="59" name="Picture 5" descr="table_0.png"/>
          <p:cNvPicPr/>
          <p:nvPr/>
        </p:nvPicPr>
        <p:blipFill>
          <a:blip r:embed="rId1"/>
          <a:srcRect l="0" t="16678" r="0" b="17608"/>
          <a:stretch/>
        </p:blipFill>
        <p:spPr>
          <a:xfrm>
            <a:off x="1980000" y="3960000"/>
            <a:ext cx="6020640" cy="233964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Rectangle 13"/>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61" name="Rectangle 14"/>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62" name="TextBox 15"/>
          <p:cNvSpPr/>
          <p:nvPr/>
        </p:nvSpPr>
        <p:spPr>
          <a:xfrm>
            <a:off x="610560" y="978840"/>
            <a:ext cx="8777520" cy="7297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Check Low-Stock by Manufacturer</a:t>
            </a:r>
            <a:endParaRPr b="0" lang="en-CA" sz="4200" spc="-1" strike="noStrike">
              <a:solidFill>
                <a:srgbClr val="000000"/>
              </a:solidFill>
              <a:latin typeface="Arial"/>
            </a:endParaRPr>
          </a:p>
        </p:txBody>
      </p:sp>
      <p:sp>
        <p:nvSpPr>
          <p:cNvPr id="63" name="TextBox 16"/>
          <p:cNvSpPr/>
          <p:nvPr/>
        </p:nvSpPr>
        <p:spPr>
          <a:xfrm>
            <a:off x="640080" y="2286000"/>
            <a:ext cx="8777520" cy="760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Seven out of 13 product vendors are represented in the Top10 lowest inventory query.</a:t>
            </a:r>
            <a:endParaRPr b="0" lang="en-CA" sz="2200" spc="-1" strike="noStrike">
              <a:solidFill>
                <a:srgbClr val="000000"/>
              </a:solidFill>
              <a:latin typeface="Arial"/>
            </a:endParaRPr>
          </a:p>
        </p:txBody>
      </p:sp>
      <p:pic>
        <p:nvPicPr>
          <p:cNvPr id="64" name="Picture 8" descr="table_0.png"/>
          <p:cNvPicPr/>
          <p:nvPr/>
        </p:nvPicPr>
        <p:blipFill>
          <a:blip r:embed="rId1"/>
          <a:srcRect l="0" t="20216" r="34224" b="19125"/>
          <a:stretch/>
        </p:blipFill>
        <p:spPr>
          <a:xfrm>
            <a:off x="2160000" y="3160440"/>
            <a:ext cx="5580000" cy="304344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66"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67" name="TextBox 3"/>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Reinspect the Overhead Graphs Sorted by Product Vendor</a:t>
            </a:r>
            <a:endParaRPr b="0" lang="en-CA" sz="4200" spc="-1" strike="noStrike">
              <a:solidFill>
                <a:srgbClr val="000000"/>
              </a:solidFill>
              <a:latin typeface="Arial"/>
            </a:endParaRPr>
          </a:p>
        </p:txBody>
      </p:sp>
      <p:sp>
        <p:nvSpPr>
          <p:cNvPr id="68" name="TextBox 4"/>
          <p:cNvSpPr/>
          <p:nvPr/>
        </p:nvSpPr>
        <p:spPr>
          <a:xfrm>
            <a:off x="640080" y="2286000"/>
            <a:ext cx="8777520" cy="760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Clearly now, issues regarding low-stock inventory are with respect to individual products and not the fault of any single supplier.</a:t>
            </a:r>
            <a:endParaRPr b="0" lang="en-CA" sz="2200" spc="-1" strike="noStrike">
              <a:solidFill>
                <a:srgbClr val="000000"/>
              </a:solidFill>
              <a:latin typeface="Arial"/>
            </a:endParaRPr>
          </a:p>
        </p:txBody>
      </p:sp>
      <p:pic>
        <p:nvPicPr>
          <p:cNvPr id="69" name="Picture 5" descr="output_36_0.png"/>
          <p:cNvPicPr/>
          <p:nvPr/>
        </p:nvPicPr>
        <p:blipFill>
          <a:blip r:embed="rId1"/>
          <a:stretch/>
        </p:blipFill>
        <p:spPr>
          <a:xfrm>
            <a:off x="1980000" y="3046680"/>
            <a:ext cx="6300000" cy="32310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Rectangle 15"/>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71" name="Rectangle 16"/>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72" name="TextBox 17"/>
          <p:cNvSpPr/>
          <p:nvPr/>
        </p:nvSpPr>
        <p:spPr>
          <a:xfrm>
            <a:off x="640080" y="685800"/>
            <a:ext cx="877752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Reinspect the Overhead Graphs Sorted by Product Vendor</a:t>
            </a:r>
            <a:endParaRPr b="0" lang="en-CA" sz="4200" spc="-1" strike="noStrike">
              <a:solidFill>
                <a:srgbClr val="000000"/>
              </a:solidFill>
              <a:latin typeface="Arial"/>
            </a:endParaRPr>
          </a:p>
        </p:txBody>
      </p:sp>
      <p:sp>
        <p:nvSpPr>
          <p:cNvPr id="73" name="TextBox 18"/>
          <p:cNvSpPr/>
          <p:nvPr/>
        </p:nvSpPr>
        <p:spPr>
          <a:xfrm>
            <a:off x="640080" y="2286000"/>
            <a:ext cx="8777520" cy="3990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Low stock levels are not directly correlated to high sales volumes in </a:t>
            </a:r>
            <a:r>
              <a:rPr b="0" lang="en-CA" sz="2200" spc="-1" strike="noStrike">
                <a:solidFill>
                  <a:srgbClr val="ffffff"/>
                </a:solidFill>
                <a:latin typeface="Arial"/>
                <a:ea typeface="DejaVu Sans"/>
              </a:rPr>
              <a:t>most cases.</a:t>
            </a: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endParaRPr b="0" lang="en-CA" sz="2200" spc="-1" strike="noStrike">
              <a:solidFill>
                <a:srgbClr val="000000"/>
              </a:solidFill>
              <a:latin typeface="Arial"/>
            </a:endParaRPr>
          </a:p>
          <a:p>
            <a:pPr>
              <a:lnSpc>
                <a:spcPct val="100000"/>
              </a:lnSpc>
            </a:pPr>
            <a:r>
              <a:rPr b="0" lang="en-CA" sz="1800" spc="-1" strike="noStrike">
                <a:solidFill>
                  <a:srgbClr val="ffffff"/>
                </a:solidFill>
                <a:latin typeface="Arial"/>
                <a:ea typeface="DejaVu Sans"/>
              </a:rPr>
              <a:t>- The dataset lacks the necessary product supply information required to investigate </a:t>
            </a:r>
            <a:r>
              <a:rPr b="0" lang="en-CA" sz="1800" spc="-1" strike="noStrike">
                <a:solidFill>
                  <a:srgbClr val="ffffff"/>
                </a:solidFill>
                <a:latin typeface="Arial"/>
                <a:ea typeface="DejaVu Sans"/>
              </a:rPr>
              <a:t>any further at this time.</a:t>
            </a:r>
            <a:endParaRPr b="0" lang="en-CA" sz="1800" spc="-1" strike="noStrike">
              <a:solidFill>
                <a:srgbClr val="000000"/>
              </a:solidFill>
              <a:latin typeface="Arial"/>
            </a:endParaRPr>
          </a:p>
        </p:txBody>
      </p:sp>
      <p:pic>
        <p:nvPicPr>
          <p:cNvPr id="74" name="Picture 9" descr="output_36_0.png"/>
          <p:cNvPicPr/>
          <p:nvPr/>
        </p:nvPicPr>
        <p:blipFill>
          <a:blip r:embed="rId1"/>
          <a:stretch/>
        </p:blipFill>
        <p:spPr>
          <a:xfrm>
            <a:off x="2340000" y="2995200"/>
            <a:ext cx="5040000" cy="25848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76"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77" name="TextBox 3"/>
          <p:cNvSpPr/>
          <p:nvPr/>
        </p:nvSpPr>
        <p:spPr>
          <a:xfrm>
            <a:off x="640080" y="900000"/>
            <a:ext cx="877752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800" spc="-1" strike="noStrike">
                <a:solidFill>
                  <a:srgbClr val="ffffff"/>
                </a:solidFill>
                <a:latin typeface="Arial"/>
                <a:ea typeface="DejaVu Sans"/>
              </a:rPr>
              <a:t>Check Warehouse Volumes</a:t>
            </a:r>
            <a:endParaRPr b="0" lang="en-CA" sz="4800" spc="-1" strike="noStrike">
              <a:solidFill>
                <a:srgbClr val="000000"/>
              </a:solidFill>
              <a:latin typeface="Arial"/>
            </a:endParaRPr>
          </a:p>
        </p:txBody>
      </p:sp>
      <p:sp>
        <p:nvSpPr>
          <p:cNvPr id="78" name="TextBox 4"/>
          <p:cNvSpPr/>
          <p:nvPr/>
        </p:nvSpPr>
        <p:spPr>
          <a:xfrm>
            <a:off x="640080" y="2286000"/>
            <a:ext cx="8777520" cy="1187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Actual packaging volume information was not available.</a:t>
            </a:r>
            <a:endParaRPr b="0" lang="en-CA" sz="22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200" spc="-1" strike="noStrike">
                <a:solidFill>
                  <a:srgbClr val="ffffff"/>
                </a:solidFill>
                <a:latin typeface="Arial"/>
                <a:ea typeface="DejaVu Sans"/>
              </a:rPr>
              <a:t>- A list of the approximate product volumes has been generated based on product names and scale for the purpose of analysis.</a:t>
            </a:r>
            <a:endParaRPr b="0" lang="en-CA" sz="2200" spc="-1" strike="noStrike">
              <a:solidFill>
                <a:srgbClr val="000000"/>
              </a:solidFill>
              <a:latin typeface="Arial"/>
            </a:endParaRPr>
          </a:p>
        </p:txBody>
      </p:sp>
      <p:pic>
        <p:nvPicPr>
          <p:cNvPr id="79" name="Picture 5" descr="output_43_0.png"/>
          <p:cNvPicPr/>
          <p:nvPr/>
        </p:nvPicPr>
        <p:blipFill>
          <a:blip r:embed="rId1"/>
          <a:stretch/>
        </p:blipFill>
        <p:spPr>
          <a:xfrm>
            <a:off x="2160000" y="3512520"/>
            <a:ext cx="5631840" cy="278748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17"/>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81" name="Rectangle 18"/>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82" name="TextBox 19"/>
          <p:cNvSpPr/>
          <p:nvPr/>
        </p:nvSpPr>
        <p:spPr>
          <a:xfrm>
            <a:off x="640080" y="900000"/>
            <a:ext cx="877752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800" spc="-1" strike="noStrike">
                <a:solidFill>
                  <a:srgbClr val="ffffff"/>
                </a:solidFill>
                <a:latin typeface="Arial"/>
                <a:ea typeface="DejaVu Sans"/>
              </a:rPr>
              <a:t>Check Warehouse Volumes</a:t>
            </a:r>
            <a:endParaRPr b="0" lang="en-CA" sz="4800" spc="-1" strike="noStrike">
              <a:solidFill>
                <a:srgbClr val="000000"/>
              </a:solidFill>
              <a:latin typeface="Arial"/>
            </a:endParaRPr>
          </a:p>
        </p:txBody>
      </p:sp>
      <p:sp>
        <p:nvSpPr>
          <p:cNvPr id="83" name="TextBox 20"/>
          <p:cNvSpPr/>
          <p:nvPr/>
        </p:nvSpPr>
        <p:spPr>
          <a:xfrm>
            <a:off x="640080" y="2286000"/>
            <a:ext cx="8777520" cy="1369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900" spc="-1" strike="noStrike">
                <a:solidFill>
                  <a:srgbClr val="ffffff"/>
                </a:solidFill>
                <a:latin typeface="Arial"/>
                <a:ea typeface="DejaVu Sans"/>
              </a:rPr>
              <a:t>- The largest warehouse, Warehouse B, shows enough space remaining to hold the stock from either Warehouse C or Warehouse D.</a:t>
            </a:r>
            <a:endParaRPr b="0" lang="en-CA" sz="19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900" spc="-1" strike="noStrike">
                <a:solidFill>
                  <a:srgbClr val="ffffff"/>
                </a:solidFill>
                <a:latin typeface="Arial"/>
                <a:ea typeface="DejaVu Sans"/>
              </a:rPr>
              <a:t>- Considering that </a:t>
            </a:r>
            <a:r>
              <a:rPr b="1" lang="en-CA" sz="2000" spc="-1" strike="noStrike">
                <a:solidFill>
                  <a:srgbClr val="ffffff"/>
                </a:solidFill>
                <a:latin typeface="Arial"/>
                <a:ea typeface="DejaVu Sans"/>
              </a:rPr>
              <a:t>Warehouse C</a:t>
            </a:r>
            <a:r>
              <a:rPr b="0" lang="en-CA" sz="1900" spc="-1" strike="noStrike">
                <a:solidFill>
                  <a:srgbClr val="ffffff"/>
                </a:solidFill>
                <a:latin typeface="Arial"/>
                <a:ea typeface="DejaVu Sans"/>
              </a:rPr>
              <a:t> is half-empty, </a:t>
            </a:r>
            <a:r>
              <a:rPr b="1" lang="en-CA" sz="2000" spc="-1" strike="noStrike">
                <a:solidFill>
                  <a:srgbClr val="ffffff"/>
                </a:solidFill>
                <a:latin typeface="Arial"/>
                <a:ea typeface="DejaVu Sans"/>
              </a:rPr>
              <a:t>this may a good candidate for closure</a:t>
            </a:r>
            <a:r>
              <a:rPr b="0" lang="en-CA" sz="1900" spc="-1" strike="noStrike">
                <a:solidFill>
                  <a:srgbClr val="ffffff"/>
                </a:solidFill>
                <a:latin typeface="Arial"/>
                <a:ea typeface="DejaVu Sans"/>
              </a:rPr>
              <a:t>.</a:t>
            </a:r>
            <a:endParaRPr b="0" lang="en-CA" sz="1900" spc="-1" strike="noStrike">
              <a:solidFill>
                <a:srgbClr val="000000"/>
              </a:solidFill>
              <a:latin typeface="Arial"/>
            </a:endParaRPr>
          </a:p>
        </p:txBody>
      </p:sp>
      <p:pic>
        <p:nvPicPr>
          <p:cNvPr id="84" name="Picture 10" descr="output_43_0.png"/>
          <p:cNvPicPr/>
          <p:nvPr/>
        </p:nvPicPr>
        <p:blipFill>
          <a:blip r:embed="rId1"/>
          <a:stretch/>
        </p:blipFill>
        <p:spPr>
          <a:xfrm>
            <a:off x="2340000" y="3454920"/>
            <a:ext cx="5473080" cy="27090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86"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87" name="TextBox 3"/>
          <p:cNvSpPr/>
          <p:nvPr/>
        </p:nvSpPr>
        <p:spPr>
          <a:xfrm>
            <a:off x="640080" y="685800"/>
            <a:ext cx="8777520" cy="7297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200" spc="-1" strike="noStrike">
                <a:solidFill>
                  <a:srgbClr val="ffffff"/>
                </a:solidFill>
                <a:latin typeface="Arial"/>
                <a:ea typeface="DejaVu Sans"/>
              </a:rPr>
              <a:t>Check the Warehouse Contents</a:t>
            </a:r>
            <a:endParaRPr b="0" lang="en-CA" sz="4200" spc="-1" strike="noStrike">
              <a:solidFill>
                <a:srgbClr val="000000"/>
              </a:solidFill>
              <a:latin typeface="Arial"/>
            </a:endParaRPr>
          </a:p>
        </p:txBody>
      </p:sp>
      <p:sp>
        <p:nvSpPr>
          <p:cNvPr id="88" name="TextBox 4"/>
          <p:cNvSpPr/>
          <p:nvPr/>
        </p:nvSpPr>
        <p:spPr>
          <a:xfrm>
            <a:off x="640080" y="2286000"/>
            <a:ext cx="8777520" cy="1933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100" spc="-1" strike="noStrike">
                <a:solidFill>
                  <a:srgbClr val="ffffff"/>
                </a:solidFill>
                <a:latin typeface="Arial"/>
                <a:ea typeface="DejaVu Sans"/>
              </a:rPr>
              <a:t>- It can be seen that the large warehouse "B" contains only 'Classic Cars'</a:t>
            </a:r>
            <a:endParaRPr b="0" lang="en-CA" sz="2100" spc="-1" strike="noStrike">
              <a:solidFill>
                <a:srgbClr val="000000"/>
              </a:solidFill>
              <a:latin typeface="Arial"/>
            </a:endParaRPr>
          </a:p>
          <a:p>
            <a:pPr>
              <a:lnSpc>
                <a:spcPct val="100000"/>
              </a:lnSpc>
            </a:pPr>
            <a:endParaRPr b="0" lang="en-CA" sz="800" spc="-1" strike="noStrike">
              <a:solidFill>
                <a:srgbClr val="000000"/>
              </a:solidFill>
              <a:latin typeface="Arial"/>
            </a:endParaRPr>
          </a:p>
          <a:p>
            <a:pPr>
              <a:lnSpc>
                <a:spcPct val="100000"/>
              </a:lnSpc>
            </a:pPr>
            <a:r>
              <a:rPr b="0" lang="en-CA" sz="2100" spc="-1" strike="noStrike">
                <a:solidFill>
                  <a:srgbClr val="ffffff"/>
                </a:solidFill>
                <a:latin typeface="Arial"/>
                <a:ea typeface="DejaVu Sans"/>
              </a:rPr>
              <a:t>- The warehouse which is a candidate for closure, "C", contains only 'Vintage Cars'</a:t>
            </a:r>
            <a:endParaRPr b="0" lang="en-CA" sz="2100" spc="-1" strike="noStrike">
              <a:solidFill>
                <a:srgbClr val="000000"/>
              </a:solidFill>
              <a:latin typeface="Arial"/>
            </a:endParaRPr>
          </a:p>
          <a:p>
            <a:pPr>
              <a:lnSpc>
                <a:spcPct val="100000"/>
              </a:lnSpc>
            </a:pPr>
            <a:endParaRPr b="0" lang="en-CA" sz="800" spc="-1" strike="noStrike">
              <a:solidFill>
                <a:srgbClr val="000000"/>
              </a:solidFill>
              <a:latin typeface="Arial"/>
            </a:endParaRPr>
          </a:p>
          <a:p>
            <a:pPr>
              <a:lnSpc>
                <a:spcPct val="100000"/>
              </a:lnSpc>
            </a:pPr>
            <a:r>
              <a:rPr b="0" lang="en-CA" sz="2100" spc="-1" strike="noStrike">
                <a:solidFill>
                  <a:srgbClr val="ffffff"/>
                </a:solidFill>
                <a:latin typeface="Arial"/>
                <a:ea typeface="DejaVu Sans"/>
              </a:rPr>
              <a:t>- Merging the contents of warehouses B and C would allow for the full stock of 'Cars' to be housed in a single location.</a:t>
            </a:r>
            <a:endParaRPr b="0" lang="en-CA" sz="2100" spc="-1" strike="noStrike">
              <a:solidFill>
                <a:srgbClr val="000000"/>
              </a:solidFill>
              <a:latin typeface="Arial"/>
            </a:endParaRPr>
          </a:p>
        </p:txBody>
      </p:sp>
      <p:pic>
        <p:nvPicPr>
          <p:cNvPr id="89" name="Picture 5" descr="table_1.png"/>
          <p:cNvPicPr/>
          <p:nvPr/>
        </p:nvPicPr>
        <p:blipFill>
          <a:blip r:embed="rId1"/>
          <a:srcRect l="0" t="26039" r="0" b="25281"/>
          <a:stretch/>
        </p:blipFill>
        <p:spPr>
          <a:xfrm>
            <a:off x="1707840" y="4386960"/>
            <a:ext cx="6752160" cy="1733040"/>
          </a:xfrm>
          <a:prstGeom prst="rect">
            <a:avLst/>
          </a:prstGeom>
          <a:ln w="0">
            <a:noFill/>
          </a:ln>
          <a:effectLst>
            <a:outerShdw blurRad="127080" dir="8100000" dist="50402" rotWithShape="0">
              <a:srgbClr val="1c1c1c">
                <a:alpha val="65000"/>
              </a:srgbClr>
            </a:outerShdw>
          </a:effectLst>
        </p:spPr>
      </p:pic>
      <p:sp>
        <p:nvSpPr>
          <p:cNvPr id="90" name=""/>
          <p:cNvSpPr/>
          <p:nvPr/>
        </p:nvSpPr>
        <p:spPr>
          <a:xfrm>
            <a:off x="2700000" y="4860000"/>
            <a:ext cx="3600000" cy="720000"/>
          </a:xfrm>
          <a:prstGeom prst="ellipse">
            <a:avLst/>
          </a:prstGeom>
          <a:noFill/>
          <a:ln w="19080">
            <a:solidFill>
              <a:srgbClr val="ff0000"/>
            </a:solidFill>
            <a:round/>
          </a:ln>
        </p:spPr>
        <p:style>
          <a:lnRef idx="0"/>
          <a:fillRef idx="0"/>
          <a:effectRef idx="0"/>
          <a:fontRef idx="minor"/>
        </p:style>
        <p:txBody>
          <a:bodyPr lIns="99360" rIns="99360" tIns="54360" bIns="54360" anchor="ctr">
            <a:noAutofit/>
          </a:bodyPr>
          <a:p>
            <a:endParaRPr b="0" lang="en-CA"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92"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93" name="TextBox 3"/>
          <p:cNvSpPr/>
          <p:nvPr/>
        </p:nvSpPr>
        <p:spPr>
          <a:xfrm>
            <a:off x="640080" y="612720"/>
            <a:ext cx="8777520" cy="1431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400" spc="-1" strike="noStrike">
                <a:solidFill>
                  <a:srgbClr val="ffffff"/>
                </a:solidFill>
                <a:latin typeface="Arial"/>
                <a:ea typeface="DejaVu Sans"/>
              </a:rPr>
              <a:t>Looking into Warehouse</a:t>
            </a:r>
            <a:endParaRPr b="0" lang="en-CA" sz="4400" spc="-1" strike="noStrike">
              <a:solidFill>
                <a:srgbClr val="000000"/>
              </a:solidFill>
              <a:latin typeface="Arial"/>
            </a:endParaRPr>
          </a:p>
          <a:p>
            <a:pPr algn="ctr">
              <a:lnSpc>
                <a:spcPct val="100000"/>
              </a:lnSpc>
            </a:pPr>
            <a:r>
              <a:rPr b="0" lang="en-CA" sz="4400" spc="-1" strike="noStrike">
                <a:solidFill>
                  <a:srgbClr val="ffffff"/>
                </a:solidFill>
                <a:latin typeface="Arial"/>
                <a:ea typeface="DejaVu Sans"/>
              </a:rPr>
              <a:t>Shipping Efficiency</a:t>
            </a:r>
            <a:endParaRPr b="0" lang="en-CA" sz="4400" spc="-1" strike="noStrike">
              <a:solidFill>
                <a:srgbClr val="000000"/>
              </a:solidFill>
              <a:latin typeface="Arial"/>
            </a:endParaRPr>
          </a:p>
        </p:txBody>
      </p:sp>
      <p:sp>
        <p:nvSpPr>
          <p:cNvPr id="94" name="TextBox 4"/>
          <p:cNvSpPr/>
          <p:nvPr/>
        </p:nvSpPr>
        <p:spPr>
          <a:xfrm>
            <a:off x="640080" y="2880000"/>
            <a:ext cx="8777520" cy="2224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CA" sz="2800" spc="-1" strike="noStrike">
                <a:solidFill>
                  <a:srgbClr val="ffffff"/>
                </a:solidFill>
                <a:latin typeface="Arial"/>
                <a:ea typeface="DejaVu Sans"/>
              </a:rPr>
              <a:t>Orders shipped from multiple warehouses DO NOT differentiate their date of shipment from each warehouse individually, THEREFORE the aggregated totals for each will only show a difference if a given warehouse is performing differently than average.</a:t>
            </a:r>
            <a:endParaRPr b="0" lang="en-CA"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Rectangle 19"/>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96" name="Rectangle 20"/>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97" name="TextBox 22"/>
          <p:cNvSpPr/>
          <p:nvPr/>
        </p:nvSpPr>
        <p:spPr>
          <a:xfrm>
            <a:off x="640080" y="612720"/>
            <a:ext cx="8777520" cy="1431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400" spc="-1" strike="noStrike">
                <a:solidFill>
                  <a:srgbClr val="ffffff"/>
                </a:solidFill>
                <a:latin typeface="Arial"/>
                <a:ea typeface="DejaVu Sans"/>
              </a:rPr>
              <a:t>Looking into Warehouse</a:t>
            </a:r>
            <a:endParaRPr b="0" lang="en-CA" sz="4400" spc="-1" strike="noStrike">
              <a:solidFill>
                <a:srgbClr val="000000"/>
              </a:solidFill>
              <a:latin typeface="Arial"/>
            </a:endParaRPr>
          </a:p>
          <a:p>
            <a:pPr algn="ctr">
              <a:lnSpc>
                <a:spcPct val="100000"/>
              </a:lnSpc>
            </a:pPr>
            <a:r>
              <a:rPr b="0" lang="en-CA" sz="4400" spc="-1" strike="noStrike">
                <a:solidFill>
                  <a:srgbClr val="ffffff"/>
                </a:solidFill>
                <a:latin typeface="Arial"/>
                <a:ea typeface="DejaVu Sans"/>
              </a:rPr>
              <a:t>Shipping Efficiency</a:t>
            </a:r>
            <a:endParaRPr b="0" lang="en-CA" sz="4400" spc="-1" strike="noStrike">
              <a:solidFill>
                <a:srgbClr val="000000"/>
              </a:solidFill>
              <a:latin typeface="Arial"/>
            </a:endParaRPr>
          </a:p>
        </p:txBody>
      </p:sp>
      <p:sp>
        <p:nvSpPr>
          <p:cNvPr id="98" name="TextBox 24"/>
          <p:cNvSpPr/>
          <p:nvPr/>
        </p:nvSpPr>
        <p:spPr>
          <a:xfrm>
            <a:off x="640080" y="2349720"/>
            <a:ext cx="8777520" cy="12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100" spc="-1" strike="noStrike">
                <a:solidFill>
                  <a:srgbClr val="ffffff"/>
                </a:solidFill>
                <a:latin typeface="Arial"/>
                <a:ea typeface="DejaVu Sans"/>
              </a:rPr>
              <a:t>- Check the amount of time each warehouse requires to ship an order.</a:t>
            </a:r>
            <a:endParaRPr b="0" lang="en-CA" sz="21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100" spc="-1" strike="noStrike">
                <a:solidFill>
                  <a:srgbClr val="ffffff"/>
                </a:solidFill>
                <a:latin typeface="Arial"/>
                <a:ea typeface="DejaVu Sans"/>
              </a:rPr>
              <a:t>- Look for shipping delays from each warehouse.</a:t>
            </a:r>
            <a:endParaRPr b="0" lang="en-CA" sz="21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2100" spc="-1" strike="noStrike">
                <a:solidFill>
                  <a:srgbClr val="ffffff"/>
                </a:solidFill>
                <a:latin typeface="Arial"/>
                <a:ea typeface="DejaVu Sans"/>
              </a:rPr>
              <a:t>- Determine if shipping delays are incidental or a systemic issue.</a:t>
            </a:r>
            <a:endParaRPr b="0" lang="en-CA" sz="2100" spc="-1" strike="noStrike">
              <a:solidFill>
                <a:srgbClr val="000000"/>
              </a:solidFill>
              <a:latin typeface="Arial"/>
            </a:endParaRPr>
          </a:p>
        </p:txBody>
      </p:sp>
      <p:pic>
        <p:nvPicPr>
          <p:cNvPr id="99" name="Picture 11" descr="output_53_0.png"/>
          <p:cNvPicPr/>
          <p:nvPr/>
        </p:nvPicPr>
        <p:blipFill>
          <a:blip r:embed="rId1"/>
          <a:stretch/>
        </p:blipFill>
        <p:spPr>
          <a:xfrm>
            <a:off x="2340000" y="3780000"/>
            <a:ext cx="5220000" cy="2520000"/>
          </a:xfrm>
          <a:prstGeom prst="rect">
            <a:avLst/>
          </a:prstGeom>
          <a:ln w="0">
            <a:noFill/>
          </a:ln>
          <a:effectLst>
            <a:outerShdw blurRad="127080" dir="8100000" dist="50402" rotWithShape="0">
              <a:srgbClr val="1c1c1c">
                <a:alpha val="65000"/>
              </a:srgbClr>
            </a:outerShdw>
          </a:effectLst>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Rectangle 2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01" name="Rectangle 2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02" name="TextBox 23"/>
          <p:cNvSpPr/>
          <p:nvPr/>
        </p:nvSpPr>
        <p:spPr>
          <a:xfrm>
            <a:off x="640080" y="2373840"/>
            <a:ext cx="877752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400" spc="-1" strike="noStrike">
                <a:solidFill>
                  <a:srgbClr val="ffffff"/>
                </a:solidFill>
                <a:latin typeface="Arial"/>
                <a:ea typeface="DejaVu Sans"/>
              </a:rPr>
              <a:t>After splitting the shipping delays into occurrences by location, normalized to maximum orders per bin:</a:t>
            </a:r>
            <a:endParaRPr b="0" lang="en-CA" sz="2400" spc="-1" strike="noStrike">
              <a:solidFill>
                <a:srgbClr val="000000"/>
              </a:solidFill>
              <a:latin typeface="Arial"/>
            </a:endParaRPr>
          </a:p>
        </p:txBody>
      </p:sp>
      <p:pic>
        <p:nvPicPr>
          <p:cNvPr id="103" name="Picture 12" descr="output_56_0.png"/>
          <p:cNvPicPr/>
          <p:nvPr/>
        </p:nvPicPr>
        <p:blipFill>
          <a:blip r:embed="rId1"/>
          <a:stretch/>
        </p:blipFill>
        <p:spPr>
          <a:xfrm>
            <a:off x="832680" y="3420000"/>
            <a:ext cx="8347320" cy="2700000"/>
          </a:xfrm>
          <a:prstGeom prst="rect">
            <a:avLst/>
          </a:prstGeom>
          <a:ln w="0">
            <a:noFill/>
          </a:ln>
          <a:effectLst>
            <a:outerShdw blurRad="127080" dir="8100000" dist="50402" rotWithShape="0">
              <a:srgbClr val="1c1c1c">
                <a:alpha val="65000"/>
              </a:srgbClr>
            </a:outerShdw>
          </a:effectLst>
        </p:spPr>
      </p:pic>
      <p:sp>
        <p:nvSpPr>
          <p:cNvPr id="104" name="TextBox 26"/>
          <p:cNvSpPr/>
          <p:nvPr/>
        </p:nvSpPr>
        <p:spPr>
          <a:xfrm>
            <a:off x="612000" y="625680"/>
            <a:ext cx="8777520" cy="1431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400" spc="-1" strike="noStrike">
                <a:solidFill>
                  <a:srgbClr val="ffffff"/>
                </a:solidFill>
                <a:latin typeface="Arial"/>
                <a:ea typeface="DejaVu Sans"/>
              </a:rPr>
              <a:t>Looking into Warehouse</a:t>
            </a:r>
            <a:endParaRPr b="0" lang="en-CA" sz="4400" spc="-1" strike="noStrike">
              <a:solidFill>
                <a:srgbClr val="000000"/>
              </a:solidFill>
              <a:latin typeface="Arial"/>
            </a:endParaRPr>
          </a:p>
          <a:p>
            <a:pPr algn="ctr">
              <a:lnSpc>
                <a:spcPct val="100000"/>
              </a:lnSpc>
            </a:pPr>
            <a:r>
              <a:rPr b="0" lang="en-CA" sz="4400" spc="-1" strike="noStrike">
                <a:solidFill>
                  <a:srgbClr val="ffffff"/>
                </a:solidFill>
                <a:latin typeface="Arial"/>
                <a:ea typeface="DejaVu Sans"/>
              </a:rPr>
              <a:t>Shipping Efficiency</a:t>
            </a:r>
            <a:endParaRPr b="0" lang="en-CA"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06"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07" name="TextBox 5"/>
          <p:cNvSpPr/>
          <p:nvPr/>
        </p:nvSpPr>
        <p:spPr>
          <a:xfrm>
            <a:off x="720000" y="2473920"/>
            <a:ext cx="8777520" cy="760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Warehouse 'B' has proportionally more One-Day shipping delays than the other warehouses.</a:t>
            </a:r>
            <a:endParaRPr b="0" lang="en-CA" sz="2200" spc="-1" strike="noStrike">
              <a:solidFill>
                <a:srgbClr val="000000"/>
              </a:solidFill>
              <a:latin typeface="Arial"/>
            </a:endParaRPr>
          </a:p>
        </p:txBody>
      </p:sp>
      <p:pic>
        <p:nvPicPr>
          <p:cNvPr id="108" name="Picture 6" descr="output_56_0.png"/>
          <p:cNvPicPr/>
          <p:nvPr/>
        </p:nvPicPr>
        <p:blipFill>
          <a:blip r:embed="rId1"/>
          <a:stretch/>
        </p:blipFill>
        <p:spPr>
          <a:xfrm>
            <a:off x="1260000" y="3600000"/>
            <a:ext cx="7380000" cy="2387160"/>
          </a:xfrm>
          <a:prstGeom prst="rect">
            <a:avLst/>
          </a:prstGeom>
          <a:ln w="0">
            <a:noFill/>
          </a:ln>
          <a:effectLst>
            <a:outerShdw blurRad="127080" dir="8100000" dist="50402" rotWithShape="0">
              <a:srgbClr val="1c1c1c">
                <a:alpha val="65000"/>
              </a:srgbClr>
            </a:outerShdw>
          </a:effectLst>
        </p:spPr>
      </p:pic>
      <p:sp>
        <p:nvSpPr>
          <p:cNvPr id="109" name="TextBox 21"/>
          <p:cNvSpPr/>
          <p:nvPr/>
        </p:nvSpPr>
        <p:spPr>
          <a:xfrm>
            <a:off x="612000" y="625680"/>
            <a:ext cx="8777520" cy="1431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400" spc="-1" strike="noStrike">
                <a:solidFill>
                  <a:srgbClr val="ffffff"/>
                </a:solidFill>
                <a:latin typeface="Arial"/>
                <a:ea typeface="DejaVu Sans"/>
              </a:rPr>
              <a:t>Looking into Warehouse</a:t>
            </a:r>
            <a:endParaRPr b="0" lang="en-CA" sz="4400" spc="-1" strike="noStrike">
              <a:solidFill>
                <a:srgbClr val="000000"/>
              </a:solidFill>
              <a:latin typeface="Arial"/>
            </a:endParaRPr>
          </a:p>
          <a:p>
            <a:pPr algn="ctr">
              <a:lnSpc>
                <a:spcPct val="100000"/>
              </a:lnSpc>
            </a:pPr>
            <a:r>
              <a:rPr b="0" lang="en-CA" sz="4400" spc="-1" strike="noStrike">
                <a:solidFill>
                  <a:srgbClr val="ffffff"/>
                </a:solidFill>
                <a:latin typeface="Arial"/>
                <a:ea typeface="DejaVu Sans"/>
              </a:rPr>
              <a:t>Shipping Efficiency</a:t>
            </a:r>
            <a:endParaRPr b="0" lang="en-CA"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Rectangle 23"/>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11" name="Rectangle 24"/>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12" name="TextBox 25"/>
          <p:cNvSpPr/>
          <p:nvPr/>
        </p:nvSpPr>
        <p:spPr>
          <a:xfrm>
            <a:off x="720000" y="2473920"/>
            <a:ext cx="8777520" cy="1095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If warehouse 'C' were to be moved into warehouse 'B' then </a:t>
            </a:r>
            <a:r>
              <a:rPr b="0" lang="en-CA" sz="2200" spc="-1" strike="noStrike">
                <a:solidFill>
                  <a:srgbClr val="ffffff"/>
                </a:solidFill>
                <a:latin typeface="Arial"/>
                <a:ea typeface="DejaVu Sans"/>
              </a:rPr>
              <a:t>warehouse 'B' must be able to accommodate an extra 100 orders </a:t>
            </a:r>
            <a:r>
              <a:rPr b="0" lang="en-CA" sz="2200" spc="-1" strike="noStrike">
                <a:solidFill>
                  <a:srgbClr val="ffffff"/>
                </a:solidFill>
                <a:latin typeface="Arial"/>
                <a:ea typeface="DejaVu Sans"/>
              </a:rPr>
              <a:t>worth of source/process/ship per day.</a:t>
            </a:r>
            <a:endParaRPr b="0" lang="en-CA" sz="2200" spc="-1" strike="noStrike">
              <a:solidFill>
                <a:srgbClr val="000000"/>
              </a:solidFill>
              <a:latin typeface="Arial"/>
            </a:endParaRPr>
          </a:p>
        </p:txBody>
      </p:sp>
      <p:pic>
        <p:nvPicPr>
          <p:cNvPr id="113" name="Picture 13" descr="output_56_0.png"/>
          <p:cNvPicPr/>
          <p:nvPr/>
        </p:nvPicPr>
        <p:blipFill>
          <a:blip r:embed="rId1"/>
          <a:stretch/>
        </p:blipFill>
        <p:spPr>
          <a:xfrm>
            <a:off x="1318680" y="3780000"/>
            <a:ext cx="7380000" cy="2387160"/>
          </a:xfrm>
          <a:prstGeom prst="rect">
            <a:avLst/>
          </a:prstGeom>
          <a:ln w="0">
            <a:noFill/>
          </a:ln>
          <a:effectLst>
            <a:outerShdw blurRad="127080" dir="8100000" dist="50402" rotWithShape="0">
              <a:srgbClr val="1c1c1c">
                <a:alpha val="65000"/>
              </a:srgbClr>
            </a:outerShdw>
          </a:effectLst>
        </p:spPr>
      </p:pic>
      <p:sp>
        <p:nvSpPr>
          <p:cNvPr id="114" name="TextBox 27"/>
          <p:cNvSpPr/>
          <p:nvPr/>
        </p:nvSpPr>
        <p:spPr>
          <a:xfrm>
            <a:off x="612000" y="625680"/>
            <a:ext cx="8777520" cy="1431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400" spc="-1" strike="noStrike">
                <a:solidFill>
                  <a:srgbClr val="ffffff"/>
                </a:solidFill>
                <a:latin typeface="Arial"/>
                <a:ea typeface="DejaVu Sans"/>
              </a:rPr>
              <a:t>Looking into Warehouse</a:t>
            </a:r>
            <a:endParaRPr b="0" lang="en-CA" sz="4400" spc="-1" strike="noStrike">
              <a:solidFill>
                <a:srgbClr val="000000"/>
              </a:solidFill>
              <a:latin typeface="Arial"/>
            </a:endParaRPr>
          </a:p>
          <a:p>
            <a:pPr algn="ctr">
              <a:lnSpc>
                <a:spcPct val="100000"/>
              </a:lnSpc>
            </a:pPr>
            <a:r>
              <a:rPr b="0" lang="en-CA" sz="4400" spc="-1" strike="noStrike">
                <a:solidFill>
                  <a:srgbClr val="ffffff"/>
                </a:solidFill>
                <a:latin typeface="Arial"/>
                <a:ea typeface="DejaVu Sans"/>
              </a:rPr>
              <a:t>Shipping Efficiency</a:t>
            </a:r>
            <a:endParaRPr b="0" lang="en-CA"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Rectangle 25"/>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16" name="Rectangle 26"/>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17" name="TextBox 28"/>
          <p:cNvSpPr/>
          <p:nvPr/>
        </p:nvSpPr>
        <p:spPr>
          <a:xfrm>
            <a:off x="705600" y="2415240"/>
            <a:ext cx="8777520" cy="1431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 If the One-Day and Two-Day shipping delays associated with warehouse 'B' are the result of order volume, staffing, or warehouse operations efficiency, then these potential bottlenecks should be rectified prior to moving extra inventory into warehouse 'B'.</a:t>
            </a:r>
            <a:endParaRPr b="0" lang="en-CA" sz="2200" spc="-1" strike="noStrike">
              <a:solidFill>
                <a:srgbClr val="000000"/>
              </a:solidFill>
              <a:latin typeface="Arial"/>
            </a:endParaRPr>
          </a:p>
        </p:txBody>
      </p:sp>
      <p:pic>
        <p:nvPicPr>
          <p:cNvPr id="118" name="Picture 14" descr="output_56_0.png"/>
          <p:cNvPicPr/>
          <p:nvPr/>
        </p:nvPicPr>
        <p:blipFill>
          <a:blip r:embed="rId1"/>
          <a:stretch/>
        </p:blipFill>
        <p:spPr>
          <a:xfrm>
            <a:off x="1603440" y="3999960"/>
            <a:ext cx="6929640" cy="2241360"/>
          </a:xfrm>
          <a:prstGeom prst="rect">
            <a:avLst/>
          </a:prstGeom>
          <a:ln w="0">
            <a:noFill/>
          </a:ln>
          <a:effectLst>
            <a:outerShdw blurRad="127080" dir="8100000" dist="50402" rotWithShape="0">
              <a:srgbClr val="1c1c1c">
                <a:alpha val="65000"/>
              </a:srgbClr>
            </a:outerShdw>
          </a:effectLst>
        </p:spPr>
      </p:pic>
      <p:sp>
        <p:nvSpPr>
          <p:cNvPr id="119" name="TextBox 29"/>
          <p:cNvSpPr/>
          <p:nvPr/>
        </p:nvSpPr>
        <p:spPr>
          <a:xfrm>
            <a:off x="612000" y="625680"/>
            <a:ext cx="8777520" cy="1431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400" spc="-1" strike="noStrike">
                <a:solidFill>
                  <a:srgbClr val="ffffff"/>
                </a:solidFill>
                <a:latin typeface="Arial"/>
                <a:ea typeface="DejaVu Sans"/>
              </a:rPr>
              <a:t>Looking into Warehouse</a:t>
            </a:r>
            <a:endParaRPr b="0" lang="en-CA" sz="4400" spc="-1" strike="noStrike">
              <a:solidFill>
                <a:srgbClr val="000000"/>
              </a:solidFill>
              <a:latin typeface="Arial"/>
            </a:endParaRPr>
          </a:p>
          <a:p>
            <a:pPr algn="ctr">
              <a:lnSpc>
                <a:spcPct val="100000"/>
              </a:lnSpc>
            </a:pPr>
            <a:r>
              <a:rPr b="0" lang="en-CA" sz="4400" spc="-1" strike="noStrike">
                <a:solidFill>
                  <a:srgbClr val="ffffff"/>
                </a:solidFill>
                <a:latin typeface="Arial"/>
                <a:ea typeface="DejaVu Sans"/>
              </a:rPr>
              <a:t>Shipping Efficiency</a:t>
            </a:r>
            <a:endParaRPr b="0" lang="en-CA"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21"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22" name="TextBox 3"/>
          <p:cNvSpPr/>
          <p:nvPr/>
        </p:nvSpPr>
        <p:spPr>
          <a:xfrm>
            <a:off x="640080" y="887400"/>
            <a:ext cx="8777520" cy="912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5400" spc="-1" strike="noStrike">
                <a:solidFill>
                  <a:srgbClr val="ffffff"/>
                </a:solidFill>
                <a:latin typeface="Arial"/>
                <a:ea typeface="DejaVu Sans"/>
              </a:rPr>
              <a:t>Next Steps:</a:t>
            </a:r>
            <a:endParaRPr b="0" lang="en-CA" sz="5400" spc="-1" strike="noStrike">
              <a:solidFill>
                <a:srgbClr val="000000"/>
              </a:solidFill>
              <a:latin typeface="Arial"/>
            </a:endParaRPr>
          </a:p>
        </p:txBody>
      </p:sp>
      <p:sp>
        <p:nvSpPr>
          <p:cNvPr id="123" name="TextBox 4"/>
          <p:cNvSpPr/>
          <p:nvPr/>
        </p:nvSpPr>
        <p:spPr>
          <a:xfrm>
            <a:off x="640080" y="2286000"/>
            <a:ext cx="8777520" cy="759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Compare the actual volumes of Warehouse B and Warehouse C against the estimated model</a:t>
            </a:r>
            <a:endParaRPr b="0" lang="en-CA" sz="2200" spc="-1" strike="noStrike">
              <a:solidFill>
                <a:srgbClr val="000000"/>
              </a:solidFill>
              <a:latin typeface="Arial"/>
            </a:endParaRPr>
          </a:p>
        </p:txBody>
      </p:sp>
      <p:sp>
        <p:nvSpPr>
          <p:cNvPr id="124" name="TextBox 5"/>
          <p:cNvSpPr/>
          <p:nvPr/>
        </p:nvSpPr>
        <p:spPr>
          <a:xfrm>
            <a:off x="640080" y="3286440"/>
            <a:ext cx="8777520" cy="301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800" spc="-1" strike="noStrike">
                <a:solidFill>
                  <a:srgbClr val="ffffff"/>
                </a:solidFill>
                <a:latin typeface="Arial"/>
                <a:ea typeface="DejaVu Sans"/>
              </a:rPr>
              <a:t>- It is extremely important to remember that the amount of space that any given portion of inventory shall occupy has been estimated here without the spacial burden of the items' packaging.</a:t>
            </a:r>
            <a:endParaRPr b="0" lang="en-CA" sz="18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800" spc="-1" strike="noStrike">
                <a:solidFill>
                  <a:srgbClr val="ffffff"/>
                </a:solidFill>
                <a:latin typeface="Arial"/>
                <a:ea typeface="DejaVu Sans"/>
              </a:rPr>
              <a:t>- It would be unsurprising to discover that the smaller scale models of current Warehouse C have proportionally more packaging than the somewhat larger models currently occupying Warehouse B.</a:t>
            </a:r>
            <a:endParaRPr b="0" lang="en-CA" sz="18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800" spc="-1" strike="noStrike">
                <a:solidFill>
                  <a:srgbClr val="ffffff"/>
                </a:solidFill>
                <a:latin typeface="Arial"/>
                <a:ea typeface="DejaVu Sans"/>
              </a:rPr>
              <a:t>- Both Warehouse B and Warehouse C will, in reality, be much larger than the generated volumes which were used to compare warehouse capacities.  Comparing the ratio of (Actual:Estimated) warehouse volume for each warehouse could possibly be used in lieu of ascertaining complete product packaging size information.</a:t>
            </a:r>
            <a:endParaRPr b="0" lang="en-CA"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26"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CA" sz="1800" spc="-1" strike="noStrike">
              <a:solidFill>
                <a:schemeClr val="lt1"/>
              </a:solidFill>
              <a:latin typeface="Arial"/>
              <a:ea typeface="DejaVu Sans"/>
            </a:endParaRPr>
          </a:p>
        </p:txBody>
      </p:sp>
      <p:sp>
        <p:nvSpPr>
          <p:cNvPr id="127" name="TextBox 3"/>
          <p:cNvSpPr/>
          <p:nvPr/>
        </p:nvSpPr>
        <p:spPr>
          <a:xfrm>
            <a:off x="640080" y="887400"/>
            <a:ext cx="8777520" cy="912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5400" spc="-1" strike="noStrike">
                <a:solidFill>
                  <a:srgbClr val="ffffff"/>
                </a:solidFill>
                <a:latin typeface="Arial"/>
                <a:ea typeface="DejaVu Sans"/>
              </a:rPr>
              <a:t>Next Steps:</a:t>
            </a:r>
            <a:endParaRPr b="0" lang="en-CA" sz="5400" spc="-1" strike="noStrike">
              <a:solidFill>
                <a:srgbClr val="000000"/>
              </a:solidFill>
              <a:latin typeface="Arial"/>
            </a:endParaRPr>
          </a:p>
        </p:txBody>
      </p:sp>
      <p:sp>
        <p:nvSpPr>
          <p:cNvPr id="128" name="TextBox 4"/>
          <p:cNvSpPr/>
          <p:nvPr/>
        </p:nvSpPr>
        <p:spPr>
          <a:xfrm>
            <a:off x="640080" y="2286000"/>
            <a:ext cx="8777520" cy="881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600" spc="-1" strike="noStrike">
                <a:solidFill>
                  <a:srgbClr val="ffffff"/>
                </a:solidFill>
                <a:latin typeface="Arial"/>
                <a:ea typeface="DejaVu Sans"/>
              </a:rPr>
              <a:t>Look into the reasons why some items have incredibly low inventory stock:</a:t>
            </a:r>
            <a:endParaRPr b="0" lang="en-CA" sz="2600" spc="-1" strike="noStrike">
              <a:solidFill>
                <a:srgbClr val="000000"/>
              </a:solidFill>
              <a:latin typeface="Arial"/>
            </a:endParaRPr>
          </a:p>
        </p:txBody>
      </p:sp>
      <p:sp>
        <p:nvSpPr>
          <p:cNvPr id="129" name="TextBox 5"/>
          <p:cNvSpPr/>
          <p:nvPr/>
        </p:nvSpPr>
        <p:spPr>
          <a:xfrm>
            <a:off x="762480" y="3460680"/>
            <a:ext cx="8777520" cy="2299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900" spc="-1" strike="noStrike">
                <a:solidFill>
                  <a:srgbClr val="ffffff"/>
                </a:solidFill>
                <a:latin typeface="Arial"/>
                <a:ea typeface="DejaVu Sans"/>
              </a:rPr>
              <a:t>- Are any of these items no longer available or difficult to acquire from the manufacturer?</a:t>
            </a:r>
            <a:endParaRPr b="0" lang="en-CA" sz="19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900" spc="-1" strike="noStrike">
                <a:solidFill>
                  <a:srgbClr val="ffffff"/>
                </a:solidFill>
                <a:latin typeface="Arial"/>
                <a:ea typeface="DejaVu Sans"/>
              </a:rPr>
              <a:t>- If so, consider dropping those products from the Mint Classics products catalogue.</a:t>
            </a:r>
            <a:endParaRPr b="0" lang="en-CA" sz="19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900" spc="-1" strike="noStrike">
                <a:solidFill>
                  <a:srgbClr val="ffffff"/>
                </a:solidFill>
                <a:latin typeface="Arial"/>
                <a:ea typeface="DejaVu Sans"/>
              </a:rPr>
              <a:t>- This method could be useful in warehouse reorganization more storage volume might be achieved from the same square footage with less individual product codes to keep organized and accessible.</a:t>
            </a:r>
            <a:endParaRPr b="0" lang="en-CA"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Rectangle 1"/>
          <p:cNvSpPr/>
          <p:nvPr/>
        </p:nvSpPr>
        <p:spPr>
          <a:xfrm>
            <a:off x="640080" y="685800"/>
            <a:ext cx="8777520" cy="13708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31" name="Rectangle 2"/>
          <p:cNvSpPr/>
          <p:nvPr/>
        </p:nvSpPr>
        <p:spPr>
          <a:xfrm>
            <a:off x="640080" y="2286000"/>
            <a:ext cx="8777520" cy="4114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32" name="TextBox 3"/>
          <p:cNvSpPr/>
          <p:nvPr/>
        </p:nvSpPr>
        <p:spPr>
          <a:xfrm>
            <a:off x="640080" y="900000"/>
            <a:ext cx="8777520" cy="912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5400" spc="-1" strike="noStrike">
                <a:solidFill>
                  <a:srgbClr val="ffffff"/>
                </a:solidFill>
                <a:latin typeface="Arial"/>
                <a:ea typeface="DejaVu Sans"/>
              </a:rPr>
              <a:t>Next Steps:</a:t>
            </a:r>
            <a:endParaRPr b="0" lang="en-CA" sz="5400" spc="-1" strike="noStrike">
              <a:solidFill>
                <a:srgbClr val="000000"/>
              </a:solidFill>
              <a:latin typeface="Arial"/>
            </a:endParaRPr>
          </a:p>
        </p:txBody>
      </p:sp>
      <p:sp>
        <p:nvSpPr>
          <p:cNvPr id="133" name="TextBox 4"/>
          <p:cNvSpPr/>
          <p:nvPr/>
        </p:nvSpPr>
        <p:spPr>
          <a:xfrm>
            <a:off x="640080" y="2286000"/>
            <a:ext cx="8777520" cy="759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2200" spc="-1" strike="noStrike">
                <a:solidFill>
                  <a:srgbClr val="ffffff"/>
                </a:solidFill>
                <a:latin typeface="Arial"/>
                <a:ea typeface="DejaVu Sans"/>
              </a:rPr>
              <a:t>Consider the ability to handle the logistics of increased shipping from Warehouse B</a:t>
            </a:r>
            <a:endParaRPr b="0" lang="en-CA" sz="2200" spc="-1" strike="noStrike">
              <a:solidFill>
                <a:srgbClr val="000000"/>
              </a:solidFill>
              <a:latin typeface="Arial"/>
            </a:endParaRPr>
          </a:p>
        </p:txBody>
      </p:sp>
      <p:sp>
        <p:nvSpPr>
          <p:cNvPr id="134" name="TextBox 5"/>
          <p:cNvSpPr/>
          <p:nvPr/>
        </p:nvSpPr>
        <p:spPr>
          <a:xfrm>
            <a:off x="900000" y="3106440"/>
            <a:ext cx="8280000" cy="301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800" spc="-1" strike="noStrike">
                <a:solidFill>
                  <a:srgbClr val="ffffff"/>
                </a:solidFill>
                <a:latin typeface="Arial"/>
                <a:ea typeface="DejaVu Sans"/>
              </a:rPr>
              <a:t>- At the outset of this analysis, Mint Classics expressed an interest in being able to ship products within 24 hours of receiving a purchase order.</a:t>
            </a:r>
            <a:endParaRPr b="0" lang="en-CA" sz="18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800" spc="-1" strike="noStrike">
                <a:solidFill>
                  <a:srgbClr val="ffffff"/>
                </a:solidFill>
                <a:latin typeface="Arial"/>
                <a:ea typeface="DejaVu Sans"/>
              </a:rPr>
              <a:t>- The warehouse to which the inventory of the proposed closure would be moved has a higher proportion of 2-3 day delays than the other warehouses.</a:t>
            </a:r>
            <a:endParaRPr b="0" lang="en-CA" sz="1800" spc="-1" strike="noStrike">
              <a:solidFill>
                <a:srgbClr val="000000"/>
              </a:solidFill>
              <a:latin typeface="Arial"/>
            </a:endParaRPr>
          </a:p>
          <a:p>
            <a:pPr>
              <a:lnSpc>
                <a:spcPct val="100000"/>
              </a:lnSpc>
            </a:pPr>
            <a:r>
              <a:rPr b="0" lang="en-CA" sz="1800" spc="-1" strike="noStrike">
                <a:solidFill>
                  <a:srgbClr val="ffffff"/>
                </a:solidFill>
                <a:latin typeface="Arial"/>
                <a:ea typeface="DejaVu Sans"/>
              </a:rPr>
              <a:t>- Ensure that warehouse staffing and logistics in Warehouse B will be capable of accommodating the estimated 100 extra line items of orders per day after amalgamation.</a:t>
            </a:r>
            <a:endParaRPr b="0" lang="en-CA" sz="1800" spc="-1" strike="noStrike">
              <a:solidFill>
                <a:srgbClr val="000000"/>
              </a:solidFill>
              <a:latin typeface="Arial"/>
            </a:endParaRPr>
          </a:p>
          <a:p>
            <a:pPr>
              <a:lnSpc>
                <a:spcPct val="100000"/>
              </a:lnSpc>
            </a:pPr>
            <a:endParaRPr b="0" lang="en-CA" sz="600" spc="-1" strike="noStrike">
              <a:solidFill>
                <a:srgbClr val="000000"/>
              </a:solidFill>
              <a:latin typeface="Arial"/>
            </a:endParaRPr>
          </a:p>
          <a:p>
            <a:pPr>
              <a:lnSpc>
                <a:spcPct val="100000"/>
              </a:lnSpc>
            </a:pPr>
            <a:r>
              <a:rPr b="0" lang="en-CA" sz="1800" spc="-1" strike="noStrike">
                <a:solidFill>
                  <a:srgbClr val="ffffff"/>
                </a:solidFill>
                <a:latin typeface="Arial"/>
                <a:ea typeface="DejaVu Sans"/>
              </a:rPr>
              <a:t>- Condense the existing inventory in Warehouse B creating a completely separate and empty space for the inventory of Warehouse C prior to shutting down Warehouse.</a:t>
            </a:r>
            <a:endParaRPr b="0" lang="en-CA"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2"/>
          <p:cNvSpPr/>
          <p:nvPr/>
        </p:nvSpPr>
        <p:spPr>
          <a:xfrm>
            <a:off x="640080" y="720000"/>
            <a:ext cx="8777520" cy="56800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36" name="TextBox 3"/>
          <p:cNvSpPr/>
          <p:nvPr/>
        </p:nvSpPr>
        <p:spPr>
          <a:xfrm>
            <a:off x="640080" y="2023560"/>
            <a:ext cx="8777520" cy="30164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4800" spc="-1" strike="noStrike">
                <a:solidFill>
                  <a:srgbClr val="ffffff"/>
                </a:solidFill>
                <a:latin typeface="Arial"/>
                <a:ea typeface="DejaVu Sans"/>
              </a:rPr>
              <a:t>Please feel free to come back with any other more specific questions regarding any aspect of this ongoing project.</a:t>
            </a:r>
            <a:endParaRPr b="0" lang="en-CA"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Rectangle 1"/>
          <p:cNvSpPr/>
          <p:nvPr/>
        </p:nvSpPr>
        <p:spPr>
          <a:xfrm>
            <a:off x="640080" y="822960"/>
            <a:ext cx="8777520" cy="5028480"/>
          </a:xfrm>
          <a:prstGeom prst="rect">
            <a:avLst/>
          </a:prstGeom>
          <a:solidFill>
            <a:srgbClr val="9b9b9b"/>
          </a:solidFill>
          <a:ln w="31750">
            <a:solidFill>
              <a:srgbClr val="84848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CA" sz="1800" spc="-1" strike="noStrike">
              <a:solidFill>
                <a:schemeClr val="lt1"/>
              </a:solidFill>
              <a:latin typeface="Arial"/>
              <a:ea typeface="DejaVu Sans"/>
            </a:endParaRPr>
          </a:p>
        </p:txBody>
      </p:sp>
      <p:sp>
        <p:nvSpPr>
          <p:cNvPr id="138" name="TextBox 2"/>
          <p:cNvSpPr/>
          <p:nvPr/>
        </p:nvSpPr>
        <p:spPr>
          <a:xfrm>
            <a:off x="640080" y="2160000"/>
            <a:ext cx="8777520" cy="17355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CA" sz="5400" spc="-1" strike="noStrike">
                <a:solidFill>
                  <a:srgbClr val="ffffff"/>
                </a:solidFill>
                <a:latin typeface="Arial"/>
                <a:ea typeface="DejaVu Sans"/>
              </a:rPr>
              <a:t>Thank You for choosing BCPM Custom Analytics!</a:t>
            </a:r>
            <a:endParaRPr b="0" lang="en-CA"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2026-10-08T11:54:15Z</dcterms:created>
  <dc:creator/>
  <dc:description/>
  <dc:language>en-CA</dc:language>
  <cp:lastModifiedBy/>
  <dcterms:modified xsi:type="dcterms:W3CDTF">2026-10-19T16:58:39Z</dcterms:modified>
  <cp:revision>47</cp:revision>
  <dc:subject/>
  <dc:title/>
</cp:coreProperties>
</file>

<file path=docProps/custom.xml><?xml version="1.0" encoding="utf-8"?>
<Properties xmlns="http://schemas.openxmlformats.org/officeDocument/2006/custom-properties" xmlns:vt="http://schemas.openxmlformats.org/officeDocument/2006/docPropsVTypes"/>
</file>