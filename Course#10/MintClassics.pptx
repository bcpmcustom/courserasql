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Lst>
  <p:sldSz cx="10080625" cy="7559675"/>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presProps" Target="presProps.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p:spTree>
      <p:nvGrpSpPr>
        <p:cNvPr id="1" name=""/>
        <p:cNvGrpSpPr/>
        <p:nvPr/>
      </p:nvGrpSpPr>
      <p:grpSpPr>
        <a:xfrm>
          <a:off x="0" y="0"/>
          <a:ext cx="0" cy="0"/>
          <a:chOff x="0" y="0"/>
          <a:chExt cx="0" cy="0"/>
        </a:xfrm>
      </p:grpSpPr>
      <p:sp>
        <p:nvSpPr>
          <p:cNvPr id="6" name="PlaceHolder 1"/>
          <p:cNvSpPr>
            <a:spLocks noGrp="1"/>
          </p:cNvSpPr>
          <p:nvPr>
            <p:ph type="title"/>
          </p:nvPr>
        </p:nvSpPr>
        <p:spPr>
          <a:xfrm>
            <a:off x="504000" y="301320"/>
            <a:ext cx="9071280" cy="1261440"/>
          </a:xfrm>
          <a:prstGeom prst="rect">
            <a:avLst/>
          </a:prstGeom>
          <a:noFill/>
          <a:ln w="0">
            <a:noFill/>
          </a:ln>
        </p:spPr>
        <p:txBody>
          <a:bodyPr lIns="0" rIns="0" tIns="0" bIns="0" anchor="ctr">
            <a:noAutofit/>
          </a:bodyPr>
          <a:p>
            <a:pPr indent="0" algn="ctr">
              <a:buNone/>
            </a:pPr>
            <a:endParaRPr b="0" lang="en-CA" sz="4400" spc="-1" strike="noStrike">
              <a:solidFill>
                <a:srgbClr val="000000"/>
              </a:solidFill>
              <a:latin typeface="Arial"/>
            </a:endParaRPr>
          </a:p>
        </p:txBody>
      </p:sp>
      <p:sp>
        <p:nvSpPr>
          <p:cNvPr id="7" name="PlaceHolder 2"/>
          <p:cNvSpPr>
            <a:spLocks noGrp="1"/>
          </p:cNvSpPr>
          <p:nvPr>
            <p:ph type="subTitle"/>
          </p:nvPr>
        </p:nvSpPr>
        <p:spPr>
          <a:xfrm>
            <a:off x="504000" y="1768680"/>
            <a:ext cx="9072000" cy="4384080"/>
          </a:xfrm>
          <a:prstGeom prst="rect">
            <a:avLst/>
          </a:prstGeom>
          <a:noFill/>
          <a:ln w="0">
            <a:noFill/>
          </a:ln>
        </p:spPr>
        <p:txBody>
          <a:bodyPr lIns="0" rIns="0" tIns="0" bIns="0" anchor="ctr">
            <a:noAutofit/>
          </a:bodyPr>
          <a:p>
            <a:pPr indent="0" algn="ctr">
              <a:buNone/>
            </a:pPr>
            <a:endParaRPr b="0" lang="en-CA"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04C7C6E8-229A-4233-84DB-DA461D7DDF57}" type="slidenum">
              <a:t>&lt;#&gt;</a:t>
            </a:fld>
          </a:p>
        </p:txBody>
      </p:sp>
      <p:sp>
        <p:nvSpPr>
          <p:cNvPr id="6" name="PlaceHolder 5"/>
          <p:cNvSpPr>
            <a:spLocks noGrp="1"/>
          </p:cNvSpPr>
          <p:nvPr>
            <p:ph type="dt" idx="3"/>
          </p:nvPr>
        </p:nvSpPr>
        <p:spPr/>
        <p:txBody>
          <a:bodyPr/>
          <a:p>
            <a:r>
              <a:rPr lang="en-CA"/>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
        <p:nvSpPr>
          <p:cNvPr id="2" name="PlaceHolder 1"/>
          <p:cNvSpPr>
            <a:spLocks noGrp="1"/>
          </p:cNvSpPr>
          <p:nvPr>
            <p:ph type="ftr" idx="1"/>
          </p:nvPr>
        </p:nvSpPr>
        <p:spPr/>
        <p:txBody>
          <a:bodyPr/>
          <a:p>
            <a:r>
              <a:t>Footer</a:t>
            </a:r>
          </a:p>
        </p:txBody>
      </p:sp>
      <p:sp>
        <p:nvSpPr>
          <p:cNvPr id="3" name="PlaceHolder 2"/>
          <p:cNvSpPr>
            <a:spLocks noGrp="1"/>
          </p:cNvSpPr>
          <p:nvPr>
            <p:ph type="sldNum" idx="2"/>
          </p:nvPr>
        </p:nvSpPr>
        <p:spPr/>
        <p:txBody>
          <a:bodyPr/>
          <a:p>
            <a:fld id="{BE4782B8-1BF3-40F7-97EE-75290F9931BE}" type="slidenum">
              <a:t>&lt;#&gt;</a:t>
            </a:fld>
          </a:p>
        </p:txBody>
      </p:sp>
      <p:sp>
        <p:nvSpPr>
          <p:cNvPr id="4" name="PlaceHolder 3"/>
          <p:cNvSpPr>
            <a:spLocks noGrp="1"/>
          </p:cNvSpPr>
          <p:nvPr>
            <p:ph type="dt" idx="3"/>
          </p:nvPr>
        </p:nvSpPr>
        <p:spPr/>
        <p:txBody>
          <a:bodyPr/>
          <a:p>
            <a:r>
              <a:rPr lang="en-CA"/>
              <a:t/>
            </a: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slideLayout" Target="../slideLayouts/slideLayout1.xml"/><Relationship Id="rId4" Type="http://schemas.openxmlformats.org/officeDocument/2006/relationships/slideLayout" Target="../slideLayouts/slideLayout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9500">
              <a:srgbClr val="dddddd"/>
            </a:gs>
            <a:gs pos="50000">
              <a:srgbClr val="858585"/>
            </a:gs>
            <a:gs pos="90500">
              <a:srgbClr val="dddddd"/>
            </a:gs>
          </a:gsLst>
          <a:lin ang="17700000"/>
        </a:gradFill>
      </p:bgPr>
    </p:bg>
    <p:spTree>
      <p:nvGrpSpPr>
        <p:cNvPr id="1" name=""/>
        <p:cNvGrpSpPr/>
        <p:nvPr/>
      </p:nvGrpSpPr>
      <p:grpSpPr>
        <a:xfrm>
          <a:off x="0" y="0"/>
          <a:ext cx="0" cy="0"/>
          <a:chOff x="0" y="0"/>
          <a:chExt cx="0" cy="0"/>
        </a:xfrm>
      </p:grpSpPr>
      <p:pic>
        <p:nvPicPr>
          <p:cNvPr id="0" name="" descr=""/>
          <p:cNvPicPr/>
          <p:nvPr/>
        </p:nvPicPr>
        <p:blipFill>
          <a:blip r:embed="rId2"/>
          <a:stretch/>
        </p:blipFill>
        <p:spPr>
          <a:xfrm>
            <a:off x="8780400" y="6543720"/>
            <a:ext cx="939240" cy="655920"/>
          </a:xfrm>
          <a:prstGeom prst="rect">
            <a:avLst/>
          </a:prstGeom>
          <a:ln w="0">
            <a:noFill/>
          </a:ln>
        </p:spPr>
      </p:pic>
      <p:sp>
        <p:nvSpPr>
          <p:cNvPr id="1" name="PlaceHolder 1"/>
          <p:cNvSpPr>
            <a:spLocks noGrp="1"/>
          </p:cNvSpPr>
          <p:nvPr>
            <p:ph type="title"/>
          </p:nvPr>
        </p:nvSpPr>
        <p:spPr>
          <a:xfrm>
            <a:off x="504000" y="301320"/>
            <a:ext cx="9071280" cy="1261440"/>
          </a:xfrm>
          <a:prstGeom prst="rect">
            <a:avLst/>
          </a:prstGeom>
          <a:noFill/>
          <a:ln w="0">
            <a:noFill/>
          </a:ln>
        </p:spPr>
        <p:txBody>
          <a:bodyPr lIns="0" rIns="0" tIns="0" bIns="0" anchor="ctr">
            <a:noAutofit/>
          </a:bodyPr>
          <a:p>
            <a:pPr indent="0">
              <a:buNone/>
            </a:pPr>
            <a:r>
              <a:rPr b="0" lang="en-CA" sz="1800" spc="-1" strike="noStrike">
                <a:solidFill>
                  <a:srgbClr val="000000"/>
                </a:solidFill>
                <a:latin typeface="Arial"/>
              </a:rPr>
              <a:t>Click to edit the title text format</a:t>
            </a:r>
            <a:endParaRPr b="0" lang="en-CA" sz="1800" spc="-1" strike="noStrike">
              <a:solidFill>
                <a:srgbClr val="000000"/>
              </a:solidFill>
              <a:latin typeface="Arial"/>
            </a:endParaRPr>
          </a:p>
        </p:txBody>
      </p:sp>
      <p:sp>
        <p:nvSpPr>
          <p:cNvPr id="2" name="PlaceHolder 2"/>
          <p:cNvSpPr>
            <a:spLocks noGrp="1"/>
          </p:cNvSpPr>
          <p:nvPr>
            <p:ph type="ftr" idx="1"/>
          </p:nvPr>
        </p:nvSpPr>
        <p:spPr>
          <a:xfrm>
            <a:off x="3447360" y="6886800"/>
            <a:ext cx="3194640" cy="520560"/>
          </a:xfrm>
          <a:prstGeom prst="rect">
            <a:avLst/>
          </a:prstGeom>
          <a:noFill/>
          <a:ln w="0">
            <a:noFill/>
          </a:ln>
        </p:spPr>
        <p:txBody>
          <a:bodyPr lIns="0" rIns="0" tIns="0" bIns="0" anchor="t">
            <a:noAutofit/>
          </a:bodyPr>
          <a:lstStyle>
            <a:lvl1pPr indent="0" algn="ctr">
              <a:lnSpc>
                <a:spcPct val="100000"/>
              </a:lnSpc>
              <a:buNone/>
              <a:tabLst>
                <a:tab algn="l" pos="0"/>
              </a:tabLst>
              <a:defRPr b="0" lang="en-CA" sz="1400" spc="-1" strike="noStrike">
                <a:solidFill>
                  <a:srgbClr val="000000"/>
                </a:solidFill>
                <a:latin typeface="Times New Roman"/>
              </a:defRPr>
            </a:lvl1pPr>
          </a:lstStyle>
          <a:p>
            <a:pPr indent="0" algn="ctr">
              <a:lnSpc>
                <a:spcPct val="100000"/>
              </a:lnSpc>
              <a:buNone/>
              <a:tabLst>
                <a:tab algn="l" pos="0"/>
              </a:tabLst>
            </a:pPr>
            <a:r>
              <a:rPr b="0" lang="en-CA" sz="1400" spc="-1" strike="noStrike">
                <a:solidFill>
                  <a:srgbClr val="000000"/>
                </a:solidFill>
                <a:latin typeface="Times New Roman"/>
              </a:rPr>
              <a:t>&lt;footer&gt;</a:t>
            </a:r>
            <a:endParaRPr b="0" lang="en-CA" sz="1400" spc="-1" strike="noStrike">
              <a:solidFill>
                <a:srgbClr val="000000"/>
              </a:solidFill>
              <a:latin typeface="Times New Roman"/>
            </a:endParaRPr>
          </a:p>
        </p:txBody>
      </p:sp>
      <p:sp>
        <p:nvSpPr>
          <p:cNvPr id="3" name="PlaceHolder 3"/>
          <p:cNvSpPr>
            <a:spLocks noGrp="1"/>
          </p:cNvSpPr>
          <p:nvPr>
            <p:ph type="sldNum" idx="2"/>
          </p:nvPr>
        </p:nvSpPr>
        <p:spPr>
          <a:xfrm>
            <a:off x="7227360" y="6886800"/>
            <a:ext cx="2347920" cy="520560"/>
          </a:xfrm>
          <a:prstGeom prst="rect">
            <a:avLst/>
          </a:prstGeom>
          <a:noFill/>
          <a:ln w="0">
            <a:noFill/>
          </a:ln>
        </p:spPr>
        <p:txBody>
          <a:bodyPr lIns="0" rIns="0" tIns="0" bIns="0" anchor="t">
            <a:noAutofit/>
          </a:bodyPr>
          <a:lstStyle>
            <a:lvl1pPr indent="0" algn="r">
              <a:lnSpc>
                <a:spcPct val="100000"/>
              </a:lnSpc>
              <a:buNone/>
              <a:tabLst>
                <a:tab algn="l" pos="0"/>
              </a:tabLst>
              <a:defRPr b="0" lang="en-CA" sz="1400" spc="-1" strike="noStrike">
                <a:solidFill>
                  <a:srgbClr val="000000"/>
                </a:solidFill>
                <a:latin typeface="Times New Roman"/>
              </a:defRPr>
            </a:lvl1pPr>
          </a:lstStyle>
          <a:p>
            <a:pPr indent="0" algn="r">
              <a:lnSpc>
                <a:spcPct val="100000"/>
              </a:lnSpc>
              <a:buNone/>
              <a:tabLst>
                <a:tab algn="l" pos="0"/>
              </a:tabLst>
            </a:pPr>
            <a:fld id="{9EF2A948-1FF3-402E-8B6C-0BC45F09D7E3}" type="slidenum">
              <a:rPr b="0" lang="en-CA" sz="1400" spc="-1" strike="noStrike">
                <a:solidFill>
                  <a:srgbClr val="000000"/>
                </a:solidFill>
                <a:latin typeface="Times New Roman"/>
              </a:rPr>
              <a:t>&lt;number&gt;</a:t>
            </a:fld>
            <a:endParaRPr b="0" lang="en-CA" sz="1400" spc="-1" strike="noStrike">
              <a:solidFill>
                <a:srgbClr val="000000"/>
              </a:solidFill>
              <a:latin typeface="Times New Roman"/>
            </a:endParaRPr>
          </a:p>
        </p:txBody>
      </p:sp>
      <p:sp>
        <p:nvSpPr>
          <p:cNvPr id="4" name="PlaceHolder 4"/>
          <p:cNvSpPr>
            <a:spLocks noGrp="1"/>
          </p:cNvSpPr>
          <p:nvPr>
            <p:ph type="dt" idx="3"/>
          </p:nvPr>
        </p:nvSpPr>
        <p:spPr>
          <a:xfrm>
            <a:off x="504000" y="6886800"/>
            <a:ext cx="2347920" cy="520560"/>
          </a:xfrm>
          <a:prstGeom prst="rect">
            <a:avLst/>
          </a:prstGeom>
          <a:noFill/>
          <a:ln w="0">
            <a:noFill/>
          </a:ln>
        </p:spPr>
        <p:txBody>
          <a:bodyPr lIns="0" rIns="0" tIns="0" bIns="0" anchor="t">
            <a:noAutofit/>
          </a:bodyPr>
          <a:lstStyle>
            <a:lvl1pPr indent="0">
              <a:buNone/>
              <a:defRPr b="0" lang="en-CA" sz="1400" spc="-1" strike="noStrike">
                <a:solidFill>
                  <a:srgbClr val="000000"/>
                </a:solidFill>
                <a:latin typeface="Times New Roman"/>
              </a:defRPr>
            </a:lvl1pPr>
          </a:lstStyle>
          <a:p>
            <a:pPr indent="0">
              <a:buNone/>
            </a:pPr>
            <a:r>
              <a:rPr b="0" lang="en-CA" sz="1400" spc="-1" strike="noStrike">
                <a:solidFill>
                  <a:srgbClr val="000000"/>
                </a:solidFill>
                <a:latin typeface="Times New Roman"/>
              </a:rPr>
              <a:t>&lt;date/time&gt;</a:t>
            </a:r>
            <a:endParaRPr b="0" lang="en-CA" sz="1400" spc="-1" strike="noStrike">
              <a:solidFill>
                <a:srgbClr val="000000"/>
              </a:solidFill>
              <a:latin typeface="Times New Roman"/>
            </a:endParaRPr>
          </a:p>
        </p:txBody>
      </p:sp>
      <p:sp>
        <p:nvSpPr>
          <p:cNvPr id="5" name="PlaceHolder 5"/>
          <p:cNvSpPr>
            <a:spLocks noGrp="1"/>
          </p:cNvSpPr>
          <p:nvPr>
            <p:ph type="body"/>
          </p:nvPr>
        </p:nvSpPr>
        <p:spPr>
          <a:xfrm>
            <a:off x="504000" y="1768680"/>
            <a:ext cx="9072000" cy="43840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CA" sz="3200" spc="-1" strike="noStrike">
                <a:solidFill>
                  <a:srgbClr val="000000"/>
                </a:solidFill>
                <a:latin typeface="Arial"/>
              </a:rPr>
              <a:t>Click to edit the outline text format</a:t>
            </a:r>
            <a:endParaRPr b="0" lang="en-CA"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CA" sz="2800" spc="-1" strike="noStrike">
                <a:solidFill>
                  <a:srgbClr val="000000"/>
                </a:solidFill>
                <a:latin typeface="Arial"/>
              </a:rPr>
              <a:t>Second Outline Level</a:t>
            </a:r>
            <a:endParaRPr b="0" lang="en-CA"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CA" sz="2400" spc="-1" strike="noStrike">
                <a:solidFill>
                  <a:srgbClr val="000000"/>
                </a:solidFill>
                <a:latin typeface="Arial"/>
              </a:rPr>
              <a:t>Third Outline Level</a:t>
            </a:r>
            <a:endParaRPr b="0" lang="en-CA"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CA" sz="2000" spc="-1" strike="noStrike">
                <a:solidFill>
                  <a:srgbClr val="000000"/>
                </a:solidFill>
                <a:latin typeface="Arial"/>
              </a:rPr>
              <a:t>Fourth Outline Level</a:t>
            </a:r>
            <a:endParaRPr b="0" lang="en-CA"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CA" sz="2000" spc="-1" strike="noStrike">
                <a:solidFill>
                  <a:srgbClr val="000000"/>
                </a:solidFill>
                <a:latin typeface="Arial"/>
              </a:rPr>
              <a:t>Fifth Outline Level</a:t>
            </a:r>
            <a:endParaRPr b="0" lang="en-CA"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CA" sz="2000" spc="-1" strike="noStrike">
                <a:solidFill>
                  <a:srgbClr val="000000"/>
                </a:solidFill>
                <a:latin typeface="Arial"/>
              </a:rPr>
              <a:t>Sixth Outline Level</a:t>
            </a:r>
            <a:endParaRPr b="0" lang="en-CA"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CA" sz="2000" spc="-1" strike="noStrike">
                <a:solidFill>
                  <a:srgbClr val="000000"/>
                </a:solidFill>
                <a:latin typeface="Arial"/>
              </a:rPr>
              <a:t>Seventh Outline Level</a:t>
            </a:r>
            <a:endParaRPr b="0" lang="en-CA"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3"/>
    <p:sldLayoutId id="2147483650" r:id="rId4"/>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 name="Rectangle 1"/>
          <p:cNvSpPr/>
          <p:nvPr/>
        </p:nvSpPr>
        <p:spPr>
          <a:xfrm>
            <a:off x="640080" y="685800"/>
            <a:ext cx="8778240" cy="13716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85800"/>
            <a:ext cx="8778240" cy="1371600"/>
          </a:xfrm>
          <a:prstGeom prst="rect">
            <a:avLst/>
          </a:prstGeom>
          <a:noFill/>
        </p:spPr>
        <p:txBody>
          <a:bodyPr wrap="square">
            <a:spAutoFit/>
          </a:bodyPr>
          <a:lstStyle/>
          <a:p>
            <a:pPr algn="ctr"/>
            <a:r>
              <a:rPr sz="4200">
                <a:solidFill>
                  <a:srgbClr val="FFFFFF"/>
                </a:solidFill>
              </a:rPr>
              <a:t>Mint Classics Warehouse Elimination Study</a:t>
            </a: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685800"/>
            <a:ext cx="8778240" cy="13716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2286000"/>
            <a:ext cx="8778240" cy="41148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85800"/>
            <a:ext cx="8778240" cy="1371600"/>
          </a:xfrm>
          <a:prstGeom prst="rect">
            <a:avLst/>
          </a:prstGeom>
          <a:noFill/>
        </p:spPr>
        <p:txBody>
          <a:bodyPr wrap="square">
            <a:spAutoFit/>
          </a:bodyPr>
          <a:lstStyle/>
          <a:p>
            <a:pPr algn="ctr"/>
            <a:r>
              <a:rPr sz="4200">
                <a:solidFill>
                  <a:srgbClr val="FFFFFF"/>
                </a:solidFill>
              </a:rPr>
              <a:t>Initial inspection of stock on hand by warehouse location</a:t>
            </a:r>
          </a:p>
        </p:txBody>
      </p:sp>
      <p:sp>
        <p:nvSpPr>
          <p:cNvPr id="5" name="TextBox 4"/>
          <p:cNvSpPr txBox="1"/>
          <p:nvPr/>
        </p:nvSpPr>
        <p:spPr>
          <a:xfrm>
            <a:off x="640080" y="2286000"/>
            <a:ext cx="8778240" cy="4114800"/>
          </a:xfrm>
          <a:prstGeom prst="rect">
            <a:avLst/>
          </a:prstGeom>
          <a:noFill/>
        </p:spPr>
        <p:txBody>
          <a:bodyPr wrap="square">
            <a:spAutoFit/>
          </a:bodyPr>
          <a:lstStyle/>
          <a:p>
            <a:pPr algn="l"/>
            <a:r>
              <a:rPr sz="2200">
                <a:solidFill>
                  <a:srgbClr val="FFFFFF"/>
                </a:solidFill>
              </a:rPr>
              <a:t>- The first thing to check is the distribution of product stock according to which warehouse location the stock is being stored.</a:t>
            </a:r>
          </a:p>
          <a:p>
            <a:pPr algn="l"/>
            <a:r>
              <a:rPr sz="2200">
                <a:solidFill>
                  <a:srgbClr val="FFFFFF"/>
                </a:solidFill>
              </a:rPr>
              <a:t>- The majority of product stock is stored in Warehouse B.</a:t>
            </a:r>
          </a:p>
          <a:p>
            <a:pPr algn="l"/>
            <a:r>
              <a:rPr sz="2200">
                <a:solidFill>
                  <a:srgbClr val="FFFFFF"/>
                </a:solidFill>
              </a:rPr>
              <a:t>- The cost of the stock in Warehouse A is comparatively higher than the cost of the stock stored in any of the other warehouses as demonstrated by the 'Investment Value' being 6% higher than the 'Stock Quantity'</a:t>
            </a:r>
          </a:p>
        </p:txBody>
      </p:sp>
      <p:pic>
        <p:nvPicPr>
          <p:cNvPr id="6" name="Picture 5" descr="output_11_0.png"/>
          <p:cNvPicPr>
            <a:picLocks noChangeAspect="1"/>
          </p:cNvPicPr>
          <p:nvPr/>
        </p:nvPicPr>
        <p:blipFill>
          <a:blip r:embed="rId2"/>
          <a:stretch>
            <a:fillRect/>
          </a:stretch>
        </p:blipFill>
        <p:spPr>
          <a:xfrm>
            <a:off x="914400" y="914400"/>
            <a:ext cx="14648688" cy="595274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685800"/>
            <a:ext cx="8778240" cy="13716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2286000"/>
            <a:ext cx="8778240" cy="41148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85800"/>
            <a:ext cx="8778240" cy="1371600"/>
          </a:xfrm>
          <a:prstGeom prst="rect">
            <a:avLst/>
          </a:prstGeom>
          <a:noFill/>
        </p:spPr>
        <p:txBody>
          <a:bodyPr wrap="square">
            <a:spAutoFit/>
          </a:bodyPr>
          <a:lstStyle/>
          <a:p>
            <a:pPr algn="ctr"/>
            <a:r>
              <a:rPr sz="4200">
                <a:solidFill>
                  <a:srgbClr val="FFFFFF"/>
                </a:solidFill>
              </a:rPr>
              <a:t>Check Customer Locations</a:t>
            </a:r>
          </a:p>
        </p:txBody>
      </p:sp>
      <p:sp>
        <p:nvSpPr>
          <p:cNvPr id="5" name="TextBox 4"/>
          <p:cNvSpPr txBox="1"/>
          <p:nvPr/>
        </p:nvSpPr>
        <p:spPr>
          <a:xfrm>
            <a:off x="640080" y="2286000"/>
            <a:ext cx="8778240" cy="4114800"/>
          </a:xfrm>
          <a:prstGeom prst="rect">
            <a:avLst/>
          </a:prstGeom>
          <a:noFill/>
        </p:spPr>
        <p:txBody>
          <a:bodyPr wrap="square">
            <a:spAutoFit/>
          </a:bodyPr>
          <a:lstStyle/>
          <a:p>
            <a:pPr algn="l"/>
            <a:r>
              <a:rPr sz="2200">
                <a:solidFill>
                  <a:srgbClr val="FFFFFF"/>
                </a:solidFill>
              </a:rPr>
              <a:t>- Where does each warehouse ship it's products?</a:t>
            </a:r>
          </a:p>
          <a:p>
            <a:pPr algn="l"/>
            <a:r>
              <a:rPr sz="2200">
                <a:solidFill>
                  <a:srgbClr val="FFFFFF"/>
                </a:solidFill>
              </a:rPr>
              <a:t>- Does each warehouse service it's own geographic location?</a:t>
            </a:r>
          </a:p>
          <a:p>
            <a:pPr algn="l"/>
            <a:r>
              <a:rPr sz="2200">
                <a:solidFill>
                  <a:srgbClr val="FFFFFF"/>
                </a:solidFill>
              </a:rPr>
              <a:t>- The map shows that each of the four warehouses ship to all customer regions.</a:t>
            </a:r>
          </a:p>
        </p:txBody>
      </p:sp>
      <p:pic>
        <p:nvPicPr>
          <p:cNvPr id="6" name="Picture 5" descr="9cd8f22a-1241-4222-9e36-da9f3df30ceb.png"/>
          <p:cNvPicPr>
            <a:picLocks noChangeAspect="1"/>
          </p:cNvPicPr>
          <p:nvPr/>
        </p:nvPicPr>
        <p:blipFill>
          <a:blip r:embed="rId2"/>
          <a:stretch>
            <a:fillRect/>
          </a:stretch>
        </p:blipFill>
        <p:spPr>
          <a:xfrm>
            <a:off x="914400" y="914400"/>
            <a:ext cx="17322800" cy="7366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685800"/>
            <a:ext cx="8778240" cy="13716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2286000"/>
            <a:ext cx="8778240" cy="41148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85800"/>
            <a:ext cx="8778240" cy="1371600"/>
          </a:xfrm>
          <a:prstGeom prst="rect">
            <a:avLst/>
          </a:prstGeom>
          <a:noFill/>
        </p:spPr>
        <p:txBody>
          <a:bodyPr wrap="square">
            <a:spAutoFit/>
          </a:bodyPr>
          <a:lstStyle/>
          <a:p>
            <a:pPr algn="ctr"/>
            <a:r>
              <a:rPr sz="4200">
                <a:solidFill>
                  <a:srgbClr val="FFFFFF"/>
                </a:solidFill>
              </a:rPr>
              <a:t>Check Warehouse Sales &amp; Overhead</a:t>
            </a:r>
          </a:p>
        </p:txBody>
      </p:sp>
      <p:sp>
        <p:nvSpPr>
          <p:cNvPr id="5" name="TextBox 4"/>
          <p:cNvSpPr txBox="1"/>
          <p:nvPr/>
        </p:nvSpPr>
        <p:spPr>
          <a:xfrm>
            <a:off x="640080" y="2286000"/>
            <a:ext cx="8778240" cy="4114800"/>
          </a:xfrm>
          <a:prstGeom prst="rect">
            <a:avLst/>
          </a:prstGeom>
          <a:noFill/>
        </p:spPr>
        <p:txBody>
          <a:bodyPr wrap="square">
            <a:spAutoFit/>
          </a:bodyPr>
          <a:lstStyle/>
          <a:p>
            <a:pPr algn="l"/>
            <a:r>
              <a:rPr sz="2200">
                <a:solidFill>
                  <a:srgbClr val="FFFFFF"/>
                </a:solidFill>
              </a:rPr>
              <a:t>- What does the overall product overhead look like?</a:t>
            </a:r>
          </a:p>
          <a:p>
            <a:pPr algn="l"/>
            <a:r>
              <a:rPr sz="2200">
                <a:solidFill>
                  <a:srgbClr val="FFFFFF"/>
                </a:solidFill>
              </a:rPr>
              <a:t>- How much overhead investment cost is in each warehouse?</a:t>
            </a:r>
          </a:p>
          <a:p>
            <a:pPr algn="l"/>
            <a:r>
              <a:rPr sz="2200">
                <a:solidFill>
                  <a:srgbClr val="FFFFFF"/>
                </a:solidFill>
              </a:rPr>
              <a:t>- Overall, sales look reasonable across all product codes with no serious problems in terms of extreme poor sales performance.</a:t>
            </a:r>
          </a:p>
          <a:p>
            <a:pPr algn="l"/>
            <a:r>
              <a:rPr sz="2200">
                <a:solidFill>
                  <a:srgbClr val="FFFFFF"/>
                </a:solidFill>
              </a:rPr>
              <a:t>- The amount of inventory for each product code is fairly inconsistent.</a:t>
            </a:r>
          </a:p>
          <a:p>
            <a:pPr algn="l"/>
            <a:r>
              <a:rPr sz="2200">
                <a:solidFill>
                  <a:srgbClr val="FFFFFF"/>
                </a:solidFill>
              </a:rPr>
              <a:t>- Several products show extremely low inventory on hand.</a:t>
            </a:r>
          </a:p>
        </p:txBody>
      </p:sp>
      <p:pic>
        <p:nvPicPr>
          <p:cNvPr id="6" name="Picture 5" descr="output_22_0.png"/>
          <p:cNvPicPr>
            <a:picLocks noChangeAspect="1"/>
          </p:cNvPicPr>
          <p:nvPr/>
        </p:nvPicPr>
        <p:blipFill>
          <a:blip r:embed="rId2"/>
          <a:stretch>
            <a:fillRect/>
          </a:stretch>
        </p:blipFill>
        <p:spPr>
          <a:xfrm>
            <a:off x="914400" y="914400"/>
            <a:ext cx="9052560" cy="356616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685800"/>
            <a:ext cx="8778240" cy="13716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2286000"/>
            <a:ext cx="8778240" cy="41148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85800"/>
            <a:ext cx="8778240" cy="1371600"/>
          </a:xfrm>
          <a:prstGeom prst="rect">
            <a:avLst/>
          </a:prstGeom>
          <a:noFill/>
        </p:spPr>
        <p:txBody>
          <a:bodyPr wrap="square">
            <a:spAutoFit/>
          </a:bodyPr>
          <a:lstStyle/>
          <a:p>
            <a:pPr algn="ctr"/>
            <a:r>
              <a:rPr sz="4200">
                <a:solidFill>
                  <a:srgbClr val="FFFFFF"/>
                </a:solidFill>
              </a:rPr>
              <a:t>Sort Products by Warehouse</a:t>
            </a:r>
          </a:p>
        </p:txBody>
      </p:sp>
      <p:sp>
        <p:nvSpPr>
          <p:cNvPr id="5" name="TextBox 4"/>
          <p:cNvSpPr txBox="1"/>
          <p:nvPr/>
        </p:nvSpPr>
        <p:spPr>
          <a:xfrm>
            <a:off x="640080" y="2286000"/>
            <a:ext cx="8778240" cy="4114800"/>
          </a:xfrm>
          <a:prstGeom prst="rect">
            <a:avLst/>
          </a:prstGeom>
          <a:noFill/>
        </p:spPr>
        <p:txBody>
          <a:bodyPr wrap="square">
            <a:spAutoFit/>
          </a:bodyPr>
          <a:lstStyle/>
          <a:p>
            <a:pPr algn="l"/>
            <a:r>
              <a:rPr sz="2200">
                <a:solidFill>
                  <a:srgbClr val="FFFFFF"/>
                </a:solidFill>
              </a:rPr>
              <a:t>- All warehouses are selling inventory with reasonable distributions.</a:t>
            </a:r>
          </a:p>
          <a:p>
            <a:pPr algn="l"/>
            <a:r>
              <a:rPr sz="2200">
                <a:solidFill>
                  <a:srgbClr val="FFFFFF"/>
                </a:solidFill>
              </a:rPr>
              <a:t>- All warehouses contain some products which appear to contain insufficient stock levels based on previous sales.</a:t>
            </a:r>
          </a:p>
          <a:p>
            <a:pPr algn="l"/>
            <a:r>
              <a:rPr sz="2200">
                <a:solidFill>
                  <a:srgbClr val="FFFFFF"/>
                </a:solidFill>
              </a:rPr>
              <a:t>- Depending on the reasons behind the low inventory of certain products it may be advisable to discontinue those particular products.</a:t>
            </a:r>
          </a:p>
        </p:txBody>
      </p:sp>
      <p:pic>
        <p:nvPicPr>
          <p:cNvPr id="6" name="Picture 5" descr="output_29_0.png"/>
          <p:cNvPicPr>
            <a:picLocks noChangeAspect="1"/>
          </p:cNvPicPr>
          <p:nvPr/>
        </p:nvPicPr>
        <p:blipFill>
          <a:blip r:embed="rId2"/>
          <a:stretch>
            <a:fillRect/>
          </a:stretch>
        </p:blipFill>
        <p:spPr>
          <a:xfrm>
            <a:off x="914400" y="914400"/>
            <a:ext cx="10954512" cy="377647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685800"/>
            <a:ext cx="8778240" cy="13716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2286000"/>
            <a:ext cx="8778240" cy="41148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85800"/>
            <a:ext cx="8778240" cy="1371600"/>
          </a:xfrm>
          <a:prstGeom prst="rect">
            <a:avLst/>
          </a:prstGeom>
          <a:noFill/>
        </p:spPr>
        <p:txBody>
          <a:bodyPr wrap="square">
            <a:spAutoFit/>
          </a:bodyPr>
          <a:lstStyle/>
          <a:p>
            <a:pPr algn="ctr"/>
            <a:r>
              <a:rPr sz="4200">
                <a:solidFill>
                  <a:srgbClr val="FFFFFF"/>
                </a:solidFill>
              </a:rPr>
              <a:t>Check Low-Stock by Manufacturer</a:t>
            </a:r>
          </a:p>
        </p:txBody>
      </p:sp>
      <p:sp>
        <p:nvSpPr>
          <p:cNvPr id="5" name="TextBox 4"/>
          <p:cNvSpPr txBox="1"/>
          <p:nvPr/>
        </p:nvSpPr>
        <p:spPr>
          <a:xfrm>
            <a:off x="640080" y="2286000"/>
            <a:ext cx="8778240" cy="4114800"/>
          </a:xfrm>
          <a:prstGeom prst="rect">
            <a:avLst/>
          </a:prstGeom>
          <a:noFill/>
        </p:spPr>
        <p:txBody>
          <a:bodyPr wrap="square">
            <a:spAutoFit/>
          </a:bodyPr>
          <a:lstStyle/>
          <a:p>
            <a:pPr algn="l"/>
            <a:r>
              <a:rPr sz="2200">
                <a:solidFill>
                  <a:srgbClr val="FFFFFF"/>
                </a:solidFill>
              </a:rPr>
              <a:t>- Check for low stock by the current investment in inventory by product code.</a:t>
            </a:r>
          </a:p>
          <a:p>
            <a:pPr algn="l"/>
            <a:r>
              <a:rPr sz="2200">
                <a:solidFill>
                  <a:srgbClr val="FFFFFF"/>
                </a:solidFill>
              </a:rPr>
              <a:t>- Inspect whether there is any correlation between low-stock items and any particular manufacturer.</a:t>
            </a:r>
          </a:p>
          <a:p>
            <a:pPr algn="l"/>
            <a:r>
              <a:rPr sz="2200">
                <a:solidFill>
                  <a:srgbClr val="FFFFFF"/>
                </a:solidFill>
              </a:rPr>
              <a:t>- Seven out of 13 product vendors are represented in the Top10 lowest inventory query.</a:t>
            </a:r>
          </a:p>
        </p:txBody>
      </p:sp>
      <p:pic>
        <p:nvPicPr>
          <p:cNvPr id="6" name="Picture 5" descr="table_0.png"/>
          <p:cNvPicPr>
            <a:picLocks noChangeAspect="1"/>
          </p:cNvPicPr>
          <p:nvPr/>
        </p:nvPicPr>
        <p:blipFill>
          <a:blip r:embed="rId2"/>
          <a:stretch>
            <a:fillRect/>
          </a:stretch>
        </p:blipFill>
        <p:spPr>
          <a:xfrm>
            <a:off x="914400" y="914400"/>
            <a:ext cx="6021324" cy="356158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685800"/>
            <a:ext cx="8778240" cy="13716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2286000"/>
            <a:ext cx="8778240" cy="41148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85800"/>
            <a:ext cx="8778240" cy="1371600"/>
          </a:xfrm>
          <a:prstGeom prst="rect">
            <a:avLst/>
          </a:prstGeom>
          <a:noFill/>
        </p:spPr>
        <p:txBody>
          <a:bodyPr wrap="square">
            <a:spAutoFit/>
          </a:bodyPr>
          <a:lstStyle/>
          <a:p>
            <a:pPr algn="ctr"/>
            <a:r>
              <a:rPr sz="4200">
                <a:solidFill>
                  <a:srgbClr val="FFFFFF"/>
                </a:solidFill>
              </a:rPr>
              <a:t>Reinspect the Overhead Graphs Sorted by Product Vendor</a:t>
            </a:r>
          </a:p>
        </p:txBody>
      </p:sp>
      <p:sp>
        <p:nvSpPr>
          <p:cNvPr id="5" name="TextBox 4"/>
          <p:cNvSpPr txBox="1"/>
          <p:nvPr/>
        </p:nvSpPr>
        <p:spPr>
          <a:xfrm>
            <a:off x="640080" y="2286000"/>
            <a:ext cx="8778240" cy="4114800"/>
          </a:xfrm>
          <a:prstGeom prst="rect">
            <a:avLst/>
          </a:prstGeom>
          <a:noFill/>
        </p:spPr>
        <p:txBody>
          <a:bodyPr wrap="square">
            <a:spAutoFit/>
          </a:bodyPr>
          <a:lstStyle/>
          <a:p>
            <a:pPr algn="l"/>
            <a:r>
              <a:rPr sz="2200">
                <a:solidFill>
                  <a:srgbClr val="FFFFFF"/>
                </a:solidFill>
              </a:rPr>
              <a:t>- Clearly now, issues regarding low-stock inventory are with respect to individual products and not the fault of any single supplier.</a:t>
            </a:r>
          </a:p>
          <a:p>
            <a:pPr algn="l"/>
            <a:r>
              <a:rPr sz="2200">
                <a:solidFill>
                  <a:srgbClr val="FFFFFF"/>
                </a:solidFill>
              </a:rPr>
              <a:t>- Low stock levels are not directly correlated to high sales volumes in most cases.</a:t>
            </a:r>
          </a:p>
          <a:p>
            <a:pPr algn="l"/>
            <a:r>
              <a:rPr sz="2200">
                <a:solidFill>
                  <a:srgbClr val="FFFFFF"/>
                </a:solidFill>
              </a:rPr>
              <a:t>- The dataset lacks the necessary product supply information required to investigate any further at this time.</a:t>
            </a:r>
          </a:p>
        </p:txBody>
      </p:sp>
      <p:pic>
        <p:nvPicPr>
          <p:cNvPr id="6" name="Picture 5" descr="output_36_0.png"/>
          <p:cNvPicPr>
            <a:picLocks noChangeAspect="1"/>
          </p:cNvPicPr>
          <p:nvPr/>
        </p:nvPicPr>
        <p:blipFill>
          <a:blip r:embed="rId2"/>
          <a:stretch>
            <a:fillRect/>
          </a:stretch>
        </p:blipFill>
        <p:spPr>
          <a:xfrm>
            <a:off x="914400" y="914400"/>
            <a:ext cx="11000232" cy="564184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685800"/>
            <a:ext cx="8778240" cy="13716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2286000"/>
            <a:ext cx="8778240" cy="41148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85800"/>
            <a:ext cx="8778240" cy="1371600"/>
          </a:xfrm>
          <a:prstGeom prst="rect">
            <a:avLst/>
          </a:prstGeom>
          <a:noFill/>
        </p:spPr>
        <p:txBody>
          <a:bodyPr wrap="square">
            <a:spAutoFit/>
          </a:bodyPr>
          <a:lstStyle/>
          <a:p>
            <a:pPr algn="ctr"/>
            <a:r>
              <a:rPr sz="4200">
                <a:solidFill>
                  <a:srgbClr val="FFFFFF"/>
                </a:solidFill>
              </a:rPr>
              <a:t>Check Warehouse Volumes</a:t>
            </a:r>
          </a:p>
        </p:txBody>
      </p:sp>
      <p:sp>
        <p:nvSpPr>
          <p:cNvPr id="5" name="TextBox 4"/>
          <p:cNvSpPr txBox="1"/>
          <p:nvPr/>
        </p:nvSpPr>
        <p:spPr>
          <a:xfrm>
            <a:off x="640080" y="2286000"/>
            <a:ext cx="8778240" cy="4114800"/>
          </a:xfrm>
          <a:prstGeom prst="rect">
            <a:avLst/>
          </a:prstGeom>
          <a:noFill/>
        </p:spPr>
        <p:txBody>
          <a:bodyPr wrap="square">
            <a:spAutoFit/>
          </a:bodyPr>
          <a:lstStyle/>
          <a:p>
            <a:pPr algn="l"/>
            <a:r>
              <a:rPr sz="2200">
                <a:solidFill>
                  <a:srgbClr val="FFFFFF"/>
                </a:solidFill>
              </a:rPr>
              <a:t>- Actual packaging volume information was not available.</a:t>
            </a:r>
          </a:p>
          <a:p>
            <a:pPr algn="l"/>
            <a:r>
              <a:rPr sz="2200">
                <a:solidFill>
                  <a:srgbClr val="FFFFFF"/>
                </a:solidFill>
              </a:rPr>
              <a:t>- A list of the approximate product volumes has been generated based on product names and scale for the purpose of analysis.</a:t>
            </a:r>
          </a:p>
          <a:p>
            <a:pPr algn="l"/>
            <a:r>
              <a:rPr sz="2200">
                <a:solidFill>
                  <a:srgbClr val="FFFFFF"/>
                </a:solidFill>
              </a:rPr>
              <a:t>- The largest warehouse, Warehouse B, shows enough space remaining to hold the stock from either Warehouse C or Warehouse D.</a:t>
            </a:r>
          </a:p>
          <a:p>
            <a:pPr algn="l"/>
            <a:r>
              <a:rPr sz="2200">
                <a:solidFill>
                  <a:srgbClr val="FFFFFF"/>
                </a:solidFill>
              </a:rPr>
              <a:t>- Considering that Warehouse C is half-empty, this may a good candidate for closure.</a:t>
            </a:r>
          </a:p>
        </p:txBody>
      </p:sp>
      <p:pic>
        <p:nvPicPr>
          <p:cNvPr id="6" name="Picture 5" descr="output_43_0.png"/>
          <p:cNvPicPr>
            <a:picLocks noChangeAspect="1"/>
          </p:cNvPicPr>
          <p:nvPr/>
        </p:nvPicPr>
        <p:blipFill>
          <a:blip r:embed="rId2"/>
          <a:stretch>
            <a:fillRect/>
          </a:stretch>
        </p:blipFill>
        <p:spPr>
          <a:xfrm>
            <a:off x="914400" y="914400"/>
            <a:ext cx="9052560" cy="448056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685800"/>
            <a:ext cx="8778240" cy="13716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2286000"/>
            <a:ext cx="8778240" cy="41148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85800"/>
            <a:ext cx="8778240" cy="1371600"/>
          </a:xfrm>
          <a:prstGeom prst="rect">
            <a:avLst/>
          </a:prstGeom>
          <a:noFill/>
        </p:spPr>
        <p:txBody>
          <a:bodyPr wrap="square">
            <a:spAutoFit/>
          </a:bodyPr>
          <a:lstStyle/>
          <a:p>
            <a:pPr algn="ctr"/>
            <a:r>
              <a:rPr sz="4200">
                <a:solidFill>
                  <a:srgbClr val="FFFFFF"/>
                </a:solidFill>
              </a:rPr>
              <a:t>Check the Warehouse Contents</a:t>
            </a:r>
          </a:p>
        </p:txBody>
      </p:sp>
      <p:sp>
        <p:nvSpPr>
          <p:cNvPr id="5" name="TextBox 4"/>
          <p:cNvSpPr txBox="1"/>
          <p:nvPr/>
        </p:nvSpPr>
        <p:spPr>
          <a:xfrm>
            <a:off x="640080" y="2286000"/>
            <a:ext cx="8778240" cy="4114800"/>
          </a:xfrm>
          <a:prstGeom prst="rect">
            <a:avLst/>
          </a:prstGeom>
          <a:noFill/>
        </p:spPr>
        <p:txBody>
          <a:bodyPr wrap="square">
            <a:spAutoFit/>
          </a:bodyPr>
          <a:lstStyle/>
          <a:p>
            <a:pPr algn="l"/>
            <a:r>
              <a:rPr sz="2200">
                <a:solidFill>
                  <a:srgbClr val="FFFFFF"/>
                </a:solidFill>
              </a:rPr>
              <a:t>- It can be seen that the large warehouse "B" contains only 'Classic Cars'.</a:t>
            </a:r>
          </a:p>
          <a:p>
            <a:pPr algn="l"/>
            <a:r>
              <a:rPr sz="2200">
                <a:solidFill>
                  <a:srgbClr val="FFFFFF"/>
                </a:solidFill>
              </a:rPr>
              <a:t>- The warehouse which is a candidate for closure, "C", contains only 'Vintage Cars'.</a:t>
            </a:r>
          </a:p>
          <a:p>
            <a:pPr algn="l"/>
            <a:r>
              <a:rPr sz="2200">
                <a:solidFill>
                  <a:srgbClr val="FFFFFF"/>
                </a:solidFill>
              </a:rPr>
              <a:t>- Merging the contents of warehouses B and C would allow for the full stock of 'Cars' to be housed in a single location.</a:t>
            </a:r>
          </a:p>
        </p:txBody>
      </p:sp>
      <p:pic>
        <p:nvPicPr>
          <p:cNvPr id="6" name="Picture 5" descr="table_1.png"/>
          <p:cNvPicPr>
            <a:picLocks noChangeAspect="1"/>
          </p:cNvPicPr>
          <p:nvPr/>
        </p:nvPicPr>
        <p:blipFill>
          <a:blip r:embed="rId2"/>
          <a:stretch>
            <a:fillRect/>
          </a:stretch>
        </p:blipFill>
        <p:spPr>
          <a:xfrm>
            <a:off x="914400" y="914400"/>
            <a:ext cx="6752844" cy="356158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685800"/>
            <a:ext cx="8778240" cy="13716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2286000"/>
            <a:ext cx="8778240" cy="41148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85800"/>
            <a:ext cx="8778240" cy="1371600"/>
          </a:xfrm>
          <a:prstGeom prst="rect">
            <a:avLst/>
          </a:prstGeom>
          <a:noFill/>
        </p:spPr>
        <p:txBody>
          <a:bodyPr wrap="square">
            <a:spAutoFit/>
          </a:bodyPr>
          <a:lstStyle/>
          <a:p>
            <a:pPr algn="ctr"/>
            <a:r>
              <a:rPr sz="4200">
                <a:solidFill>
                  <a:srgbClr val="FFFFFF"/>
                </a:solidFill>
              </a:rPr>
              <a:t>Look into Warehouse Shipping Efficiency</a:t>
            </a:r>
          </a:p>
        </p:txBody>
      </p:sp>
      <p:sp>
        <p:nvSpPr>
          <p:cNvPr id="5" name="TextBox 4"/>
          <p:cNvSpPr txBox="1"/>
          <p:nvPr/>
        </p:nvSpPr>
        <p:spPr>
          <a:xfrm>
            <a:off x="640080" y="2286000"/>
            <a:ext cx="8778240" cy="4114800"/>
          </a:xfrm>
          <a:prstGeom prst="rect">
            <a:avLst/>
          </a:prstGeom>
          <a:noFill/>
        </p:spPr>
        <p:txBody>
          <a:bodyPr wrap="square">
            <a:spAutoFit/>
          </a:bodyPr>
          <a:lstStyle/>
          <a:p>
            <a:pPr algn="l"/>
            <a:r>
              <a:rPr sz="2200">
                <a:solidFill>
                  <a:srgbClr val="FFFFFF"/>
                </a:solidFill>
              </a:rPr>
              <a:t>Orders shipped from multiple warehouses DO NOT differentiate their date of shipment from each warehouse individually, THEREFORE the aggregated totals for each will only show a difference if a given warehouse is performing differently than average.</a:t>
            </a:r>
          </a:p>
        </p:txBody>
      </p:sp>
      <p:sp>
        <p:nvSpPr>
          <p:cNvPr id="6" name="TextBox 5"/>
          <p:cNvSpPr txBox="1"/>
          <p:nvPr/>
        </p:nvSpPr>
        <p:spPr>
          <a:xfrm>
            <a:off x="640080" y="2286000"/>
            <a:ext cx="8778240" cy="4114800"/>
          </a:xfrm>
          <a:prstGeom prst="rect">
            <a:avLst/>
          </a:prstGeom>
          <a:noFill/>
        </p:spPr>
        <p:txBody>
          <a:bodyPr wrap="square">
            <a:spAutoFit/>
          </a:bodyPr>
          <a:lstStyle/>
          <a:p>
            <a:pPr algn="l"/>
            <a:r>
              <a:rPr sz="2200">
                <a:solidFill>
                  <a:srgbClr val="FFFFFF"/>
                </a:solidFill>
              </a:rPr>
              <a:t>- Check the amount of time each warehouse requires to ship an order.</a:t>
            </a:r>
          </a:p>
          <a:p>
            <a:pPr algn="l"/>
            <a:r>
              <a:rPr sz="2200">
                <a:solidFill>
                  <a:srgbClr val="FFFFFF"/>
                </a:solidFill>
              </a:rPr>
              <a:t>- Look for shipping delays from each warehouse.</a:t>
            </a:r>
          </a:p>
          <a:p>
            <a:pPr algn="l"/>
            <a:r>
              <a:rPr sz="2200">
                <a:solidFill>
                  <a:srgbClr val="FFFFFF"/>
                </a:solidFill>
              </a:rPr>
              <a:t>- Determine if shipping delays are incidental or a systemic issue.</a:t>
            </a:r>
          </a:p>
        </p:txBody>
      </p:sp>
      <p:pic>
        <p:nvPicPr>
          <p:cNvPr id="7" name="Picture 6" descr="table_2.png"/>
          <p:cNvPicPr>
            <a:picLocks noChangeAspect="1"/>
          </p:cNvPicPr>
          <p:nvPr/>
        </p:nvPicPr>
        <p:blipFill>
          <a:blip r:embed="rId2"/>
          <a:stretch>
            <a:fillRect/>
          </a:stretch>
        </p:blipFill>
        <p:spPr>
          <a:xfrm>
            <a:off x="914400" y="914400"/>
            <a:ext cx="6199632" cy="3561588"/>
          </a:xfrm>
          <a:prstGeom prst="rect">
            <a:avLst/>
          </a:prstGeom>
        </p:spPr>
      </p:pic>
      <p:pic>
        <p:nvPicPr>
          <p:cNvPr id="8" name="Picture 7" descr="output_54_0.png"/>
          <p:cNvPicPr>
            <a:picLocks noChangeAspect="1"/>
          </p:cNvPicPr>
          <p:nvPr/>
        </p:nvPicPr>
        <p:blipFill>
          <a:blip r:embed="rId3"/>
          <a:stretch>
            <a:fillRect/>
          </a:stretch>
        </p:blipFill>
        <p:spPr>
          <a:xfrm>
            <a:off x="1371600" y="1371600"/>
            <a:ext cx="10881360" cy="539496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685800"/>
            <a:ext cx="8778240" cy="13716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2286000"/>
            <a:ext cx="8778240" cy="41148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85800"/>
            <a:ext cx="8778240" cy="1371600"/>
          </a:xfrm>
          <a:prstGeom prst="rect">
            <a:avLst/>
          </a:prstGeom>
          <a:noFill/>
        </p:spPr>
        <p:txBody>
          <a:bodyPr wrap="square">
            <a:spAutoFit/>
          </a:bodyPr>
          <a:lstStyle/>
          <a:p>
            <a:pPr algn="ctr"/>
            <a:r>
              <a:rPr sz="4200">
                <a:solidFill>
                  <a:srgbClr val="FFFFFF"/>
                </a:solidFill>
              </a:rPr>
              <a:t>Warehouse Shipping Efficiency (cont'd)</a:t>
            </a:r>
          </a:p>
        </p:txBody>
      </p:sp>
      <p:sp>
        <p:nvSpPr>
          <p:cNvPr id="5" name="TextBox 4"/>
          <p:cNvSpPr txBox="1"/>
          <p:nvPr/>
        </p:nvSpPr>
        <p:spPr>
          <a:xfrm>
            <a:off x="640080" y="2286000"/>
            <a:ext cx="8778240" cy="4114800"/>
          </a:xfrm>
          <a:prstGeom prst="rect">
            <a:avLst/>
          </a:prstGeom>
          <a:noFill/>
        </p:spPr>
        <p:txBody>
          <a:bodyPr wrap="square">
            <a:spAutoFit/>
          </a:bodyPr>
          <a:lstStyle/>
          <a:p>
            <a:pPr algn="l"/>
            <a:r>
              <a:rPr sz="2200">
                <a:solidFill>
                  <a:srgbClr val="FFFFFF"/>
                </a:solidFill>
              </a:rPr>
              <a:t>After splitting the shipping delays into occurrences by location, normalized to maximum orders per bin:</a:t>
            </a:r>
          </a:p>
        </p:txBody>
      </p:sp>
      <p:sp>
        <p:nvSpPr>
          <p:cNvPr id="6" name="TextBox 5"/>
          <p:cNvSpPr txBox="1"/>
          <p:nvPr/>
        </p:nvSpPr>
        <p:spPr>
          <a:xfrm>
            <a:off x="640080" y="2286000"/>
            <a:ext cx="8778240" cy="4114800"/>
          </a:xfrm>
          <a:prstGeom prst="rect">
            <a:avLst/>
          </a:prstGeom>
          <a:noFill/>
        </p:spPr>
        <p:txBody>
          <a:bodyPr wrap="square">
            <a:spAutoFit/>
          </a:bodyPr>
          <a:lstStyle/>
          <a:p>
            <a:pPr algn="l"/>
            <a:r>
              <a:rPr sz="2200">
                <a:solidFill>
                  <a:srgbClr val="FFFFFF"/>
                </a:solidFill>
              </a:rPr>
              <a:t>- Warehouse 'B' has proportionally more One-Day shipping delays than the other warehouses.</a:t>
            </a:r>
          </a:p>
          <a:p>
            <a:pPr algn="l"/>
            <a:r>
              <a:rPr sz="2200">
                <a:solidFill>
                  <a:srgbClr val="FFFFFF"/>
                </a:solidFill>
              </a:rPr>
              <a:t>- If warehouse 'C' were to be moved into warehouse 'B' then warehouse 'B' must be able to accommodate an extra 100 orders worth of source/process/ship per day.</a:t>
            </a:r>
          </a:p>
          <a:p>
            <a:pPr algn="l"/>
            <a:r>
              <a:rPr sz="2200">
                <a:solidFill>
                  <a:srgbClr val="FFFFFF"/>
                </a:solidFill>
              </a:rPr>
              <a:t>- If the One-Day and Two-Day shipping delays associated with warehouse 'B' are the result of order volume, staffing, or warehouse operations efficiency, then these potential bottlenecks should be rectified prior to moving extra inventory into warehouse 'B'.</a:t>
            </a:r>
          </a:p>
        </p:txBody>
      </p:sp>
      <p:pic>
        <p:nvPicPr>
          <p:cNvPr id="7" name="Picture 6" descr="output_57_0.png"/>
          <p:cNvPicPr>
            <a:picLocks noChangeAspect="1"/>
          </p:cNvPicPr>
          <p:nvPr/>
        </p:nvPicPr>
        <p:blipFill>
          <a:blip r:embed="rId2"/>
          <a:stretch>
            <a:fillRect/>
          </a:stretch>
        </p:blipFill>
        <p:spPr>
          <a:xfrm>
            <a:off x="914400" y="914400"/>
            <a:ext cx="10881360" cy="35204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685800"/>
            <a:ext cx="8778240" cy="13716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2286000"/>
            <a:ext cx="8778240" cy="41148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85800"/>
            <a:ext cx="8778240" cy="1371600"/>
          </a:xfrm>
          <a:prstGeom prst="rect">
            <a:avLst/>
          </a:prstGeom>
          <a:noFill/>
        </p:spPr>
        <p:txBody>
          <a:bodyPr wrap="square">
            <a:spAutoFit/>
          </a:bodyPr>
          <a:lstStyle/>
          <a:p>
            <a:pPr algn="ctr"/>
            <a:r>
              <a:rPr sz="4200">
                <a:solidFill>
                  <a:srgbClr val="FFFFFF"/>
                </a:solidFill>
              </a:rPr>
              <a:t>Next Steps:</a:t>
            </a:r>
          </a:p>
        </p:txBody>
      </p:sp>
      <p:sp>
        <p:nvSpPr>
          <p:cNvPr id="5" name="TextBox 4"/>
          <p:cNvSpPr txBox="1"/>
          <p:nvPr/>
        </p:nvSpPr>
        <p:spPr>
          <a:xfrm>
            <a:off x="640080" y="2286000"/>
            <a:ext cx="8778240" cy="4114800"/>
          </a:xfrm>
          <a:prstGeom prst="rect">
            <a:avLst/>
          </a:prstGeom>
          <a:noFill/>
        </p:spPr>
        <p:txBody>
          <a:bodyPr wrap="square">
            <a:spAutoFit/>
          </a:bodyPr>
          <a:lstStyle/>
          <a:p>
            <a:pPr algn="l"/>
            <a:r>
              <a:rPr sz="2200">
                <a:solidFill>
                  <a:srgbClr val="FFFFFF"/>
                </a:solidFill>
              </a:rPr>
              <a:t>Compare the actual volumes of Warehouse B and Warehouse C against the estimated model</a:t>
            </a:r>
          </a:p>
        </p:txBody>
      </p:sp>
      <p:sp>
        <p:nvSpPr>
          <p:cNvPr id="6" name="TextBox 5"/>
          <p:cNvSpPr txBox="1"/>
          <p:nvPr/>
        </p:nvSpPr>
        <p:spPr>
          <a:xfrm>
            <a:off x="640080" y="2286000"/>
            <a:ext cx="8778240" cy="4114800"/>
          </a:xfrm>
          <a:prstGeom prst="rect">
            <a:avLst/>
          </a:prstGeom>
          <a:noFill/>
        </p:spPr>
        <p:txBody>
          <a:bodyPr wrap="square">
            <a:spAutoFit/>
          </a:bodyPr>
          <a:lstStyle/>
          <a:p>
            <a:pPr algn="l"/>
            <a:r>
              <a:rPr sz="2200">
                <a:solidFill>
                  <a:srgbClr val="FFFFFF"/>
                </a:solidFill>
              </a:rPr>
              <a:t>- It is extremely important to remember that the amount of space that any given portion of inventory shall occupy has been estimated here without the spacial burden of the items' packaging.</a:t>
            </a:r>
          </a:p>
          <a:p>
            <a:pPr algn="l"/>
            <a:r>
              <a:rPr sz="2200">
                <a:solidFill>
                  <a:srgbClr val="FFFFFF"/>
                </a:solidFill>
              </a:rPr>
              <a:t>- It would be unsurprising to discover that the smaller scale models of current Warehouse C have proportionally more packaging than the somewhat larger models currently occupying Warehouse B.</a:t>
            </a:r>
          </a:p>
          <a:p>
            <a:pPr algn="l"/>
            <a:r>
              <a:rPr sz="2200">
                <a:solidFill>
                  <a:srgbClr val="FFFFFF"/>
                </a:solidFill>
              </a:rPr>
              <a:t>- Both Warehouse B and Warehouse C will, in reality, be much larger than the generated volumes which were used to compare warehouse capacities.  Comparing the ratio of (Actual:Estimated) warehouse volume for each warehouse could possibly be used in lieu of ascertaining complete product packaging size information.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685800"/>
            <a:ext cx="8778240" cy="13716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2286000"/>
            <a:ext cx="8778240" cy="41148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85800"/>
            <a:ext cx="8778240" cy="1371600"/>
          </a:xfrm>
          <a:prstGeom prst="rect">
            <a:avLst/>
          </a:prstGeom>
          <a:noFill/>
        </p:spPr>
        <p:txBody>
          <a:bodyPr wrap="square">
            <a:spAutoFit/>
          </a:bodyPr>
          <a:lstStyle/>
          <a:p>
            <a:pPr algn="ctr"/>
            <a:r>
              <a:rPr sz="4200">
                <a:solidFill>
                  <a:srgbClr val="FFFFFF"/>
                </a:solidFill>
              </a:rPr>
              <a:t>Next Steps:</a:t>
            </a:r>
          </a:p>
        </p:txBody>
      </p:sp>
      <p:sp>
        <p:nvSpPr>
          <p:cNvPr id="5" name="TextBox 4"/>
          <p:cNvSpPr txBox="1"/>
          <p:nvPr/>
        </p:nvSpPr>
        <p:spPr>
          <a:xfrm>
            <a:off x="640080" y="2286000"/>
            <a:ext cx="8778240" cy="4114800"/>
          </a:xfrm>
          <a:prstGeom prst="rect">
            <a:avLst/>
          </a:prstGeom>
          <a:noFill/>
        </p:spPr>
        <p:txBody>
          <a:bodyPr wrap="square">
            <a:spAutoFit/>
          </a:bodyPr>
          <a:lstStyle/>
          <a:p>
            <a:pPr algn="l"/>
            <a:r>
              <a:rPr sz="2200">
                <a:solidFill>
                  <a:srgbClr val="FFFFFF"/>
                </a:solidFill>
              </a:rPr>
              <a:t>Look into the reasons why some items have incredibly low inventory stock</a:t>
            </a:r>
          </a:p>
        </p:txBody>
      </p:sp>
      <p:sp>
        <p:nvSpPr>
          <p:cNvPr id="6" name="TextBox 5"/>
          <p:cNvSpPr txBox="1"/>
          <p:nvPr/>
        </p:nvSpPr>
        <p:spPr>
          <a:xfrm>
            <a:off x="640080" y="2286000"/>
            <a:ext cx="8778240" cy="4114800"/>
          </a:xfrm>
          <a:prstGeom prst="rect">
            <a:avLst/>
          </a:prstGeom>
          <a:noFill/>
        </p:spPr>
        <p:txBody>
          <a:bodyPr wrap="square">
            <a:spAutoFit/>
          </a:bodyPr>
          <a:lstStyle/>
          <a:p>
            <a:pPr algn="l"/>
            <a:r>
              <a:rPr sz="2200">
                <a:solidFill>
                  <a:srgbClr val="FFFFFF"/>
                </a:solidFill>
              </a:rPr>
              <a:t>- Are any of these items no longer available or difficult to acquire from the manufacturer?</a:t>
            </a:r>
          </a:p>
          <a:p>
            <a:pPr algn="l"/>
            <a:r>
              <a:rPr sz="2200">
                <a:solidFill>
                  <a:srgbClr val="FFFFFF"/>
                </a:solidFill>
              </a:rPr>
              <a:t>- If so, consider dropping those products from the Mint Classics products catalogue.</a:t>
            </a:r>
          </a:p>
          <a:p>
            <a:pPr algn="l"/>
            <a:r>
              <a:rPr sz="2200">
                <a:solidFill>
                  <a:srgbClr val="FFFFFF"/>
                </a:solidFill>
              </a:rPr>
              <a:t>- This method could be useful in warehouse reorganization more storage volume might be achieved from the same square footage with less individual product codes to keep organized and accessible.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685800"/>
            <a:ext cx="8778240" cy="13716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2286000"/>
            <a:ext cx="8778240" cy="41148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85800"/>
            <a:ext cx="8778240" cy="1371600"/>
          </a:xfrm>
          <a:prstGeom prst="rect">
            <a:avLst/>
          </a:prstGeom>
          <a:noFill/>
        </p:spPr>
        <p:txBody>
          <a:bodyPr wrap="square">
            <a:spAutoFit/>
          </a:bodyPr>
          <a:lstStyle/>
          <a:p>
            <a:pPr algn="ctr"/>
            <a:r>
              <a:rPr sz="4200">
                <a:solidFill>
                  <a:srgbClr val="FFFFFF"/>
                </a:solidFill>
              </a:rPr>
              <a:t>Next Steps:</a:t>
            </a:r>
          </a:p>
        </p:txBody>
      </p:sp>
      <p:sp>
        <p:nvSpPr>
          <p:cNvPr id="5" name="TextBox 4"/>
          <p:cNvSpPr txBox="1"/>
          <p:nvPr/>
        </p:nvSpPr>
        <p:spPr>
          <a:xfrm>
            <a:off x="640080" y="2286000"/>
            <a:ext cx="8778240" cy="4114800"/>
          </a:xfrm>
          <a:prstGeom prst="rect">
            <a:avLst/>
          </a:prstGeom>
          <a:noFill/>
        </p:spPr>
        <p:txBody>
          <a:bodyPr wrap="square">
            <a:spAutoFit/>
          </a:bodyPr>
          <a:lstStyle/>
          <a:p>
            <a:pPr algn="l"/>
            <a:r>
              <a:rPr sz="2200">
                <a:solidFill>
                  <a:srgbClr val="FFFFFF"/>
                </a:solidFill>
              </a:rPr>
              <a:t>Consider the ability to handle the logistics of increased shipping from Warehouse B</a:t>
            </a:r>
          </a:p>
        </p:txBody>
      </p:sp>
      <p:sp>
        <p:nvSpPr>
          <p:cNvPr id="6" name="TextBox 5"/>
          <p:cNvSpPr txBox="1"/>
          <p:nvPr/>
        </p:nvSpPr>
        <p:spPr>
          <a:xfrm>
            <a:off x="640080" y="2286000"/>
            <a:ext cx="8778240" cy="4114800"/>
          </a:xfrm>
          <a:prstGeom prst="rect">
            <a:avLst/>
          </a:prstGeom>
          <a:noFill/>
        </p:spPr>
        <p:txBody>
          <a:bodyPr wrap="square">
            <a:spAutoFit/>
          </a:bodyPr>
          <a:lstStyle/>
          <a:p>
            <a:pPr algn="l"/>
            <a:r>
              <a:rPr sz="2200">
                <a:solidFill>
                  <a:srgbClr val="FFFFFF"/>
                </a:solidFill>
              </a:rPr>
              <a:t>- At the outset of this analysis, Mint Classics expressed an interest in being able to ship products within 24 hours of receiving a purchase order.</a:t>
            </a:r>
          </a:p>
          <a:p>
            <a:pPr algn="l"/>
            <a:r>
              <a:rPr sz="2200">
                <a:solidFill>
                  <a:srgbClr val="FFFFFF"/>
                </a:solidFill>
              </a:rPr>
              <a:t>- The warehouse to which the inventory of the proposed closure would be moved has a higher proportion of 2-3 day delays than the other warehouses.</a:t>
            </a:r>
          </a:p>
          <a:p>
            <a:pPr algn="l"/>
            <a:r>
              <a:rPr sz="2200">
                <a:solidFill>
                  <a:srgbClr val="FFFFFF"/>
                </a:solidFill>
              </a:rPr>
              <a:t>- Ensure that warehouse staffing and logistics in Warehouse B will be capable of accommodating the estimated 100 extra line items of orders per day after amalgamation.</a:t>
            </a:r>
          </a:p>
          <a:p>
            <a:pPr algn="l"/>
            <a:r>
              <a:rPr sz="2200">
                <a:solidFill>
                  <a:srgbClr val="FFFFFF"/>
                </a:solidFill>
              </a:rPr>
              <a:t>- Condense the existing inventory in Warehouse B creating a completely separate and empty space for the inventory of Warehouse C prior to shutting down Warehouse.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685800"/>
            <a:ext cx="8778240" cy="13716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2286000"/>
            <a:ext cx="8778240" cy="41148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85800"/>
            <a:ext cx="8778240" cy="1371600"/>
          </a:xfrm>
          <a:prstGeom prst="rect">
            <a:avLst/>
          </a:prstGeom>
          <a:noFill/>
        </p:spPr>
        <p:txBody>
          <a:bodyPr wrap="square">
            <a:spAutoFit/>
          </a:bodyPr>
          <a:lstStyle/>
          <a:p>
            <a:pPr algn="ctr"/>
            <a:r>
              <a:rPr sz="4200">
                <a:solidFill>
                  <a:srgbClr val="FFFFFF"/>
                </a:solidFill>
              </a:rPr>
              <a:t>Please feel free to come back with any other more specific questions regarding any aspect of this ongoing project.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822960"/>
            <a:ext cx="8778240" cy="5029200"/>
          </a:xfrm>
          <a:prstGeom prst="rect">
            <a:avLst/>
          </a:prstGeom>
          <a:solidFill>
            <a:srgbClr val="9B9B9B"/>
          </a:solidFill>
          <a:ln w="31750">
            <a:solidFill>
              <a:srgbClr val="9B9B9B">
                <a:lumMod val="8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22960"/>
            <a:ext cx="8778240" cy="5029200"/>
          </a:xfrm>
          <a:prstGeom prst="rect">
            <a:avLst/>
          </a:prstGeom>
          <a:noFill/>
        </p:spPr>
        <p:txBody>
          <a:bodyPr wrap="square">
            <a:spAutoFit/>
          </a:bodyPr>
          <a:lstStyle/>
          <a:p>
            <a:pPr algn="ctr"/>
            <a:r>
              <a:rPr sz="4200">
                <a:solidFill>
                  <a:srgbClr val="FFFFFF"/>
                </a:solidFill>
              </a:rPr>
              <a:t>Thank You for choosing BCPM Custom Analytics!</a:t>
            </a:r>
          </a:p>
        </p:txBody>
      </p:sp>
    </p:spTree>
  </p:cSld>
  <p:clrMapOvr>
    <a:masterClrMapping/>
  </p:clrMapOvr>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5</TotalTime>
  <Application>LibreOffice/24.2.7.2$Linux_X86_64 LibreOffice_project/420$Build-2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2026-10-08T11:54:15Z</dcterms:created>
  <dc:creator/>
  <dc:description/>
  <dc:language>en-CA</dc:language>
  <cp:lastModifiedBy/>
  <dcterms:modified xsi:type="dcterms:W3CDTF">2026-10-08T13:08:30Z</dcterms:modified>
  <cp:revision>3</cp:revision>
  <dc:subject/>
  <dc:title/>
</cp:coreProperties>
</file>

<file path=docProps/custom.xml><?xml version="1.0" encoding="utf-8"?>
<Properties xmlns="http://schemas.openxmlformats.org/officeDocument/2006/custom-properties" xmlns:vt="http://schemas.openxmlformats.org/officeDocument/2006/docPropsVTypes"/>
</file>