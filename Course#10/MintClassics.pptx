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10.png" ContentType="image/png"/>
  <Override PartName="/ppt/media/image7.png" ContentType="image/png"/>
  <Override PartName="/ppt/media/image11.png" ContentType="image/png"/>
  <Override PartName="/ppt/media/image8.png" ContentType="image/png"/>
  <Override PartName="/ppt/media/image12.png" ContentType="image/png"/>
  <Override PartName="/ppt/media/image9.png" ContentType="image/png"/>
  <Override PartName="/ppt/media/image13.png" ContentType="image/png"/>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CA" sz="4400" spc="-1" strike="noStrike">
              <a:solidFill>
                <a:srgbClr val="000000"/>
              </a:solidFill>
              <a:latin typeface="Arial"/>
            </a:endParaRPr>
          </a:p>
        </p:txBody>
      </p:sp>
      <p:sp>
        <p:nvSpPr>
          <p:cNvPr id="6" name="PlaceHolder 2"/>
          <p:cNvSpPr>
            <a:spLocks noGrp="1"/>
          </p:cNvSpPr>
          <p:nvPr>
            <p:ph type="subTitle"/>
          </p:nvPr>
        </p:nvSpPr>
        <p:spPr>
          <a:xfrm>
            <a:off x="504000" y="1768680"/>
            <a:ext cx="9072000" cy="4384080"/>
          </a:xfrm>
          <a:prstGeom prst="rect">
            <a:avLst/>
          </a:prstGeom>
          <a:noFill/>
          <a:ln w="0">
            <a:noFill/>
          </a:ln>
        </p:spPr>
        <p:txBody>
          <a:bodyPr lIns="0" rIns="0" tIns="0" bIns="0" anchor="ctr">
            <a:noAutofit/>
          </a:bodyPr>
          <a:p>
            <a:pPr indent="0" algn="ctr">
              <a:buNone/>
            </a:pPr>
            <a:endParaRPr b="0" lang="en-CA"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AD8A186F-0832-4C21-8C79-74C970891F5E}"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DFCB3B32-4DC1-4EE9-8BBC-A955D328C413}" type="slidenum">
              <a:t>&lt;#&gt;</a:t>
            </a:fld>
          </a:p>
        </p:txBody>
      </p:sp>
      <p:sp>
        <p:nvSpPr>
          <p:cNvPr id="4" name="PlaceHolder 3"/>
          <p:cNvSpPr>
            <a:spLocks noGrp="1"/>
          </p:cNvSpPr>
          <p:nvPr>
            <p:ph type="dt" idx="6"/>
          </p:nvPr>
        </p:nvSpPr>
        <p:spPr/>
        <p:txBody>
          <a:bodyPr/>
          <a:p>
            <a:r>
              <a:rPr lang="en-CA"/>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0" name="" descr=""/>
          <p:cNvPicPr/>
          <p:nvPr/>
        </p:nvPicPr>
        <p:blipFill>
          <a:blip r:embed="rId2"/>
          <a:stretch/>
        </p:blipFill>
        <p:spPr>
          <a:xfrm>
            <a:off x="8780400" y="6543720"/>
            <a:ext cx="938880" cy="655560"/>
          </a:xfrm>
          <a:prstGeom prst="rect">
            <a:avLst/>
          </a:prstGeom>
          <a:ln w="0">
            <a:noFill/>
          </a:ln>
          <a:effectLst>
            <a:outerShdw dist="80498" dir="9206096" blurRad="101520" rotWithShape="0">
              <a:srgbClr val="333333">
                <a:alpha val="65000"/>
              </a:srgbClr>
            </a:outerShdw>
          </a:effectLst>
        </p:spPr>
      </p:pic>
      <p:sp>
        <p:nvSpPr>
          <p:cNvPr id="1" name="PlaceHolder 1"/>
          <p:cNvSpPr>
            <a:spLocks noGrp="1"/>
          </p:cNvSpPr>
          <p:nvPr>
            <p:ph type="title"/>
          </p:nvPr>
        </p:nvSpPr>
        <p:spPr>
          <a:xfrm>
            <a:off x="504000" y="301320"/>
            <a:ext cx="9070920" cy="1261080"/>
          </a:xfrm>
          <a:prstGeom prst="rect">
            <a:avLst/>
          </a:prstGeom>
          <a:noFill/>
          <a:ln w="0">
            <a:noFill/>
          </a:ln>
        </p:spPr>
        <p:txBody>
          <a:bodyPr lIns="0" rIns="0" tIns="0" bIns="0" anchor="ctr">
            <a:noAutofit/>
          </a:bodyPr>
          <a:p>
            <a:pPr indent="0">
              <a:buNone/>
            </a:pPr>
            <a:r>
              <a:rPr b="0" lang="en-CA" sz="1800" spc="-1" strike="noStrike">
                <a:solidFill>
                  <a:srgbClr val="000000"/>
                </a:solidFill>
                <a:latin typeface="Arial"/>
              </a:rPr>
              <a:t>Click to edit the title text format</a:t>
            </a:r>
            <a:endParaRPr b="0" lang="en-CA" sz="1800" spc="-1" strike="noStrike">
              <a:solidFill>
                <a:srgbClr val="000000"/>
              </a:solidFill>
              <a:latin typeface="Arial"/>
            </a:endParaRPr>
          </a:p>
        </p:txBody>
      </p:sp>
      <p:sp>
        <p:nvSpPr>
          <p:cNvPr id="2" name="PlaceHolder 2"/>
          <p:cNvSpPr>
            <a:spLocks noGrp="1"/>
          </p:cNvSpPr>
          <p:nvPr>
            <p:ph type="ftr" idx="1"/>
          </p:nvPr>
        </p:nvSpPr>
        <p:spPr>
          <a:xfrm>
            <a:off x="3447360" y="6886800"/>
            <a:ext cx="3194280" cy="52020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3" name="PlaceHolder 3"/>
          <p:cNvSpPr>
            <a:spLocks noGrp="1"/>
          </p:cNvSpPr>
          <p:nvPr>
            <p:ph type="sldNum" idx="2"/>
          </p:nvPr>
        </p:nvSpPr>
        <p:spPr>
          <a:xfrm>
            <a:off x="7227360" y="6886800"/>
            <a:ext cx="2347560" cy="52020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306C3933-A330-4635-80BF-1A518C96B099}"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4" name="PlaceHolder 4"/>
          <p:cNvSpPr>
            <a:spLocks noGrp="1"/>
          </p:cNvSpPr>
          <p:nvPr>
            <p:ph type="dt" idx="3"/>
          </p:nvPr>
        </p:nvSpPr>
        <p:spPr>
          <a:xfrm>
            <a:off x="504000" y="6886800"/>
            <a:ext cx="2347560" cy="52020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7" name="" descr=""/>
          <p:cNvPicPr/>
          <p:nvPr/>
        </p:nvPicPr>
        <p:blipFill>
          <a:blip r:embed="rId2"/>
          <a:stretch/>
        </p:blipFill>
        <p:spPr>
          <a:xfrm>
            <a:off x="8780400" y="6543720"/>
            <a:ext cx="938880" cy="655560"/>
          </a:xfrm>
          <a:prstGeom prst="rect">
            <a:avLst/>
          </a:prstGeom>
          <a:ln w="0">
            <a:noFill/>
          </a:ln>
          <a:effectLst>
            <a:outerShdw dist="80498" dir="9206096" blurRad="101520" rotWithShape="0">
              <a:srgbClr val="333333">
                <a:alpha val="65000"/>
              </a:srgbClr>
            </a:outerShdw>
          </a:effectLst>
        </p:spPr>
      </p:pic>
      <p:sp>
        <p:nvSpPr>
          <p:cNvPr id="8" name="PlaceHolder 1"/>
          <p:cNvSpPr>
            <a:spLocks noGrp="1"/>
          </p:cNvSpPr>
          <p:nvPr>
            <p:ph type="ftr" idx="4"/>
          </p:nvPr>
        </p:nvSpPr>
        <p:spPr>
          <a:xfrm>
            <a:off x="3447360" y="6886800"/>
            <a:ext cx="3194280" cy="52020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9" name="PlaceHolder 2"/>
          <p:cNvSpPr>
            <a:spLocks noGrp="1"/>
          </p:cNvSpPr>
          <p:nvPr>
            <p:ph type="sldNum" idx="5"/>
          </p:nvPr>
        </p:nvSpPr>
        <p:spPr>
          <a:xfrm>
            <a:off x="7227360" y="6886800"/>
            <a:ext cx="2347560" cy="52020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811270E5-A65D-47B5-A748-E36A11BD1D25}"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10" name="PlaceHolder 3"/>
          <p:cNvSpPr>
            <a:spLocks noGrp="1"/>
          </p:cNvSpPr>
          <p:nvPr>
            <p:ph type="dt" idx="6"/>
          </p:nvPr>
        </p:nvSpPr>
        <p:spPr>
          <a:xfrm>
            <a:off x="504000" y="6886800"/>
            <a:ext cx="2347560" cy="52020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
        <p:nvSpPr>
          <p:cNvPr id="11" name="PlaceHolder 4"/>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r>
              <a:rPr b="0" lang="en-CA" sz="4400" spc="-1" strike="noStrike">
                <a:solidFill>
                  <a:srgbClr val="000000"/>
                </a:solidFill>
                <a:latin typeface="Arial"/>
              </a:rPr>
              <a:t>Click to edit the title text format</a:t>
            </a:r>
            <a:endParaRPr b="0" lang="en-CA" sz="4400" spc="-1" strike="noStrike">
              <a:solidFill>
                <a:srgbClr val="000000"/>
              </a:solidFill>
              <a:latin typeface="Arial"/>
            </a:endParaRPr>
          </a:p>
        </p:txBody>
      </p:sp>
      <p:sp>
        <p:nvSpPr>
          <p:cNvPr id="12" name="PlaceHolder 5"/>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solidFill>
                  <a:srgbClr val="000000"/>
                </a:solidFill>
                <a:latin typeface="Arial"/>
              </a:rPr>
              <a:t>Click to edit the outline text format</a:t>
            </a:r>
            <a:endParaRPr b="0" lang="en-CA"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CA" sz="2800" spc="-1" strike="noStrike">
                <a:solidFill>
                  <a:srgbClr val="000000"/>
                </a:solidFill>
                <a:latin typeface="Arial"/>
              </a:rPr>
              <a:t>Second Outline Level</a:t>
            </a:r>
            <a:endParaRPr b="0" lang="en-CA"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CA" sz="2400" spc="-1" strike="noStrike">
                <a:solidFill>
                  <a:srgbClr val="000000"/>
                </a:solidFill>
                <a:latin typeface="Arial"/>
              </a:rPr>
              <a:t>Third Outline Level</a:t>
            </a:r>
            <a:endParaRPr b="0" lang="en-CA"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CA" sz="2000" spc="-1" strike="noStrike">
                <a:solidFill>
                  <a:srgbClr val="000000"/>
                </a:solidFill>
                <a:latin typeface="Arial"/>
              </a:rPr>
              <a:t>Fourth Outline Level</a:t>
            </a:r>
            <a:endParaRPr b="0" lang="en-CA"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CA" sz="2000" spc="-1" strike="noStrike">
                <a:solidFill>
                  <a:srgbClr val="000000"/>
                </a:solidFill>
                <a:latin typeface="Arial"/>
              </a:rPr>
              <a:t>Fifth Outline Level</a:t>
            </a:r>
            <a:endParaRPr b="0" lang="en-CA"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CA" sz="2000" spc="-1" strike="noStrike">
                <a:solidFill>
                  <a:srgbClr val="000000"/>
                </a:solidFill>
                <a:latin typeface="Arial"/>
              </a:rPr>
              <a:t>Sixth Outline Level</a:t>
            </a:r>
            <a:endParaRPr b="0" lang="en-CA"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CA" sz="2000" spc="-1" strike="noStrike">
                <a:solidFill>
                  <a:srgbClr val="000000"/>
                </a:solidFill>
                <a:latin typeface="Arial"/>
              </a:rPr>
              <a:t>Seventh Outline Level</a:t>
            </a:r>
            <a:endParaRPr b="0" lang="en-CA"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4" name="TextBox 2"/>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Mint Classics Warehouse Elimination Study</a:t>
            </a:r>
            <a:endParaRPr b="0" lang="en-CA" sz="4200" spc="-1" strike="noStrike">
              <a:solidFill>
                <a:srgbClr val="000000"/>
              </a:solidFill>
              <a:latin typeface="Arial"/>
            </a:endParaRPr>
          </a:p>
        </p:txBody>
      </p:sp>
      <p:pic>
        <p:nvPicPr>
          <p:cNvPr id="15" name="" descr=""/>
          <p:cNvPicPr/>
          <p:nvPr/>
        </p:nvPicPr>
        <p:blipFill>
          <a:blip r:embed="rId1"/>
          <a:stretch/>
        </p:blipFill>
        <p:spPr>
          <a:xfrm>
            <a:off x="1709280" y="2340000"/>
            <a:ext cx="6750720" cy="450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7"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8" name="TextBox 3"/>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Initial inspection of stock on hand by warehouse location</a:t>
            </a:r>
            <a:endParaRPr b="0" lang="en-CA" sz="4200" spc="-1" strike="noStrike">
              <a:solidFill>
                <a:srgbClr val="000000"/>
              </a:solidFill>
              <a:latin typeface="Arial"/>
            </a:endParaRPr>
          </a:p>
        </p:txBody>
      </p:sp>
      <p:sp>
        <p:nvSpPr>
          <p:cNvPr id="19" name="TextBox 4"/>
          <p:cNvSpPr/>
          <p:nvPr/>
        </p:nvSpPr>
        <p:spPr>
          <a:xfrm>
            <a:off x="698400" y="2300760"/>
            <a:ext cx="8777880" cy="7606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The first thing to check is the distribution of product stock according to which warehouse location the stock is being stored.</a:t>
            </a:r>
            <a:endParaRPr b="0" lang="en-CA" sz="2200" spc="-1" strike="noStrike">
              <a:solidFill>
                <a:srgbClr val="000000"/>
              </a:solidFill>
              <a:latin typeface="Arial"/>
            </a:endParaRPr>
          </a:p>
        </p:txBody>
      </p:sp>
      <p:pic>
        <p:nvPicPr>
          <p:cNvPr id="20" name="Picture 5" descr="output_11_0.png"/>
          <p:cNvPicPr/>
          <p:nvPr/>
        </p:nvPicPr>
        <p:blipFill>
          <a:blip r:embed="rId1"/>
          <a:stretch/>
        </p:blipFill>
        <p:spPr>
          <a:xfrm>
            <a:off x="1260000" y="3240000"/>
            <a:ext cx="7560000" cy="3051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Rectangle 3"/>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22" name="Rectangle 4"/>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23" name="TextBox 1"/>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Initial inspection of stock on hand by warehouse location</a:t>
            </a:r>
            <a:endParaRPr b="0" lang="en-CA" sz="4200" spc="-1" strike="noStrike">
              <a:solidFill>
                <a:srgbClr val="000000"/>
              </a:solidFill>
              <a:latin typeface="Arial"/>
            </a:endParaRPr>
          </a:p>
        </p:txBody>
      </p:sp>
      <p:sp>
        <p:nvSpPr>
          <p:cNvPr id="24" name="TextBox 6"/>
          <p:cNvSpPr/>
          <p:nvPr/>
        </p:nvSpPr>
        <p:spPr>
          <a:xfrm>
            <a:off x="640080" y="2286000"/>
            <a:ext cx="8777880" cy="1857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The majority of product stock is stored in Warehouse B.</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The cost of the stock in Warehouse B is comparatively higher than the cost of the stock stored in any of the other warehouses as demonstrated by the 'Investment Value' being 7% higher than the 'Stock Quantity'</a:t>
            </a:r>
            <a:endParaRPr b="0" lang="en-CA" sz="2200" spc="-1" strike="noStrike">
              <a:solidFill>
                <a:srgbClr val="000000"/>
              </a:solidFill>
              <a:latin typeface="Arial"/>
            </a:endParaRPr>
          </a:p>
        </p:txBody>
      </p:sp>
      <p:pic>
        <p:nvPicPr>
          <p:cNvPr id="25" name="Picture 1" descr="output_11_0.png"/>
          <p:cNvPicPr/>
          <p:nvPr/>
        </p:nvPicPr>
        <p:blipFill>
          <a:blip r:embed="rId1"/>
          <a:stretch/>
        </p:blipFill>
        <p:spPr>
          <a:xfrm>
            <a:off x="2428200" y="4216320"/>
            <a:ext cx="5131800" cy="207144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27"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28" name="TextBox 3"/>
          <p:cNvSpPr/>
          <p:nvPr/>
        </p:nvSpPr>
        <p:spPr>
          <a:xfrm>
            <a:off x="595800" y="920160"/>
            <a:ext cx="8777880" cy="912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rPr>
              <a:t>Check Customer Locations</a:t>
            </a:r>
            <a:endParaRPr b="0" lang="en-CA" sz="5400" spc="-1" strike="noStrike">
              <a:solidFill>
                <a:srgbClr val="000000"/>
              </a:solidFill>
              <a:latin typeface="Arial"/>
            </a:endParaRPr>
          </a:p>
        </p:txBody>
      </p:sp>
      <p:sp>
        <p:nvSpPr>
          <p:cNvPr id="29" name="TextBox 4"/>
          <p:cNvSpPr/>
          <p:nvPr/>
        </p:nvSpPr>
        <p:spPr>
          <a:xfrm>
            <a:off x="640080" y="2286000"/>
            <a:ext cx="8777880" cy="8521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Where does each warehouse ship it's products?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Does each warehouse service it's own geographic location?</a:t>
            </a:r>
            <a:endParaRPr b="0" lang="en-CA" sz="2200" spc="-1" strike="noStrike">
              <a:solidFill>
                <a:srgbClr val="000000"/>
              </a:solidFill>
              <a:latin typeface="Arial"/>
            </a:endParaRPr>
          </a:p>
        </p:txBody>
      </p:sp>
      <p:pic>
        <p:nvPicPr>
          <p:cNvPr id="30" name="Picture 5" descr="9cd8f22a-1241-4222-9e36-da9f3df30ceb.png"/>
          <p:cNvPicPr/>
          <p:nvPr/>
        </p:nvPicPr>
        <p:blipFill>
          <a:blip r:embed="rId1"/>
          <a:stretch/>
        </p:blipFill>
        <p:spPr>
          <a:xfrm>
            <a:off x="1410840" y="3225600"/>
            <a:ext cx="7196400" cy="306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Rectangle 20"/>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32" name="Rectangle 25"/>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33" name="TextBox 27"/>
          <p:cNvSpPr/>
          <p:nvPr/>
        </p:nvSpPr>
        <p:spPr>
          <a:xfrm>
            <a:off x="595800" y="920160"/>
            <a:ext cx="8777880" cy="912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rPr>
              <a:t>Check Customer Locations</a:t>
            </a:r>
            <a:endParaRPr b="0" lang="en-CA" sz="5400" spc="-1" strike="noStrike">
              <a:solidFill>
                <a:srgbClr val="000000"/>
              </a:solidFill>
              <a:latin typeface="Arial"/>
            </a:endParaRPr>
          </a:p>
        </p:txBody>
      </p:sp>
      <p:sp>
        <p:nvSpPr>
          <p:cNvPr id="34" name="TextBox 28"/>
          <p:cNvSpPr/>
          <p:nvPr/>
        </p:nvSpPr>
        <p:spPr>
          <a:xfrm>
            <a:off x="640080" y="2286000"/>
            <a:ext cx="8777880" cy="7599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The map shows that each of the four warehouses ship to all </a:t>
            </a:r>
            <a:r>
              <a:rPr b="0" lang="en-CA" sz="2200" spc="-1" strike="noStrike">
                <a:solidFill>
                  <a:srgbClr val="ffffff"/>
                </a:solidFill>
                <a:latin typeface="Arial"/>
              </a:rPr>
              <a:t>customer regions.</a:t>
            </a:r>
            <a:endParaRPr b="0" lang="en-CA" sz="2200" spc="-1" strike="noStrike">
              <a:solidFill>
                <a:srgbClr val="000000"/>
              </a:solidFill>
              <a:latin typeface="Arial"/>
            </a:endParaRPr>
          </a:p>
        </p:txBody>
      </p:sp>
      <p:pic>
        <p:nvPicPr>
          <p:cNvPr id="35" name="Picture 11" descr="9cd8f22a-1241-4222-9e36-da9f3df30ceb.png"/>
          <p:cNvPicPr/>
          <p:nvPr/>
        </p:nvPicPr>
        <p:blipFill>
          <a:blip r:embed="rId1"/>
          <a:stretch/>
        </p:blipFill>
        <p:spPr>
          <a:xfrm>
            <a:off x="1410840" y="3225600"/>
            <a:ext cx="7196400" cy="306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37"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38" name="TextBox 3"/>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Check Warehouse Sales &amp; Overhead</a:t>
            </a:r>
            <a:endParaRPr b="0" lang="en-CA" sz="4200" spc="-1" strike="noStrike">
              <a:solidFill>
                <a:srgbClr val="000000"/>
              </a:solidFill>
              <a:latin typeface="Arial"/>
            </a:endParaRPr>
          </a:p>
        </p:txBody>
      </p:sp>
      <p:sp>
        <p:nvSpPr>
          <p:cNvPr id="39" name="TextBox 4"/>
          <p:cNvSpPr/>
          <p:nvPr/>
        </p:nvSpPr>
        <p:spPr>
          <a:xfrm>
            <a:off x="640080" y="2286000"/>
            <a:ext cx="8777880" cy="8521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What does the overall product overhead look like?</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How much overhead investment cost is in each warehouse?</a:t>
            </a:r>
            <a:endParaRPr b="0" lang="en-CA" sz="2200" spc="-1" strike="noStrike">
              <a:solidFill>
                <a:srgbClr val="000000"/>
              </a:solidFill>
              <a:latin typeface="Arial"/>
            </a:endParaRPr>
          </a:p>
        </p:txBody>
      </p:sp>
      <p:pic>
        <p:nvPicPr>
          <p:cNvPr id="40" name="Picture 5" descr="output_22_0.png"/>
          <p:cNvPicPr/>
          <p:nvPr/>
        </p:nvPicPr>
        <p:blipFill>
          <a:blip r:embed="rId1"/>
          <a:stretch/>
        </p:blipFill>
        <p:spPr>
          <a:xfrm>
            <a:off x="1373040" y="3225240"/>
            <a:ext cx="7310880" cy="288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Rectangle 9"/>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42" name="Rectangle 10"/>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43" name="TextBox 11"/>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Check Warehouse Sales &amp; Overhead</a:t>
            </a:r>
            <a:endParaRPr b="0" lang="en-CA" sz="4200" spc="-1" strike="noStrike">
              <a:solidFill>
                <a:srgbClr val="000000"/>
              </a:solidFill>
              <a:latin typeface="Arial"/>
            </a:endParaRPr>
          </a:p>
        </p:txBody>
      </p:sp>
      <p:sp>
        <p:nvSpPr>
          <p:cNvPr id="44" name="TextBox 12"/>
          <p:cNvSpPr/>
          <p:nvPr/>
        </p:nvSpPr>
        <p:spPr>
          <a:xfrm>
            <a:off x="640080" y="2286000"/>
            <a:ext cx="8777880" cy="15534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rPr>
              <a:t>- Overall, sales look reasonable across all product codes with no serious problems in terms of extreme poor sales performance.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The amount of inventory for each product code is fairly inconsistent.</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Several products show extremely low inventory on hand.</a:t>
            </a:r>
            <a:endParaRPr b="0" lang="en-CA" sz="2100" spc="-1" strike="noStrike">
              <a:solidFill>
                <a:srgbClr val="000000"/>
              </a:solidFill>
              <a:latin typeface="Arial"/>
            </a:endParaRPr>
          </a:p>
        </p:txBody>
      </p:sp>
      <p:pic>
        <p:nvPicPr>
          <p:cNvPr id="45" name="Picture 4" descr="output_22_0.png"/>
          <p:cNvPicPr/>
          <p:nvPr/>
        </p:nvPicPr>
        <p:blipFill>
          <a:blip r:embed="rId1"/>
          <a:stretch/>
        </p:blipFill>
        <p:spPr>
          <a:xfrm>
            <a:off x="2038680" y="3960000"/>
            <a:ext cx="5940000" cy="234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47"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48" name="TextBox 3"/>
          <p:cNvSpPr/>
          <p:nvPr/>
        </p:nvSpPr>
        <p:spPr>
          <a:xfrm>
            <a:off x="581760" y="964080"/>
            <a:ext cx="8777880" cy="8211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Sort Products by Warehouse</a:t>
            </a:r>
            <a:endParaRPr b="0" lang="en-CA" sz="4800" spc="-1" strike="noStrike">
              <a:solidFill>
                <a:srgbClr val="000000"/>
              </a:solidFill>
              <a:latin typeface="Arial"/>
            </a:endParaRPr>
          </a:p>
        </p:txBody>
      </p:sp>
      <p:sp>
        <p:nvSpPr>
          <p:cNvPr id="49" name="TextBox 4"/>
          <p:cNvSpPr/>
          <p:nvPr/>
        </p:nvSpPr>
        <p:spPr>
          <a:xfrm>
            <a:off x="640080" y="2286000"/>
            <a:ext cx="8777880" cy="4399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1" lang="en-CA" sz="2300" spc="-1" strike="noStrike">
                <a:solidFill>
                  <a:srgbClr val="ffffff"/>
                </a:solidFill>
                <a:latin typeface="Arial"/>
              </a:rPr>
              <a:t>Notice that there have been ZERO sales for product S18_3233</a:t>
            </a:r>
            <a:endParaRPr b="1" lang="en-CA" sz="2300" spc="-1" strike="noStrike">
              <a:solidFill>
                <a:srgbClr val="000000"/>
              </a:solidFill>
              <a:latin typeface="Arial"/>
            </a:endParaRPr>
          </a:p>
        </p:txBody>
      </p:sp>
      <p:sp>
        <p:nvSpPr>
          <p:cNvPr id="50" name="TextBox 5"/>
          <p:cNvSpPr/>
          <p:nvPr/>
        </p:nvSpPr>
        <p:spPr>
          <a:xfrm>
            <a:off x="1014480" y="4562640"/>
            <a:ext cx="8179920" cy="11872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Product S18_3233 is a 1885 Toyota Supra by Highway 66 Mini Classics.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This SKU should definitely be considered for discontinuation.</a:t>
            </a:r>
            <a:endParaRPr b="0" lang="en-CA" sz="2200" spc="-1" strike="noStrike">
              <a:solidFill>
                <a:srgbClr val="000000"/>
              </a:solidFill>
              <a:latin typeface="Arial"/>
            </a:endParaRPr>
          </a:p>
        </p:txBody>
      </p:sp>
      <p:pic>
        <p:nvPicPr>
          <p:cNvPr id="51" name="Picture 6" descr="table_0.png"/>
          <p:cNvPicPr/>
          <p:nvPr/>
        </p:nvPicPr>
        <p:blipFill>
          <a:blip r:embed="rId1"/>
          <a:srcRect l="0" t="29910" r="0" b="30739"/>
          <a:stretch/>
        </p:blipFill>
        <p:spPr>
          <a:xfrm>
            <a:off x="1440000" y="2880000"/>
            <a:ext cx="7022160" cy="1400760"/>
          </a:xfrm>
          <a:prstGeom prst="rect">
            <a:avLst/>
          </a:prstGeom>
          <a:ln w="0">
            <a:noFill/>
          </a:ln>
          <a:effectLst>
            <a:outerShdw dist="80498" dir="9206096" blurRad="101520" rotWithShape="0">
              <a:srgbClr val="333333">
                <a:alpha val="65000"/>
              </a:srgbClr>
            </a:outerShdw>
          </a:effectLst>
        </p:spPr>
      </p:pic>
      <p:sp>
        <p:nvSpPr>
          <p:cNvPr id="52" name=""/>
          <p:cNvSpPr/>
          <p:nvPr/>
        </p:nvSpPr>
        <p:spPr>
          <a:xfrm>
            <a:off x="3269520" y="3103920"/>
            <a:ext cx="5580000" cy="360000"/>
          </a:xfrm>
          <a:prstGeom prst="ellipse">
            <a:avLst/>
          </a:prstGeom>
          <a:noFill/>
          <a:ln w="29160">
            <a:solidFill>
              <a:srgbClr val="ff0000"/>
            </a:solidFill>
            <a:round/>
          </a:ln>
          <a:effectLst>
            <a:outerShdw dist="50911" dir="8100000" blurRad="101520" rotWithShape="0">
              <a:srgbClr val="666666">
                <a:alpha val="65000"/>
              </a:srgbClr>
            </a:outerShdw>
          </a:effectLst>
        </p:spPr>
        <p:style>
          <a:lnRef idx="0"/>
          <a:fillRef idx="0"/>
          <a:effectRef idx="0"/>
          <a:fontRef idx="minor"/>
        </p:style>
        <p:txBody>
          <a:bodyPr lIns="104400" rIns="104400" tIns="59400" bIns="59400" anchor="ctr">
            <a:noAutofit/>
          </a:bodyPr>
          <a:p>
            <a:endParaRPr b="0" lang="en-CA"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Rectangle 13"/>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54" name="Rectangle 14"/>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55" name="TextBox 15"/>
          <p:cNvSpPr/>
          <p:nvPr/>
        </p:nvSpPr>
        <p:spPr>
          <a:xfrm>
            <a:off x="581760" y="964080"/>
            <a:ext cx="8777880" cy="8211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Sort Products by Warehouse</a:t>
            </a:r>
            <a:endParaRPr b="0" lang="en-CA" sz="4800" spc="-1" strike="noStrike">
              <a:solidFill>
                <a:srgbClr val="000000"/>
              </a:solidFill>
              <a:latin typeface="Arial"/>
            </a:endParaRPr>
          </a:p>
        </p:txBody>
      </p:sp>
      <p:sp>
        <p:nvSpPr>
          <p:cNvPr id="56" name="TextBox 16"/>
          <p:cNvSpPr/>
          <p:nvPr/>
        </p:nvSpPr>
        <p:spPr>
          <a:xfrm>
            <a:off x="604080" y="2322000"/>
            <a:ext cx="8777880" cy="17978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000" spc="-1" strike="noStrike">
                <a:solidFill>
                  <a:srgbClr val="ffffff"/>
                </a:solidFill>
                <a:latin typeface="Arial"/>
              </a:rPr>
              <a:t>- All warehouses are selling inventory with reasonable distributions.</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rPr>
              <a:t>- All warehouses contain some products which appear to contain insufficient stock levels based on previous sales.</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rPr>
              <a:t>- Depending on the reasons behind the low inventory of certain products it may be advisable to discontinue those particular products.</a:t>
            </a:r>
            <a:endParaRPr b="0" lang="en-CA" sz="2000" spc="-1" strike="noStrike">
              <a:solidFill>
                <a:srgbClr val="000000"/>
              </a:solidFill>
              <a:latin typeface="Arial"/>
            </a:endParaRPr>
          </a:p>
        </p:txBody>
      </p:sp>
      <p:pic>
        <p:nvPicPr>
          <p:cNvPr id="57" name="Picture 9" descr="output_30_0.png"/>
          <p:cNvPicPr/>
          <p:nvPr/>
        </p:nvPicPr>
        <p:blipFill>
          <a:blip r:embed="rId1"/>
          <a:stretch/>
        </p:blipFill>
        <p:spPr>
          <a:xfrm>
            <a:off x="1944000" y="4153680"/>
            <a:ext cx="6120000" cy="21096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Rectangle 7"/>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59" name="Rectangle 8"/>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60" name="TextBox 9"/>
          <p:cNvSpPr/>
          <p:nvPr/>
        </p:nvSpPr>
        <p:spPr>
          <a:xfrm>
            <a:off x="654480" y="978840"/>
            <a:ext cx="8777880" cy="7297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Check Low-Stock by Manufacturer</a:t>
            </a:r>
            <a:endParaRPr b="0" lang="en-CA" sz="4200" spc="-1" strike="noStrike">
              <a:solidFill>
                <a:srgbClr val="000000"/>
              </a:solidFill>
              <a:latin typeface="Arial"/>
            </a:endParaRPr>
          </a:p>
        </p:txBody>
      </p:sp>
      <p:sp>
        <p:nvSpPr>
          <p:cNvPr id="61" name="TextBox 10"/>
          <p:cNvSpPr/>
          <p:nvPr/>
        </p:nvSpPr>
        <p:spPr>
          <a:xfrm>
            <a:off x="640080" y="2286000"/>
            <a:ext cx="8777880" cy="14770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a:t>
            </a:r>
            <a:r>
              <a:rPr b="0" lang="en-CA" sz="2100" spc="-1" strike="noStrike">
                <a:solidFill>
                  <a:srgbClr val="ffffff"/>
                </a:solidFill>
                <a:latin typeface="Arial"/>
              </a:rPr>
              <a:t> Check for low stock by the current investment in inventory by </a:t>
            </a:r>
            <a:r>
              <a:rPr b="0" lang="en-CA" sz="2100" spc="-1" strike="noStrike">
                <a:solidFill>
                  <a:srgbClr val="ffffff"/>
                </a:solidFill>
                <a:latin typeface="Arial"/>
              </a:rPr>
              <a:t>product code.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Inspect whether there is any correlation between low-stock items </a:t>
            </a:r>
            <a:r>
              <a:rPr b="0" lang="en-CA" sz="2100" spc="-1" strike="noStrike">
                <a:solidFill>
                  <a:srgbClr val="ffffff"/>
                </a:solidFill>
                <a:latin typeface="Arial"/>
              </a:rPr>
              <a:t>and any particular manufacturer.</a:t>
            </a:r>
            <a:endParaRPr b="0" lang="en-CA" sz="2100" spc="-1" strike="noStrike">
              <a:solidFill>
                <a:srgbClr val="000000"/>
              </a:solidFill>
              <a:latin typeface="Arial"/>
            </a:endParaRPr>
          </a:p>
        </p:txBody>
      </p:sp>
      <p:pic>
        <p:nvPicPr>
          <p:cNvPr id="62" name="Picture 3" descr="table_1.png"/>
          <p:cNvPicPr/>
          <p:nvPr/>
        </p:nvPicPr>
        <p:blipFill>
          <a:blip r:embed="rId1"/>
          <a:srcRect l="0" t="19802" r="0" b="19539"/>
          <a:stretch/>
        </p:blipFill>
        <p:spPr>
          <a:xfrm>
            <a:off x="2079000" y="3960360"/>
            <a:ext cx="6021000" cy="215964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64"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65" name="TextBox 3"/>
          <p:cNvSpPr/>
          <p:nvPr/>
        </p:nvSpPr>
        <p:spPr>
          <a:xfrm>
            <a:off x="654480" y="978840"/>
            <a:ext cx="8777880" cy="7297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Check Low-Stock by Manufacturer</a:t>
            </a:r>
            <a:endParaRPr b="0" lang="en-CA" sz="4200" spc="-1" strike="noStrike">
              <a:solidFill>
                <a:srgbClr val="000000"/>
              </a:solidFill>
              <a:latin typeface="Arial"/>
            </a:endParaRPr>
          </a:p>
        </p:txBody>
      </p:sp>
      <p:sp>
        <p:nvSpPr>
          <p:cNvPr id="66" name="TextBox 4"/>
          <p:cNvSpPr/>
          <p:nvPr/>
        </p:nvSpPr>
        <p:spPr>
          <a:xfrm>
            <a:off x="640080" y="2286000"/>
            <a:ext cx="8777880" cy="7606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Seven out of 13 product vendors are represented in the Top10 </a:t>
            </a:r>
            <a:r>
              <a:rPr b="0" lang="en-CA" sz="2200" spc="-1" strike="noStrike">
                <a:solidFill>
                  <a:srgbClr val="ffffff"/>
                </a:solidFill>
                <a:latin typeface="Arial"/>
              </a:rPr>
              <a:t>lowest inventory query.</a:t>
            </a:r>
            <a:endParaRPr b="0" lang="en-CA" sz="2200" spc="-1" strike="noStrike">
              <a:solidFill>
                <a:srgbClr val="000000"/>
              </a:solidFill>
              <a:latin typeface="Arial"/>
            </a:endParaRPr>
          </a:p>
        </p:txBody>
      </p:sp>
      <p:pic>
        <p:nvPicPr>
          <p:cNvPr id="67" name="Picture 5" descr="table_1.png"/>
          <p:cNvPicPr/>
          <p:nvPr/>
        </p:nvPicPr>
        <p:blipFill>
          <a:blip r:embed="rId1"/>
          <a:srcRect l="0" t="19802" r="34230" b="19539"/>
          <a:stretch/>
        </p:blipFill>
        <p:spPr>
          <a:xfrm>
            <a:off x="2340000" y="3240000"/>
            <a:ext cx="5400000" cy="294516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69"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70" name="TextBox 3"/>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Reinspect the Overhead Graphs Sorted by Product Vendor</a:t>
            </a:r>
            <a:endParaRPr b="0" lang="en-CA" sz="4200" spc="-1" strike="noStrike">
              <a:solidFill>
                <a:srgbClr val="000000"/>
              </a:solidFill>
              <a:latin typeface="Arial"/>
            </a:endParaRPr>
          </a:p>
        </p:txBody>
      </p:sp>
      <p:sp>
        <p:nvSpPr>
          <p:cNvPr id="71" name="TextBox 4"/>
          <p:cNvSpPr/>
          <p:nvPr/>
        </p:nvSpPr>
        <p:spPr>
          <a:xfrm>
            <a:off x="640080" y="2286000"/>
            <a:ext cx="8777880" cy="7606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Clearly now, issues regarding low-stock inventory are with respect to individual products and not the fault of any single supplier.</a:t>
            </a:r>
            <a:endParaRPr b="0" lang="en-CA" sz="2200" spc="-1" strike="noStrike">
              <a:solidFill>
                <a:srgbClr val="000000"/>
              </a:solidFill>
              <a:latin typeface="Arial"/>
            </a:endParaRPr>
          </a:p>
        </p:txBody>
      </p:sp>
      <p:pic>
        <p:nvPicPr>
          <p:cNvPr id="72" name="Picture 5" descr="output_37_0.png"/>
          <p:cNvPicPr/>
          <p:nvPr/>
        </p:nvPicPr>
        <p:blipFill>
          <a:blip r:embed="rId1"/>
          <a:stretch/>
        </p:blipFill>
        <p:spPr>
          <a:xfrm>
            <a:off x="1980000" y="3178440"/>
            <a:ext cx="5940000" cy="305928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74" name="Rectangle 1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75" name="TextBox 13"/>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Reinspect the Overhead Graphs Sorted by Product Vendor</a:t>
            </a:r>
            <a:endParaRPr b="0" lang="en-CA" sz="4200" spc="-1" strike="noStrike">
              <a:solidFill>
                <a:srgbClr val="000000"/>
              </a:solidFill>
              <a:latin typeface="Arial"/>
            </a:endParaRPr>
          </a:p>
        </p:txBody>
      </p:sp>
      <p:sp>
        <p:nvSpPr>
          <p:cNvPr id="76" name="TextBox 14"/>
          <p:cNvSpPr/>
          <p:nvPr/>
        </p:nvSpPr>
        <p:spPr>
          <a:xfrm>
            <a:off x="640080" y="2286000"/>
            <a:ext cx="8777880" cy="15224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Low stock levels are not directly correlated to high sales volumes in most cases.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The dataset lacks the necessary product supply information required to investigate any further at this time.</a:t>
            </a:r>
            <a:endParaRPr b="0" lang="en-CA" sz="2200" spc="-1" strike="noStrike">
              <a:solidFill>
                <a:srgbClr val="000000"/>
              </a:solidFill>
              <a:latin typeface="Arial"/>
            </a:endParaRPr>
          </a:p>
        </p:txBody>
      </p:sp>
      <p:pic>
        <p:nvPicPr>
          <p:cNvPr id="77" name="Picture 8" descr="output_37_0.png"/>
          <p:cNvPicPr/>
          <p:nvPr/>
        </p:nvPicPr>
        <p:blipFill>
          <a:blip r:embed="rId1"/>
          <a:stretch/>
        </p:blipFill>
        <p:spPr>
          <a:xfrm>
            <a:off x="2520000" y="3796920"/>
            <a:ext cx="4860000" cy="250308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79"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80" name="TextBox 3"/>
          <p:cNvSpPr/>
          <p:nvPr/>
        </p:nvSpPr>
        <p:spPr>
          <a:xfrm>
            <a:off x="640080" y="900000"/>
            <a:ext cx="8777880" cy="8211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Check Warehouse Volumes</a:t>
            </a:r>
            <a:endParaRPr b="0" lang="en-CA" sz="4800" spc="-1" strike="noStrike">
              <a:solidFill>
                <a:srgbClr val="000000"/>
              </a:solidFill>
              <a:latin typeface="Arial"/>
            </a:endParaRPr>
          </a:p>
        </p:txBody>
      </p:sp>
      <p:sp>
        <p:nvSpPr>
          <p:cNvPr id="81" name="TextBox 4"/>
          <p:cNvSpPr/>
          <p:nvPr/>
        </p:nvSpPr>
        <p:spPr>
          <a:xfrm>
            <a:off x="640080" y="2286000"/>
            <a:ext cx="8777880" cy="11872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Actual packaging volume information was not available.</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rPr>
              <a:t>- A list of the approximate product volumes has been generated based on product names and scale for the purpose of analysis.</a:t>
            </a:r>
            <a:endParaRPr b="0" lang="en-CA" sz="2200" spc="-1" strike="noStrike">
              <a:solidFill>
                <a:srgbClr val="000000"/>
              </a:solidFill>
              <a:latin typeface="Arial"/>
            </a:endParaRPr>
          </a:p>
        </p:txBody>
      </p:sp>
      <p:pic>
        <p:nvPicPr>
          <p:cNvPr id="82" name="Picture 5" descr="output_44_0.png"/>
          <p:cNvPicPr/>
          <p:nvPr/>
        </p:nvPicPr>
        <p:blipFill>
          <a:blip r:embed="rId1"/>
          <a:stretch/>
        </p:blipFill>
        <p:spPr>
          <a:xfrm>
            <a:off x="2340000" y="3596400"/>
            <a:ext cx="5462640" cy="27036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Rectangle 28"/>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84" name="Rectangle 29"/>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85" name="TextBox 32"/>
          <p:cNvSpPr/>
          <p:nvPr/>
        </p:nvSpPr>
        <p:spPr>
          <a:xfrm>
            <a:off x="640080" y="900000"/>
            <a:ext cx="8777880" cy="8211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Check Warehouse Volumes</a:t>
            </a:r>
            <a:endParaRPr b="0" lang="en-CA" sz="4800" spc="-1" strike="noStrike">
              <a:solidFill>
                <a:srgbClr val="000000"/>
              </a:solidFill>
              <a:latin typeface="Arial"/>
            </a:endParaRPr>
          </a:p>
        </p:txBody>
      </p:sp>
      <p:pic>
        <p:nvPicPr>
          <p:cNvPr id="86" name="Picture 14" descr="output_44_0.png"/>
          <p:cNvPicPr/>
          <p:nvPr/>
        </p:nvPicPr>
        <p:blipFill>
          <a:blip r:embed="rId1"/>
          <a:stretch/>
        </p:blipFill>
        <p:spPr>
          <a:xfrm>
            <a:off x="2340000" y="3596400"/>
            <a:ext cx="5462640" cy="2703600"/>
          </a:xfrm>
          <a:prstGeom prst="rect">
            <a:avLst/>
          </a:prstGeom>
          <a:ln w="0">
            <a:noFill/>
          </a:ln>
          <a:effectLst>
            <a:outerShdw dist="80498" dir="9206096" blurRad="101520" rotWithShape="0">
              <a:srgbClr val="333333">
                <a:alpha val="65000"/>
              </a:srgbClr>
            </a:outerShdw>
          </a:effectLst>
        </p:spPr>
      </p:pic>
      <p:sp>
        <p:nvSpPr>
          <p:cNvPr id="87" name="TextBox 33"/>
          <p:cNvSpPr/>
          <p:nvPr/>
        </p:nvSpPr>
        <p:spPr>
          <a:xfrm>
            <a:off x="604080" y="2322000"/>
            <a:ext cx="8777880" cy="14014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000" spc="-1" strike="noStrike">
                <a:solidFill>
                  <a:srgbClr val="ffffff"/>
                </a:solidFill>
                <a:latin typeface="Arial"/>
              </a:rPr>
              <a:t>- The largest warehouse, Warehouse B, shows enough space remaining to hold the stock from either Warehouse C or Warehouse D.</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rPr>
              <a:t>- Considering that </a:t>
            </a:r>
            <a:r>
              <a:rPr b="1" lang="en-CA" sz="2000" spc="-1" strike="noStrike">
                <a:solidFill>
                  <a:srgbClr val="ffffff"/>
                </a:solidFill>
                <a:latin typeface="Arial"/>
              </a:rPr>
              <a:t>Warehouse C</a:t>
            </a:r>
            <a:r>
              <a:rPr b="0" lang="en-CA" sz="2000" spc="-1" strike="noStrike">
                <a:solidFill>
                  <a:srgbClr val="ffffff"/>
                </a:solidFill>
                <a:latin typeface="Arial"/>
              </a:rPr>
              <a:t> is half-empty, </a:t>
            </a:r>
            <a:r>
              <a:rPr b="1" lang="en-CA" sz="2000" spc="-1" strike="noStrike">
                <a:solidFill>
                  <a:srgbClr val="ffffff"/>
                </a:solidFill>
                <a:latin typeface="Arial"/>
              </a:rPr>
              <a:t>this may a good candidate for closure.</a:t>
            </a:r>
            <a:endParaRPr b="0" lang="en-CA"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89"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0" name="TextBox 3"/>
          <p:cNvSpPr/>
          <p:nvPr/>
        </p:nvSpPr>
        <p:spPr>
          <a:xfrm>
            <a:off x="640080" y="905760"/>
            <a:ext cx="8777880" cy="7606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400" spc="-1" strike="noStrike">
                <a:solidFill>
                  <a:srgbClr val="ffffff"/>
                </a:solidFill>
                <a:latin typeface="Arial"/>
              </a:rPr>
              <a:t>Check the Warehouse Contents</a:t>
            </a:r>
            <a:endParaRPr b="0" lang="en-CA" sz="4400" spc="-1" strike="noStrike">
              <a:solidFill>
                <a:srgbClr val="000000"/>
              </a:solidFill>
              <a:latin typeface="Arial"/>
            </a:endParaRPr>
          </a:p>
        </p:txBody>
      </p:sp>
      <p:sp>
        <p:nvSpPr>
          <p:cNvPr id="91" name="TextBox 4"/>
          <p:cNvSpPr/>
          <p:nvPr/>
        </p:nvSpPr>
        <p:spPr>
          <a:xfrm>
            <a:off x="640080" y="2286000"/>
            <a:ext cx="8777880" cy="21934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rPr>
              <a:t>- It can be seen that the large warehouse "B" contains only 'Classic Cars'.</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The warehouse which is a candidate for closure, "C", contains only 'Vintage Cars'.</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Merging the contents of warehouses B and C would allow for the full stock of 'Cars' to be housed in a single location.</a:t>
            </a:r>
            <a:endParaRPr b="0" lang="en-CA" sz="2100" spc="-1" strike="noStrike">
              <a:solidFill>
                <a:srgbClr val="000000"/>
              </a:solidFill>
              <a:latin typeface="Arial"/>
            </a:endParaRPr>
          </a:p>
        </p:txBody>
      </p:sp>
      <p:pic>
        <p:nvPicPr>
          <p:cNvPr id="92" name="Picture 5" descr="table_2.png"/>
          <p:cNvPicPr/>
          <p:nvPr/>
        </p:nvPicPr>
        <p:blipFill>
          <a:blip r:embed="rId1"/>
          <a:srcRect l="0" t="24856" r="0" b="24593"/>
          <a:stretch/>
        </p:blipFill>
        <p:spPr>
          <a:xfrm>
            <a:off x="1649160" y="4552560"/>
            <a:ext cx="6674760" cy="1778760"/>
          </a:xfrm>
          <a:prstGeom prst="rect">
            <a:avLst/>
          </a:prstGeom>
          <a:ln w="0">
            <a:noFill/>
          </a:ln>
          <a:effectLst>
            <a:outerShdw dist="80498" dir="9206096" blurRad="101520" rotWithShape="0">
              <a:srgbClr val="333333">
                <a:alpha val="65000"/>
              </a:srgbClr>
            </a:outerShdw>
          </a:effectLst>
        </p:spPr>
      </p:pic>
      <p:sp>
        <p:nvSpPr>
          <p:cNvPr id="93" name=""/>
          <p:cNvSpPr/>
          <p:nvPr/>
        </p:nvSpPr>
        <p:spPr>
          <a:xfrm>
            <a:off x="2461320" y="5113080"/>
            <a:ext cx="3780000" cy="540000"/>
          </a:xfrm>
          <a:prstGeom prst="ellipse">
            <a:avLst/>
          </a:prstGeom>
          <a:noFill/>
          <a:ln w="29160">
            <a:solidFill>
              <a:srgbClr val="ff0000"/>
            </a:solidFill>
            <a:round/>
          </a:ln>
          <a:effectLst>
            <a:outerShdw dist="50911" dir="8100000" blurRad="101520" rotWithShape="0">
              <a:srgbClr val="666666">
                <a:alpha val="65000"/>
              </a:srgbClr>
            </a:outerShdw>
          </a:effectLst>
        </p:spPr>
        <p:style>
          <a:lnRef idx="0"/>
          <a:fillRef idx="0"/>
          <a:effectRef idx="0"/>
          <a:fontRef idx="minor"/>
        </p:style>
        <p:txBody>
          <a:bodyPr lIns="104400" rIns="104400" tIns="59400" bIns="59400" anchor="ctr">
            <a:noAutofit/>
          </a:bodyPr>
          <a:p>
            <a:endParaRPr b="0" lang="en-CA"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5"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6" name="TextBox 3"/>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Look into Warehouse Shipping Efficiency</a:t>
            </a:r>
            <a:endParaRPr b="0" lang="en-CA" sz="4200" spc="-1" strike="noStrike">
              <a:solidFill>
                <a:srgbClr val="000000"/>
              </a:solidFill>
              <a:latin typeface="Arial"/>
            </a:endParaRPr>
          </a:p>
        </p:txBody>
      </p:sp>
      <p:sp>
        <p:nvSpPr>
          <p:cNvPr id="97" name="TextBox 4"/>
          <p:cNvSpPr/>
          <p:nvPr/>
        </p:nvSpPr>
        <p:spPr>
          <a:xfrm>
            <a:off x="640080" y="2743560"/>
            <a:ext cx="8777880" cy="30164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3200" spc="-1" strike="noStrike">
                <a:solidFill>
                  <a:srgbClr val="ffffff"/>
                </a:solidFill>
                <a:latin typeface="Arial"/>
              </a:rPr>
              <a:t>Orders shipped from multiple warehouses DO NOT differentiate their date of shipment from each warehouse individually, THEREFORE the aggregated totals for each will only show a difference if a given warehouse is performing differently than average.</a:t>
            </a:r>
            <a:endParaRPr b="0" lang="en-CA"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Rectangle 15"/>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99" name="Rectangle 16"/>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00" name="TextBox 17"/>
          <p:cNvSpPr/>
          <p:nvPr/>
        </p:nvSpPr>
        <p:spPr>
          <a:xfrm>
            <a:off x="640080" y="685800"/>
            <a:ext cx="8777880" cy="1369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Look into Warehouse Shipping Efficiency</a:t>
            </a:r>
            <a:endParaRPr b="0" lang="en-CA" sz="4200" spc="-1" strike="noStrike">
              <a:solidFill>
                <a:srgbClr val="000000"/>
              </a:solidFill>
              <a:latin typeface="Arial"/>
            </a:endParaRPr>
          </a:p>
        </p:txBody>
      </p:sp>
      <p:sp>
        <p:nvSpPr>
          <p:cNvPr id="101" name="TextBox 19"/>
          <p:cNvSpPr/>
          <p:nvPr/>
        </p:nvSpPr>
        <p:spPr>
          <a:xfrm>
            <a:off x="640080" y="2349720"/>
            <a:ext cx="8777880" cy="11880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000" spc="-1" strike="noStrike">
                <a:solidFill>
                  <a:srgbClr val="ffffff"/>
                </a:solidFill>
                <a:latin typeface="Arial"/>
              </a:rPr>
              <a:t>- Check the amount of time each warehouse requires to ship an order.</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rPr>
              <a:t>- Look for shipping delays from each warehouse.</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rPr>
              <a:t>- Determine if shipping delays are incidental or a systemic issue.</a:t>
            </a:r>
            <a:endParaRPr b="0" lang="en-CA" sz="2000" spc="-1" strike="noStrike">
              <a:solidFill>
                <a:srgbClr val="000000"/>
              </a:solidFill>
              <a:latin typeface="Arial"/>
            </a:endParaRPr>
          </a:p>
        </p:txBody>
      </p:sp>
      <p:pic>
        <p:nvPicPr>
          <p:cNvPr id="102" name="Picture 10" descr="output_55_0.png"/>
          <p:cNvPicPr/>
          <p:nvPr/>
        </p:nvPicPr>
        <p:blipFill>
          <a:blip r:embed="rId1"/>
          <a:stretch/>
        </p:blipFill>
        <p:spPr>
          <a:xfrm>
            <a:off x="2293920" y="3537720"/>
            <a:ext cx="5446080" cy="270000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Rectangle 17"/>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04" name="Rectangle 18"/>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05" name="TextBox 18"/>
          <p:cNvSpPr/>
          <p:nvPr/>
        </p:nvSpPr>
        <p:spPr>
          <a:xfrm>
            <a:off x="640080" y="900000"/>
            <a:ext cx="8777880" cy="8218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Warehouse Shipping Efficiency</a:t>
            </a:r>
            <a:endParaRPr b="0" lang="en-CA" sz="4800" spc="-1" strike="noStrike">
              <a:solidFill>
                <a:srgbClr val="000000"/>
              </a:solidFill>
              <a:latin typeface="Arial"/>
            </a:endParaRPr>
          </a:p>
        </p:txBody>
      </p:sp>
      <p:sp>
        <p:nvSpPr>
          <p:cNvPr id="106" name="TextBox 20"/>
          <p:cNvSpPr/>
          <p:nvPr/>
        </p:nvSpPr>
        <p:spPr>
          <a:xfrm>
            <a:off x="720000" y="2462040"/>
            <a:ext cx="8554320" cy="9435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800" spc="-1" strike="noStrike">
                <a:solidFill>
                  <a:srgbClr val="ffffff"/>
                </a:solidFill>
                <a:latin typeface="Arial"/>
              </a:rPr>
              <a:t>After splitting the shipping delays into occurrences by location, normalized to maximum orders per bin:</a:t>
            </a:r>
            <a:endParaRPr b="0" lang="en-CA" sz="2800" spc="-1" strike="noStrike">
              <a:solidFill>
                <a:srgbClr val="000000"/>
              </a:solidFill>
              <a:latin typeface="Arial"/>
            </a:endParaRPr>
          </a:p>
        </p:txBody>
      </p:sp>
      <p:pic>
        <p:nvPicPr>
          <p:cNvPr id="107" name="Picture 7" descr="output_58_0.png"/>
          <p:cNvPicPr/>
          <p:nvPr/>
        </p:nvPicPr>
        <p:blipFill>
          <a:blip r:embed="rId1"/>
          <a:stretch/>
        </p:blipFill>
        <p:spPr>
          <a:xfrm>
            <a:off x="1080000" y="3656520"/>
            <a:ext cx="7920000" cy="256212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Rectangle 5"/>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09" name="Rectangle 6"/>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10" name="TextBox 7"/>
          <p:cNvSpPr/>
          <p:nvPr/>
        </p:nvSpPr>
        <p:spPr>
          <a:xfrm>
            <a:off x="640080" y="900000"/>
            <a:ext cx="8777880" cy="8218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Warehouse Shipping Efficiency</a:t>
            </a:r>
            <a:endParaRPr b="0" lang="en-CA" sz="4800" spc="-1" strike="noStrike">
              <a:solidFill>
                <a:srgbClr val="000000"/>
              </a:solidFill>
              <a:latin typeface="Arial"/>
            </a:endParaRPr>
          </a:p>
        </p:txBody>
      </p:sp>
      <p:sp>
        <p:nvSpPr>
          <p:cNvPr id="111" name="TextBox 8"/>
          <p:cNvSpPr/>
          <p:nvPr/>
        </p:nvSpPr>
        <p:spPr>
          <a:xfrm>
            <a:off x="640080" y="2491200"/>
            <a:ext cx="8777880" cy="8211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400" spc="-1" strike="noStrike">
                <a:solidFill>
                  <a:srgbClr val="ffffff"/>
                </a:solidFill>
                <a:latin typeface="Arial"/>
              </a:rPr>
              <a:t>- Warehouse 'B' has proportionally more One-Day shipping delays than warehouse 'C'.</a:t>
            </a:r>
            <a:endParaRPr b="0" lang="en-CA" sz="2400" spc="-1" strike="noStrike">
              <a:solidFill>
                <a:srgbClr val="000000"/>
              </a:solidFill>
              <a:latin typeface="Arial"/>
            </a:endParaRPr>
          </a:p>
        </p:txBody>
      </p:sp>
      <p:pic>
        <p:nvPicPr>
          <p:cNvPr id="112" name="Picture 2" descr="output_58_0.png"/>
          <p:cNvPicPr/>
          <p:nvPr/>
        </p:nvPicPr>
        <p:blipFill>
          <a:blip r:embed="rId1"/>
          <a:stretch/>
        </p:blipFill>
        <p:spPr>
          <a:xfrm>
            <a:off x="1080000" y="3656520"/>
            <a:ext cx="7920000" cy="256212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Rectangle 2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14" name="Rectangle 2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15" name="TextBox 25"/>
          <p:cNvSpPr/>
          <p:nvPr/>
        </p:nvSpPr>
        <p:spPr>
          <a:xfrm>
            <a:off x="640080" y="900000"/>
            <a:ext cx="8777880" cy="8218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Warehouse Shipping Efficiency</a:t>
            </a:r>
            <a:endParaRPr b="0" lang="en-CA" sz="4800" spc="-1" strike="noStrike">
              <a:solidFill>
                <a:srgbClr val="000000"/>
              </a:solidFill>
              <a:latin typeface="Arial"/>
            </a:endParaRPr>
          </a:p>
        </p:txBody>
      </p:sp>
      <p:sp>
        <p:nvSpPr>
          <p:cNvPr id="116" name="TextBox 26"/>
          <p:cNvSpPr/>
          <p:nvPr/>
        </p:nvSpPr>
        <p:spPr>
          <a:xfrm>
            <a:off x="640080" y="2359440"/>
            <a:ext cx="8777880" cy="10958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 If warehouse 'C' were to be moved into warehouse 'B' then warehouse 'B' must be able to accommodate the extra orders each day.</a:t>
            </a:r>
            <a:endParaRPr b="0" lang="en-CA" sz="2200" spc="-1" strike="noStrike">
              <a:solidFill>
                <a:srgbClr val="000000"/>
              </a:solidFill>
              <a:latin typeface="Arial"/>
            </a:endParaRPr>
          </a:p>
        </p:txBody>
      </p:sp>
      <p:pic>
        <p:nvPicPr>
          <p:cNvPr id="117" name="Picture 12" descr="output_58_0.png"/>
          <p:cNvPicPr/>
          <p:nvPr/>
        </p:nvPicPr>
        <p:blipFill>
          <a:blip r:embed="rId1"/>
          <a:stretch/>
        </p:blipFill>
        <p:spPr>
          <a:xfrm>
            <a:off x="1080000" y="3656520"/>
            <a:ext cx="7920000" cy="256212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Rectangle 23"/>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19" name="Rectangle 24"/>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20" name="TextBox 23"/>
          <p:cNvSpPr/>
          <p:nvPr/>
        </p:nvSpPr>
        <p:spPr>
          <a:xfrm>
            <a:off x="640080" y="900000"/>
            <a:ext cx="8777880" cy="82188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rPr>
              <a:t>Warehouse Shipping Efficiency</a:t>
            </a:r>
            <a:endParaRPr b="0" lang="en-CA" sz="4800" spc="-1" strike="noStrike">
              <a:solidFill>
                <a:srgbClr val="000000"/>
              </a:solidFill>
              <a:latin typeface="Arial"/>
            </a:endParaRPr>
          </a:p>
        </p:txBody>
      </p:sp>
      <p:sp>
        <p:nvSpPr>
          <p:cNvPr id="121" name="TextBox 24"/>
          <p:cNvSpPr/>
          <p:nvPr/>
        </p:nvSpPr>
        <p:spPr>
          <a:xfrm>
            <a:off x="640080" y="2286000"/>
            <a:ext cx="8777880" cy="13705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rPr>
              <a:t>- If the One-Day and Two-Day shipping delays associated with warehouse 'B' are the result of order volume, staffing, or warehouse operations efficiency, then these potential bottlenecks should be rectified prior to moving extra inventory into warehouse 'B'.</a:t>
            </a:r>
            <a:endParaRPr b="0" lang="en-CA" sz="2100" spc="-1" strike="noStrike">
              <a:solidFill>
                <a:srgbClr val="000000"/>
              </a:solidFill>
              <a:latin typeface="Arial"/>
            </a:endParaRPr>
          </a:p>
        </p:txBody>
      </p:sp>
      <p:pic>
        <p:nvPicPr>
          <p:cNvPr id="122" name="Picture 13" descr="output_58_0.png"/>
          <p:cNvPicPr/>
          <p:nvPr/>
        </p:nvPicPr>
        <p:blipFill>
          <a:blip r:embed="rId1"/>
          <a:stretch/>
        </p:blipFill>
        <p:spPr>
          <a:xfrm>
            <a:off x="1080000" y="3656520"/>
            <a:ext cx="7920000" cy="2562120"/>
          </a:xfrm>
          <a:prstGeom prst="rect">
            <a:avLst/>
          </a:prstGeom>
          <a:ln w="0">
            <a:noFill/>
          </a:ln>
          <a:effectLst>
            <a:outerShdw dist="80498" dir="9206096" blurRad="101520"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4"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5" name="TextBox 3"/>
          <p:cNvSpPr/>
          <p:nvPr/>
        </p:nvSpPr>
        <p:spPr>
          <a:xfrm>
            <a:off x="640080" y="887400"/>
            <a:ext cx="8777880" cy="912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rPr>
              <a:t>Next Steps:</a:t>
            </a:r>
            <a:endParaRPr b="0" lang="en-CA" sz="5400" spc="-1" strike="noStrike">
              <a:solidFill>
                <a:srgbClr val="000000"/>
              </a:solidFill>
              <a:latin typeface="Arial"/>
            </a:endParaRPr>
          </a:p>
        </p:txBody>
      </p:sp>
      <p:sp>
        <p:nvSpPr>
          <p:cNvPr id="126" name="TextBox 4"/>
          <p:cNvSpPr/>
          <p:nvPr/>
        </p:nvSpPr>
        <p:spPr>
          <a:xfrm>
            <a:off x="640080" y="2286000"/>
            <a:ext cx="8777880" cy="7599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Compare the actual volumes of Warehouse B and Warehouse C against the estimated model</a:t>
            </a:r>
            <a:endParaRPr b="0" lang="en-CA" sz="2200" spc="-1" strike="noStrike">
              <a:solidFill>
                <a:srgbClr val="000000"/>
              </a:solidFill>
              <a:latin typeface="Arial"/>
            </a:endParaRPr>
          </a:p>
        </p:txBody>
      </p:sp>
      <p:sp>
        <p:nvSpPr>
          <p:cNvPr id="127" name="TextBox 5"/>
          <p:cNvSpPr/>
          <p:nvPr/>
        </p:nvSpPr>
        <p:spPr>
          <a:xfrm>
            <a:off x="860040" y="3063600"/>
            <a:ext cx="8417880" cy="32900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1800" spc="-1" strike="noStrike">
                <a:solidFill>
                  <a:srgbClr val="ffffff"/>
                </a:solidFill>
                <a:latin typeface="Arial"/>
              </a:rPr>
              <a:t>- It is extremely important to remember that the amount of space that any given portion of inventory shall occupy has been estimated here without the spacial burden of the items' packaging.</a:t>
            </a:r>
            <a:endParaRPr b="0" lang="en-CA" sz="18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1800" spc="-1" strike="noStrike">
                <a:solidFill>
                  <a:srgbClr val="ffffff"/>
                </a:solidFill>
                <a:latin typeface="Arial"/>
              </a:rPr>
              <a:t>- It would be unsurprising to discover that the smaller scale models of current Warehouse C have proportionally more packaging than the somewhat larger models currently occupying Warehouse B.</a:t>
            </a:r>
            <a:endParaRPr b="0" lang="en-CA" sz="18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1800" spc="-1" strike="noStrike">
                <a:solidFill>
                  <a:srgbClr val="ffffff"/>
                </a:solidFill>
                <a:latin typeface="Arial"/>
              </a:rPr>
              <a:t>- Both Warehouse B and Warehouse C will, in reality, be much larger than the generated volumes which were used to compare warehouse capacities.  Comparing the ratio of (Actual:Estimated) warehouse volume for each warehouse could possibly be used in lieu of ascertaining complete product packaging size information.</a:t>
            </a:r>
            <a:endParaRPr b="0" lang="en-CA"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Rectangle 1"/>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9" name="Rectangle 2"/>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30" name="TextBox 3"/>
          <p:cNvSpPr/>
          <p:nvPr/>
        </p:nvSpPr>
        <p:spPr>
          <a:xfrm>
            <a:off x="640080" y="887400"/>
            <a:ext cx="8777880" cy="912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rPr>
              <a:t>Next Steps:</a:t>
            </a:r>
            <a:endParaRPr b="0" lang="en-CA" sz="5400" spc="-1" strike="noStrike">
              <a:solidFill>
                <a:srgbClr val="000000"/>
              </a:solidFill>
              <a:latin typeface="Arial"/>
            </a:endParaRPr>
          </a:p>
        </p:txBody>
      </p:sp>
      <p:sp>
        <p:nvSpPr>
          <p:cNvPr id="131" name="TextBox 4"/>
          <p:cNvSpPr/>
          <p:nvPr/>
        </p:nvSpPr>
        <p:spPr>
          <a:xfrm>
            <a:off x="640080" y="2286000"/>
            <a:ext cx="8777880" cy="7599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Look into the reasons why some items have incredibly low inventory stock</a:t>
            </a:r>
            <a:endParaRPr b="0" lang="en-CA" sz="2200" spc="-1" strike="noStrike">
              <a:solidFill>
                <a:srgbClr val="000000"/>
              </a:solidFill>
              <a:latin typeface="Arial"/>
            </a:endParaRPr>
          </a:p>
        </p:txBody>
      </p:sp>
      <p:sp>
        <p:nvSpPr>
          <p:cNvPr id="132" name="TextBox 5"/>
          <p:cNvSpPr/>
          <p:nvPr/>
        </p:nvSpPr>
        <p:spPr>
          <a:xfrm>
            <a:off x="1050840" y="3176640"/>
            <a:ext cx="8337960" cy="251352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rPr>
              <a:t>- Are any of these items no longer available or difficult to acquire from the manufacturer?</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If so, consider dropping those products from the Mint Classics products catalogue.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rPr>
              <a:t>- This method could be useful in warehouse reorganization more storage volume might be achieved from the same square footage with less individual product codes to keep organized and accessible.</a:t>
            </a:r>
            <a:endParaRPr b="0" lang="en-CA"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Rectangle 26"/>
          <p:cNvSpPr/>
          <p:nvPr/>
        </p:nvSpPr>
        <p:spPr>
          <a:xfrm>
            <a:off x="640080" y="685800"/>
            <a:ext cx="8777880" cy="13712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34" name="Rectangle 27"/>
          <p:cNvSpPr/>
          <p:nvPr/>
        </p:nvSpPr>
        <p:spPr>
          <a:xfrm>
            <a:off x="640080" y="2286000"/>
            <a:ext cx="8777880" cy="41144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35" name="TextBox 29"/>
          <p:cNvSpPr/>
          <p:nvPr/>
        </p:nvSpPr>
        <p:spPr>
          <a:xfrm>
            <a:off x="640080" y="887400"/>
            <a:ext cx="8777880" cy="9126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rPr>
              <a:t>Next Steps:</a:t>
            </a:r>
            <a:endParaRPr b="0" lang="en-CA" sz="5400" spc="-1" strike="noStrike">
              <a:solidFill>
                <a:srgbClr val="000000"/>
              </a:solidFill>
              <a:latin typeface="Arial"/>
            </a:endParaRPr>
          </a:p>
        </p:txBody>
      </p:sp>
      <p:sp>
        <p:nvSpPr>
          <p:cNvPr id="136" name="TextBox 30"/>
          <p:cNvSpPr/>
          <p:nvPr/>
        </p:nvSpPr>
        <p:spPr>
          <a:xfrm>
            <a:off x="604080" y="2322000"/>
            <a:ext cx="8777880" cy="7599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rPr>
              <a:t>Consider the ability to handle the logistics of increased shipping from Warehouse B</a:t>
            </a:r>
            <a:endParaRPr b="0" lang="en-CA" sz="2200" spc="-1" strike="noStrike">
              <a:solidFill>
                <a:srgbClr val="000000"/>
              </a:solidFill>
              <a:latin typeface="Arial"/>
            </a:endParaRPr>
          </a:p>
        </p:txBody>
      </p:sp>
      <p:sp>
        <p:nvSpPr>
          <p:cNvPr id="137" name="TextBox 31"/>
          <p:cNvSpPr/>
          <p:nvPr/>
        </p:nvSpPr>
        <p:spPr>
          <a:xfrm>
            <a:off x="1044000" y="3139200"/>
            <a:ext cx="8100000" cy="301680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2000" spc="-1" strike="noStrike">
                <a:solidFill>
                  <a:srgbClr val="ffffff"/>
                </a:solidFill>
                <a:latin typeface="Arial"/>
              </a:rPr>
              <a:t>- At the outset of this analysis, Mint Classics expressed an interest in being able to ship products within 24 hours of receiving a purchase order.</a:t>
            </a:r>
            <a:endParaRPr b="0" lang="en-CA" sz="20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2000" spc="-1" strike="noStrike">
                <a:solidFill>
                  <a:srgbClr val="ffffff"/>
                </a:solidFill>
                <a:latin typeface="Arial"/>
              </a:rPr>
              <a:t>- The warehouse to which the inventory of the proposed closure would be moved has a higher proportion of 2-3 day delays than the other warehouses.</a:t>
            </a:r>
            <a:endParaRPr b="0" lang="en-CA" sz="20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2000" spc="-1" strike="noStrike">
                <a:solidFill>
                  <a:srgbClr val="ffffff"/>
                </a:solidFill>
                <a:latin typeface="Arial"/>
              </a:rPr>
              <a:t>- Condense the existing inventory in Warehouse B creating a completely separate and empty space for the inventory of Warehouse C prior to shutting down Warehouse.</a:t>
            </a:r>
            <a:endParaRPr b="0" lang="en-CA"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Rectangle 1"/>
          <p:cNvSpPr/>
          <p:nvPr/>
        </p:nvSpPr>
        <p:spPr>
          <a:xfrm>
            <a:off x="640080" y="822960"/>
            <a:ext cx="8777880" cy="50288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39" name="TextBox 22"/>
          <p:cNvSpPr/>
          <p:nvPr/>
        </p:nvSpPr>
        <p:spPr>
          <a:xfrm>
            <a:off x="540000" y="1670040"/>
            <a:ext cx="8777880" cy="264996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rPr>
              <a:t>Please feel free to come back with any other more specific questions regarding any aspect of this ongoing project.</a:t>
            </a:r>
            <a:endParaRPr b="0" lang="en-CA" sz="4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Rectangle 19"/>
          <p:cNvSpPr/>
          <p:nvPr/>
        </p:nvSpPr>
        <p:spPr>
          <a:xfrm>
            <a:off x="640080" y="822960"/>
            <a:ext cx="8777880" cy="5028840"/>
          </a:xfrm>
          <a:prstGeom prst="rect">
            <a:avLst/>
          </a:prstGeom>
          <a:solidFill>
            <a:srgbClr val="9b9b9b"/>
          </a:solidFill>
          <a:ln w="31750">
            <a:solidFill>
              <a:srgbClr val="848484"/>
            </a:solidFill>
          </a:ln>
          <a:effectLst>
            <a:outerShdw dist="50911" dir="8100000" blurRad="101520"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CA" sz="1800" spc="-1" strike="noStrike">
              <a:solidFill>
                <a:schemeClr val="lt1"/>
              </a:solidFill>
              <a:latin typeface="Arial"/>
              <a:ea typeface="DejaVu Sans"/>
            </a:endParaRPr>
          </a:p>
        </p:txBody>
      </p:sp>
      <p:sp>
        <p:nvSpPr>
          <p:cNvPr id="141" name="TextBox 21"/>
          <p:cNvSpPr/>
          <p:nvPr/>
        </p:nvSpPr>
        <p:spPr>
          <a:xfrm>
            <a:off x="640080" y="2192760"/>
            <a:ext cx="8777880" cy="1918440"/>
          </a:xfrm>
          <a:prstGeom prst="rect">
            <a:avLst/>
          </a:prstGeom>
          <a:noFill/>
          <a:ln w="0">
            <a:noFill/>
          </a:ln>
          <a:effectLst>
            <a:outerShdw dist="50911" dir="8100000" blurRad="101520"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6000" spc="-1" strike="noStrike">
                <a:solidFill>
                  <a:srgbClr val="ffffff"/>
                </a:solidFill>
                <a:latin typeface="Arial"/>
              </a:rPr>
              <a:t>Thank You for choosing </a:t>
            </a:r>
            <a:r>
              <a:rPr b="0" lang="en-CA" sz="6000" spc="-1" strike="noStrike">
                <a:solidFill>
                  <a:srgbClr val="ffffff"/>
                </a:solidFill>
                <a:latin typeface="Arial"/>
              </a:rPr>
              <a:t>BCPM Custom Analytics!</a:t>
            </a:r>
            <a:endParaRPr b="0" lang="en-CA" sz="6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103</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2026-10-08T11:54:15Z</dcterms:created>
  <dc:creator/>
  <dc:description/>
  <dc:language>en-CA</dc:language>
  <cp:lastModifiedBy/>
  <dcterms:modified xsi:type="dcterms:W3CDTF">2026-10-20T15:22:53Z</dcterms:modified>
  <cp:revision>48</cp:revision>
  <dc:subject/>
  <dc:title/>
</cp:coreProperties>
</file>

<file path=docProps/custom.xml><?xml version="1.0" encoding="utf-8"?>
<Properties xmlns="http://schemas.openxmlformats.org/officeDocument/2006/custom-properties" xmlns:vt="http://schemas.openxmlformats.org/officeDocument/2006/docPropsVTypes"/>
</file>