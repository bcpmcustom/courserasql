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_rels/presentation.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media/image10.png" ContentType="image/png"/>
  <Override PartName="/ppt/media/image7.png" ContentType="image/png"/>
  <Override PartName="/ppt/media/image11.png" ContentType="image/png"/>
  <Override PartName="/ppt/media/image8.png" ContentType="image/png"/>
  <Override PartName="/ppt/media/image12.png" ContentType="image/png"/>
  <Override PartName="/ppt/media/image9.png" ContentType="image/png"/>
  <Override PartName="/ppt/media/image13.png" ContentType="image/png"/>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s/_rels/slide21.xml.rels" ContentType="application/vnd.openxmlformats-package.relationships+xml"/>
  <Override PartName="/ppt/slides/_rels/slide19.xml.rels" ContentType="application/vnd.openxmlformats-package.relationships+xml"/>
  <Override PartName="/ppt/slides/_rels/slide4.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15.xml.rels" ContentType="application/vnd.openxmlformats-package.relationships+xml"/>
  <Override PartName="/ppt/slides/_rels/slide14.xml.rels" ContentType="application/vnd.openxmlformats-package.relationships+xml"/>
  <Override PartName="/ppt/slides/_rels/slide26.xml.rels" ContentType="application/vnd.openxmlformats-package.relationships+xml"/>
  <Override PartName="/ppt/slides/_rels/slide13.xml.rels" ContentType="application/vnd.openxmlformats-package.relationships+xml"/>
  <Override PartName="/ppt/slides/_rels/slide25.xml.rels" ContentType="application/vnd.openxmlformats-package.relationships+xml"/>
  <Override PartName="/ppt/slides/_rels/slide12.xml.rels" ContentType="application/vnd.openxmlformats-package.relationships+xml"/>
  <Override PartName="/ppt/slides/_rels/slide24.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23.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22.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4.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2.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Lst>
  <p:sldSz cx="10080625" cy="7559675"/>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spTree>
      <p:nvGrpSpPr>
        <p:cNvPr id="1" name=""/>
        <p:cNvGrpSpPr/>
        <p:nvPr/>
      </p:nvGrpSpPr>
      <p:grpSpPr>
        <a:xfrm>
          <a:off x="0" y="0"/>
          <a:ext cx="0" cy="0"/>
          <a:chOff x="0" y="0"/>
          <a:chExt cx="0" cy="0"/>
        </a:xfrm>
      </p:grpSpPr>
      <p:sp>
        <p:nvSpPr>
          <p:cNvPr id="5" name="PlaceHolder 1"/>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endParaRPr b="0" lang="en-CA" sz="4400" spc="-1" strike="noStrike">
              <a:solidFill>
                <a:srgbClr val="000000"/>
              </a:solidFill>
              <a:latin typeface="Arial"/>
            </a:endParaRPr>
          </a:p>
        </p:txBody>
      </p:sp>
      <p:sp>
        <p:nvSpPr>
          <p:cNvPr id="6" name="PlaceHolder 2"/>
          <p:cNvSpPr>
            <a:spLocks noGrp="1"/>
          </p:cNvSpPr>
          <p:nvPr>
            <p:ph type="subTitle"/>
          </p:nvPr>
        </p:nvSpPr>
        <p:spPr>
          <a:xfrm>
            <a:off x="504000" y="1768680"/>
            <a:ext cx="9072000" cy="4384080"/>
          </a:xfrm>
          <a:prstGeom prst="rect">
            <a:avLst/>
          </a:prstGeom>
          <a:noFill/>
          <a:ln w="0">
            <a:noFill/>
          </a:ln>
        </p:spPr>
        <p:txBody>
          <a:bodyPr lIns="0" rIns="0" tIns="0" bIns="0" anchor="ctr">
            <a:noAutofit/>
          </a:bodyPr>
          <a:p>
            <a:pPr indent="0" algn="ctr">
              <a:buNone/>
            </a:pPr>
            <a:endParaRPr b="0" lang="en-CA"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5DE032C1-56C5-4C5C-917D-583EEC98F5CB}" type="slidenum">
              <a:t>&lt;#&gt;</a:t>
            </a:fld>
          </a:p>
        </p:txBody>
      </p:sp>
      <p:sp>
        <p:nvSpPr>
          <p:cNvPr id="6" name="PlaceHolder 5"/>
          <p:cNvSpPr>
            <a:spLocks noGrp="1"/>
          </p:cNvSpPr>
          <p:nvPr>
            <p:ph type="dt" idx="3"/>
          </p:nvPr>
        </p:nvSpPr>
        <p:spPr/>
        <p:txBody>
          <a:bodyPr/>
          <a:p>
            <a:r>
              <a:rPr lang="en-CA"/>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E39399ED-9EAA-4039-BA34-3284BD897746}" type="slidenum">
              <a:t>&lt;#&gt;</a:t>
            </a:fld>
          </a:p>
        </p:txBody>
      </p:sp>
      <p:sp>
        <p:nvSpPr>
          <p:cNvPr id="4" name="PlaceHolder 3"/>
          <p:cNvSpPr>
            <a:spLocks noGrp="1"/>
          </p:cNvSpPr>
          <p:nvPr>
            <p:ph type="dt" idx="6"/>
          </p:nvPr>
        </p:nvSpPr>
        <p:spPr/>
        <p:txBody>
          <a:bodyPr/>
          <a:p>
            <a:r>
              <a:rPr lang="en-CA"/>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png"/><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9500">
              <a:srgbClr val="dddddd"/>
            </a:gs>
            <a:gs pos="50000">
              <a:srgbClr val="858585"/>
            </a:gs>
            <a:gs pos="90500">
              <a:srgbClr val="dddddd"/>
            </a:gs>
          </a:gsLst>
          <a:lin ang="17700000"/>
        </a:gradFill>
      </p:bgPr>
    </p:bg>
    <p:spTree>
      <p:nvGrpSpPr>
        <p:cNvPr id="1" name=""/>
        <p:cNvGrpSpPr/>
        <p:nvPr/>
      </p:nvGrpSpPr>
      <p:grpSpPr>
        <a:xfrm>
          <a:off x="0" y="0"/>
          <a:ext cx="0" cy="0"/>
          <a:chOff x="0" y="0"/>
          <a:chExt cx="0" cy="0"/>
        </a:xfrm>
      </p:grpSpPr>
      <p:pic>
        <p:nvPicPr>
          <p:cNvPr id="0" name="" descr=""/>
          <p:cNvPicPr/>
          <p:nvPr/>
        </p:nvPicPr>
        <p:blipFill>
          <a:blip r:embed="rId2"/>
          <a:stretch/>
        </p:blipFill>
        <p:spPr>
          <a:xfrm>
            <a:off x="8780400" y="6543720"/>
            <a:ext cx="938520" cy="655200"/>
          </a:xfrm>
          <a:prstGeom prst="rect">
            <a:avLst/>
          </a:prstGeom>
          <a:ln w="0">
            <a:noFill/>
          </a:ln>
          <a:effectLst>
            <a:outerShdw blurRad="101520" dir="9206096" dist="80498" rotWithShape="0">
              <a:srgbClr val="333333">
                <a:alpha val="65000"/>
              </a:srgbClr>
            </a:outerShdw>
          </a:effectLst>
        </p:spPr>
      </p:pic>
      <p:sp>
        <p:nvSpPr>
          <p:cNvPr id="1" name="PlaceHolder 1"/>
          <p:cNvSpPr>
            <a:spLocks noGrp="1"/>
          </p:cNvSpPr>
          <p:nvPr>
            <p:ph type="title"/>
          </p:nvPr>
        </p:nvSpPr>
        <p:spPr>
          <a:xfrm>
            <a:off x="504000" y="301320"/>
            <a:ext cx="9071640" cy="1261440"/>
          </a:xfrm>
          <a:prstGeom prst="rect">
            <a:avLst/>
          </a:prstGeom>
          <a:noFill/>
          <a:ln w="0">
            <a:noFill/>
          </a:ln>
        </p:spPr>
        <p:txBody>
          <a:bodyPr lIns="0" rIns="0" tIns="0" bIns="0" anchor="ctr">
            <a:noAutofit/>
          </a:bodyPr>
          <a:p>
            <a:pPr indent="0">
              <a:buNone/>
            </a:pPr>
            <a:r>
              <a:rPr b="0" lang="en-CA" sz="1800" spc="-1" strike="noStrike">
                <a:solidFill>
                  <a:srgbClr val="000000"/>
                </a:solidFill>
                <a:latin typeface="Arial"/>
              </a:rPr>
              <a:t>Click to edit the title text format</a:t>
            </a:r>
            <a:endParaRPr b="0" lang="en-CA" sz="1800" spc="-1" strike="noStrike">
              <a:solidFill>
                <a:srgbClr val="000000"/>
              </a:solidFill>
              <a:latin typeface="Arial"/>
            </a:endParaRPr>
          </a:p>
        </p:txBody>
      </p:sp>
      <p:sp>
        <p:nvSpPr>
          <p:cNvPr id="2" name="PlaceHolder 2"/>
          <p:cNvSpPr>
            <a:spLocks noGrp="1"/>
          </p:cNvSpPr>
          <p:nvPr>
            <p:ph type="ftr" idx="1"/>
          </p:nvPr>
        </p:nvSpPr>
        <p:spPr>
          <a:xfrm>
            <a:off x="3447360" y="6886800"/>
            <a:ext cx="3193920" cy="519840"/>
          </a:xfrm>
          <a:prstGeom prst="rect">
            <a:avLst/>
          </a:prstGeom>
          <a:noFill/>
          <a:ln w="0">
            <a:noFill/>
          </a:ln>
        </p:spPr>
        <p:txBody>
          <a:bodyPr lIns="0" rIns="0" tIns="0" bIns="0" anchor="t">
            <a:noAutofit/>
          </a:bodyPr>
          <a:lstStyle>
            <a:lvl1pPr indent="0" algn="ctr">
              <a:lnSpc>
                <a:spcPct val="100000"/>
              </a:lnSpc>
              <a:buNone/>
              <a:tabLst>
                <a:tab algn="l" pos="0"/>
              </a:tabLst>
              <a:defRPr b="0" lang="en-CA" sz="1400" spc="-1" strike="noStrike">
                <a:solidFill>
                  <a:srgbClr val="000000"/>
                </a:solidFill>
                <a:latin typeface="Times New Roman"/>
              </a:defRPr>
            </a:lvl1pPr>
          </a:lstStyle>
          <a:p>
            <a:pPr indent="0" algn="ctr">
              <a:lnSpc>
                <a:spcPct val="100000"/>
              </a:lnSpc>
              <a:buNone/>
              <a:tabLst>
                <a:tab algn="l" pos="0"/>
              </a:tabLst>
            </a:pPr>
            <a:r>
              <a:rPr b="0" lang="en-CA" sz="1400" spc="-1" strike="noStrike">
                <a:solidFill>
                  <a:srgbClr val="000000"/>
                </a:solidFill>
                <a:latin typeface="Times New Roman"/>
              </a:rPr>
              <a:t>&lt;footer&gt;</a:t>
            </a:r>
            <a:endParaRPr b="0" lang="en-CA" sz="1400" spc="-1" strike="noStrike">
              <a:solidFill>
                <a:srgbClr val="000000"/>
              </a:solidFill>
              <a:latin typeface="Times New Roman"/>
            </a:endParaRPr>
          </a:p>
        </p:txBody>
      </p:sp>
      <p:sp>
        <p:nvSpPr>
          <p:cNvPr id="3" name="PlaceHolder 3"/>
          <p:cNvSpPr>
            <a:spLocks noGrp="1"/>
          </p:cNvSpPr>
          <p:nvPr>
            <p:ph type="sldNum" idx="2"/>
          </p:nvPr>
        </p:nvSpPr>
        <p:spPr>
          <a:xfrm>
            <a:off x="7227360" y="6886800"/>
            <a:ext cx="2347200" cy="519840"/>
          </a:xfrm>
          <a:prstGeom prst="rect">
            <a:avLst/>
          </a:prstGeom>
          <a:noFill/>
          <a:ln w="0">
            <a:noFill/>
          </a:ln>
        </p:spPr>
        <p:txBody>
          <a:bodyPr lIns="0" rIns="0" tIns="0" bIns="0" anchor="t">
            <a:noAutofit/>
          </a:bodyPr>
          <a:lstStyle>
            <a:lvl1pPr indent="0" algn="r">
              <a:lnSpc>
                <a:spcPct val="100000"/>
              </a:lnSpc>
              <a:buNone/>
              <a:tabLst>
                <a:tab algn="l" pos="0"/>
              </a:tabLst>
              <a:defRPr b="0" lang="en-CA" sz="1400" spc="-1" strike="noStrike">
                <a:solidFill>
                  <a:srgbClr val="000000"/>
                </a:solidFill>
                <a:latin typeface="Times New Roman"/>
              </a:defRPr>
            </a:lvl1pPr>
          </a:lstStyle>
          <a:p>
            <a:pPr indent="0" algn="r">
              <a:lnSpc>
                <a:spcPct val="100000"/>
              </a:lnSpc>
              <a:buNone/>
              <a:tabLst>
                <a:tab algn="l" pos="0"/>
              </a:tabLst>
            </a:pPr>
            <a:fld id="{C46B6D77-78F8-487C-9A13-FC0B82BD306B}" type="slidenum">
              <a:rPr b="0" lang="en-CA" sz="1400" spc="-1" strike="noStrike">
                <a:solidFill>
                  <a:srgbClr val="000000"/>
                </a:solidFill>
                <a:latin typeface="Times New Roman"/>
              </a:rPr>
              <a:t>&lt;number&gt;</a:t>
            </a:fld>
            <a:endParaRPr b="0" lang="en-CA" sz="1400" spc="-1" strike="noStrike">
              <a:solidFill>
                <a:srgbClr val="000000"/>
              </a:solidFill>
              <a:latin typeface="Times New Roman"/>
            </a:endParaRPr>
          </a:p>
        </p:txBody>
      </p:sp>
      <p:sp>
        <p:nvSpPr>
          <p:cNvPr id="4" name="PlaceHolder 4"/>
          <p:cNvSpPr>
            <a:spLocks noGrp="1"/>
          </p:cNvSpPr>
          <p:nvPr>
            <p:ph type="dt" idx="3"/>
          </p:nvPr>
        </p:nvSpPr>
        <p:spPr>
          <a:xfrm>
            <a:off x="504000" y="6886800"/>
            <a:ext cx="2347200" cy="519840"/>
          </a:xfrm>
          <a:prstGeom prst="rect">
            <a:avLst/>
          </a:prstGeom>
          <a:noFill/>
          <a:ln w="0">
            <a:noFill/>
          </a:ln>
        </p:spPr>
        <p:txBody>
          <a:bodyPr lIns="0" rIns="0" tIns="0" bIns="0" anchor="t">
            <a:noAutofit/>
          </a:bodyPr>
          <a:lstStyle>
            <a:lvl1pPr indent="0">
              <a:buNone/>
              <a:defRPr b="0" lang="en-CA" sz="1400" spc="-1" strike="noStrike">
                <a:solidFill>
                  <a:srgbClr val="000000"/>
                </a:solidFill>
                <a:latin typeface="Times New Roman"/>
              </a:defRPr>
            </a:lvl1pPr>
          </a:lstStyle>
          <a:p>
            <a:pPr indent="0">
              <a:buNone/>
            </a:pPr>
            <a:r>
              <a:rPr b="0" lang="en-CA" sz="1400" spc="-1" strike="noStrike">
                <a:solidFill>
                  <a:srgbClr val="000000"/>
                </a:solidFill>
                <a:latin typeface="Times New Roman"/>
              </a:rPr>
              <a:t>&lt;date/time&gt;</a:t>
            </a:r>
            <a:endParaRPr b="0" lang="en-CA"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9500">
              <a:srgbClr val="dddddd"/>
            </a:gs>
            <a:gs pos="50000">
              <a:srgbClr val="858585"/>
            </a:gs>
            <a:gs pos="90500">
              <a:srgbClr val="dddddd"/>
            </a:gs>
          </a:gsLst>
          <a:lin ang="17700000"/>
        </a:gradFill>
      </p:bgPr>
    </p:bg>
    <p:spTree>
      <p:nvGrpSpPr>
        <p:cNvPr id="1" name=""/>
        <p:cNvGrpSpPr/>
        <p:nvPr/>
      </p:nvGrpSpPr>
      <p:grpSpPr>
        <a:xfrm>
          <a:off x="0" y="0"/>
          <a:ext cx="0" cy="0"/>
          <a:chOff x="0" y="0"/>
          <a:chExt cx="0" cy="0"/>
        </a:xfrm>
      </p:grpSpPr>
      <p:pic>
        <p:nvPicPr>
          <p:cNvPr id="7" name="" descr=""/>
          <p:cNvPicPr/>
          <p:nvPr/>
        </p:nvPicPr>
        <p:blipFill>
          <a:blip r:embed="rId2"/>
          <a:stretch/>
        </p:blipFill>
        <p:spPr>
          <a:xfrm>
            <a:off x="8780400" y="6543720"/>
            <a:ext cx="938520" cy="655200"/>
          </a:xfrm>
          <a:prstGeom prst="rect">
            <a:avLst/>
          </a:prstGeom>
          <a:ln w="0">
            <a:noFill/>
          </a:ln>
          <a:effectLst>
            <a:outerShdw blurRad="101520" dir="9206096" dist="80498" rotWithShape="0">
              <a:srgbClr val="333333">
                <a:alpha val="65000"/>
              </a:srgbClr>
            </a:outerShdw>
          </a:effectLst>
        </p:spPr>
      </p:pic>
      <p:sp>
        <p:nvSpPr>
          <p:cNvPr id="8" name="PlaceHolder 1"/>
          <p:cNvSpPr>
            <a:spLocks noGrp="1"/>
          </p:cNvSpPr>
          <p:nvPr>
            <p:ph type="ftr" idx="4"/>
          </p:nvPr>
        </p:nvSpPr>
        <p:spPr>
          <a:xfrm>
            <a:off x="3447360" y="6886800"/>
            <a:ext cx="3193920" cy="519840"/>
          </a:xfrm>
          <a:prstGeom prst="rect">
            <a:avLst/>
          </a:prstGeom>
          <a:noFill/>
          <a:ln w="0">
            <a:noFill/>
          </a:ln>
        </p:spPr>
        <p:txBody>
          <a:bodyPr lIns="0" rIns="0" tIns="0" bIns="0" anchor="t">
            <a:noAutofit/>
          </a:bodyPr>
          <a:lstStyle>
            <a:lvl1pPr indent="0" algn="ctr">
              <a:lnSpc>
                <a:spcPct val="100000"/>
              </a:lnSpc>
              <a:buNone/>
              <a:tabLst>
                <a:tab algn="l" pos="0"/>
              </a:tabLst>
              <a:defRPr b="0" lang="en-CA" sz="1400" spc="-1" strike="noStrike">
                <a:solidFill>
                  <a:srgbClr val="000000"/>
                </a:solidFill>
                <a:latin typeface="Times New Roman"/>
              </a:defRPr>
            </a:lvl1pPr>
          </a:lstStyle>
          <a:p>
            <a:pPr indent="0" algn="ctr">
              <a:lnSpc>
                <a:spcPct val="100000"/>
              </a:lnSpc>
              <a:buNone/>
              <a:tabLst>
                <a:tab algn="l" pos="0"/>
              </a:tabLst>
            </a:pPr>
            <a:r>
              <a:rPr b="0" lang="en-CA" sz="1400" spc="-1" strike="noStrike">
                <a:solidFill>
                  <a:srgbClr val="000000"/>
                </a:solidFill>
                <a:latin typeface="Times New Roman"/>
              </a:rPr>
              <a:t>&lt;footer&gt;</a:t>
            </a:r>
            <a:endParaRPr b="0" lang="en-CA" sz="1400" spc="-1" strike="noStrike">
              <a:solidFill>
                <a:srgbClr val="000000"/>
              </a:solidFill>
              <a:latin typeface="Times New Roman"/>
            </a:endParaRPr>
          </a:p>
        </p:txBody>
      </p:sp>
      <p:sp>
        <p:nvSpPr>
          <p:cNvPr id="9" name="PlaceHolder 2"/>
          <p:cNvSpPr>
            <a:spLocks noGrp="1"/>
          </p:cNvSpPr>
          <p:nvPr>
            <p:ph type="sldNum" idx="5"/>
          </p:nvPr>
        </p:nvSpPr>
        <p:spPr>
          <a:xfrm>
            <a:off x="7227360" y="6886800"/>
            <a:ext cx="2347200" cy="519840"/>
          </a:xfrm>
          <a:prstGeom prst="rect">
            <a:avLst/>
          </a:prstGeom>
          <a:noFill/>
          <a:ln w="0">
            <a:noFill/>
          </a:ln>
        </p:spPr>
        <p:txBody>
          <a:bodyPr lIns="0" rIns="0" tIns="0" bIns="0" anchor="t">
            <a:noAutofit/>
          </a:bodyPr>
          <a:lstStyle>
            <a:lvl1pPr indent="0" algn="r">
              <a:lnSpc>
                <a:spcPct val="100000"/>
              </a:lnSpc>
              <a:buNone/>
              <a:tabLst>
                <a:tab algn="l" pos="0"/>
              </a:tabLst>
              <a:defRPr b="0" lang="en-CA" sz="1400" spc="-1" strike="noStrike">
                <a:solidFill>
                  <a:srgbClr val="000000"/>
                </a:solidFill>
                <a:latin typeface="Times New Roman"/>
              </a:defRPr>
            </a:lvl1pPr>
          </a:lstStyle>
          <a:p>
            <a:pPr indent="0" algn="r">
              <a:lnSpc>
                <a:spcPct val="100000"/>
              </a:lnSpc>
              <a:buNone/>
              <a:tabLst>
                <a:tab algn="l" pos="0"/>
              </a:tabLst>
            </a:pPr>
            <a:fld id="{5E17609B-C6AD-4B75-A54A-84779E04B44E}" type="slidenum">
              <a:rPr b="0" lang="en-CA" sz="1400" spc="-1" strike="noStrike">
                <a:solidFill>
                  <a:srgbClr val="000000"/>
                </a:solidFill>
                <a:latin typeface="Times New Roman"/>
              </a:rPr>
              <a:t>&lt;number&gt;</a:t>
            </a:fld>
            <a:endParaRPr b="0" lang="en-CA" sz="1400" spc="-1" strike="noStrike">
              <a:solidFill>
                <a:srgbClr val="000000"/>
              </a:solidFill>
              <a:latin typeface="Times New Roman"/>
            </a:endParaRPr>
          </a:p>
        </p:txBody>
      </p:sp>
      <p:sp>
        <p:nvSpPr>
          <p:cNvPr id="10" name="PlaceHolder 3"/>
          <p:cNvSpPr>
            <a:spLocks noGrp="1"/>
          </p:cNvSpPr>
          <p:nvPr>
            <p:ph type="dt" idx="6"/>
          </p:nvPr>
        </p:nvSpPr>
        <p:spPr>
          <a:xfrm>
            <a:off x="504000" y="6886800"/>
            <a:ext cx="2347200" cy="519840"/>
          </a:xfrm>
          <a:prstGeom prst="rect">
            <a:avLst/>
          </a:prstGeom>
          <a:noFill/>
          <a:ln w="0">
            <a:noFill/>
          </a:ln>
        </p:spPr>
        <p:txBody>
          <a:bodyPr lIns="0" rIns="0" tIns="0" bIns="0" anchor="t">
            <a:noAutofit/>
          </a:bodyPr>
          <a:lstStyle>
            <a:lvl1pPr indent="0">
              <a:buNone/>
              <a:defRPr b="0" lang="en-CA" sz="1400" spc="-1" strike="noStrike">
                <a:solidFill>
                  <a:srgbClr val="000000"/>
                </a:solidFill>
                <a:latin typeface="Times New Roman"/>
              </a:defRPr>
            </a:lvl1pPr>
          </a:lstStyle>
          <a:p>
            <a:pPr indent="0">
              <a:buNone/>
            </a:pPr>
            <a:r>
              <a:rPr b="0" lang="en-CA" sz="1400" spc="-1" strike="noStrike">
                <a:solidFill>
                  <a:srgbClr val="000000"/>
                </a:solidFill>
                <a:latin typeface="Times New Roman"/>
              </a:rPr>
              <a:t>&lt;date/time&gt;</a:t>
            </a:r>
            <a:endParaRPr b="0" lang="en-CA" sz="1400" spc="-1" strike="noStrike">
              <a:solidFill>
                <a:srgbClr val="000000"/>
              </a:solidFill>
              <a:latin typeface="Times New Roman"/>
            </a:endParaRPr>
          </a:p>
        </p:txBody>
      </p:sp>
      <p:sp>
        <p:nvSpPr>
          <p:cNvPr id="11" name="PlaceHolder 4"/>
          <p:cNvSpPr>
            <a:spLocks noGrp="1"/>
          </p:cNvSpPr>
          <p:nvPr>
            <p:ph type="title"/>
          </p:nvPr>
        </p:nvSpPr>
        <p:spPr>
          <a:xfrm>
            <a:off x="504000" y="301320"/>
            <a:ext cx="9072000" cy="1261800"/>
          </a:xfrm>
          <a:prstGeom prst="rect">
            <a:avLst/>
          </a:prstGeom>
          <a:noFill/>
          <a:ln w="0">
            <a:noFill/>
          </a:ln>
        </p:spPr>
        <p:txBody>
          <a:bodyPr lIns="0" rIns="0" tIns="0" bIns="0" anchor="ctr">
            <a:noAutofit/>
          </a:bodyPr>
          <a:p>
            <a:pPr indent="0" algn="ctr">
              <a:buNone/>
            </a:pPr>
            <a:r>
              <a:rPr b="0" lang="en-CA" sz="4400" spc="-1" strike="noStrike">
                <a:solidFill>
                  <a:srgbClr val="000000"/>
                </a:solidFill>
                <a:latin typeface="Arial"/>
              </a:rPr>
              <a:t>Click to edit the title text format</a:t>
            </a:r>
            <a:endParaRPr b="0" lang="en-CA" sz="4400" spc="-1" strike="noStrike">
              <a:solidFill>
                <a:srgbClr val="000000"/>
              </a:solidFill>
              <a:latin typeface="Arial"/>
            </a:endParaRPr>
          </a:p>
        </p:txBody>
      </p:sp>
      <p:sp>
        <p:nvSpPr>
          <p:cNvPr id="12" name="PlaceHolder 5"/>
          <p:cNvSpPr>
            <a:spLocks noGrp="1"/>
          </p:cNvSpPr>
          <p:nvPr>
            <p:ph type="body"/>
          </p:nvPr>
        </p:nvSpPr>
        <p:spPr>
          <a:xfrm>
            <a:off x="504000" y="1768680"/>
            <a:ext cx="9072000" cy="43840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CA" sz="3200" spc="-1" strike="noStrike">
                <a:solidFill>
                  <a:srgbClr val="000000"/>
                </a:solidFill>
                <a:latin typeface="Arial"/>
              </a:rPr>
              <a:t>Click to edit the outline text format</a:t>
            </a:r>
            <a:endParaRPr b="0" lang="en-CA"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CA" sz="2800" spc="-1" strike="noStrike">
                <a:solidFill>
                  <a:srgbClr val="000000"/>
                </a:solidFill>
                <a:latin typeface="Arial"/>
              </a:rPr>
              <a:t>Second Outline Level</a:t>
            </a:r>
            <a:endParaRPr b="0" lang="en-CA"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CA" sz="2400" spc="-1" strike="noStrike">
                <a:solidFill>
                  <a:srgbClr val="000000"/>
                </a:solidFill>
                <a:latin typeface="Arial"/>
              </a:rPr>
              <a:t>Third Outline Level</a:t>
            </a:r>
            <a:endParaRPr b="0" lang="en-CA"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CA" sz="2000" spc="-1" strike="noStrike">
                <a:solidFill>
                  <a:srgbClr val="000000"/>
                </a:solidFill>
                <a:latin typeface="Arial"/>
              </a:rPr>
              <a:t>Fourth Outline Level</a:t>
            </a:r>
            <a:endParaRPr b="0" lang="en-CA"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CA" sz="2000" spc="-1" strike="noStrike">
                <a:solidFill>
                  <a:srgbClr val="000000"/>
                </a:solidFill>
                <a:latin typeface="Arial"/>
              </a:rPr>
              <a:t>Fifth Outline Level</a:t>
            </a:r>
            <a:endParaRPr b="0" lang="en-CA"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CA" sz="2000" spc="-1" strike="noStrike">
                <a:solidFill>
                  <a:srgbClr val="000000"/>
                </a:solidFill>
                <a:latin typeface="Arial"/>
              </a:rPr>
              <a:t>Sixth Outline Level</a:t>
            </a:r>
            <a:endParaRPr b="0" lang="en-CA"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CA" sz="2000" spc="-1" strike="noStrike">
                <a:solidFill>
                  <a:srgbClr val="000000"/>
                </a:solidFill>
                <a:latin typeface="Arial"/>
              </a:rPr>
              <a:t>Seventh Outline Level</a:t>
            </a:r>
            <a:endParaRPr b="0" lang="en-CA"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3"/>
  </p:sldLayoutIdLst>
</p:sldMaster>
</file>

<file path=ppt/slides/_rels/slide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2.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
</Relationships>
</file>

<file path=ppt/slides/_rels/slide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
</Relationships>
</file>

<file path=ppt/slides/_rels/slide7.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
</Relationships>
</file>

<file path=ppt/slides/_rels/slide8.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
</Relationships>
</file>

<file path=ppt/slides/_rels/slide9.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
</Relationships>
</file>

<file path=ppt/slides/_rels/slide10.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xml"/>
</Relationships>
</file>

<file path=ppt/slides/_rels/slide11.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xml"/>
</Relationships>
</file>

<file path=ppt/slides/_rels/slide12.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xml"/>
</Relationships>
</file>

<file path=ppt/slides/_rels/slide1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xml"/>
</Relationships>
</file>

<file path=ppt/slides/_rels/slide1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2.xml"/>
</Relationships>
</file>

<file path=ppt/slides/_rels/slide15.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2.xml"/>
</Relationships>
</file>

<file path=ppt/slides/_rels/slide16.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2.xml"/>
</Relationships>
</file>

<file path=ppt/slides/_rels/slide19.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2.xml"/>
</Relationships>
</file>

<file path=ppt/slides/_rels/slide20.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2.xml"/>
</Relationships>
</file>

<file path=ppt/slides/_rels/slide21.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2.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 name="Rectangle 1"/>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4" name="TextBox 2"/>
          <p:cNvSpPr/>
          <p:nvPr/>
        </p:nvSpPr>
        <p:spPr>
          <a:xfrm>
            <a:off x="640080" y="685800"/>
            <a:ext cx="8777520" cy="13698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ea typeface="DejaVu Sans"/>
              </a:rPr>
              <a:t>Mint Classics Warehouse Elimination Study</a:t>
            </a:r>
            <a:endParaRPr b="0" lang="en-CA" sz="4200" spc="-1" strike="noStrike">
              <a:solidFill>
                <a:srgbClr val="000000"/>
              </a:solidFill>
              <a:latin typeface="Arial"/>
            </a:endParaRPr>
          </a:p>
        </p:txBody>
      </p:sp>
      <p:pic>
        <p:nvPicPr>
          <p:cNvPr id="15" name="" descr=""/>
          <p:cNvPicPr/>
          <p:nvPr/>
        </p:nvPicPr>
        <p:blipFill>
          <a:blip r:embed="rId1"/>
          <a:stretch/>
        </p:blipFill>
        <p:spPr>
          <a:xfrm>
            <a:off x="1709280" y="2340000"/>
            <a:ext cx="6750360" cy="449964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Rectangle 1"/>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7" name="Rectangle 2"/>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8" name="TextBox 3"/>
          <p:cNvSpPr/>
          <p:nvPr/>
        </p:nvSpPr>
        <p:spPr>
          <a:xfrm>
            <a:off x="640080" y="685800"/>
            <a:ext cx="8777520" cy="13698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ea typeface="DejaVu Sans"/>
              </a:rPr>
              <a:t>Initial inspection of stock on hand by warehouse location</a:t>
            </a:r>
            <a:endParaRPr b="0" lang="en-CA" sz="4200" spc="-1" strike="noStrike">
              <a:solidFill>
                <a:srgbClr val="000000"/>
              </a:solidFill>
              <a:latin typeface="Arial"/>
            </a:endParaRPr>
          </a:p>
        </p:txBody>
      </p:sp>
      <p:sp>
        <p:nvSpPr>
          <p:cNvPr id="19" name="TextBox 4"/>
          <p:cNvSpPr/>
          <p:nvPr/>
        </p:nvSpPr>
        <p:spPr>
          <a:xfrm>
            <a:off x="698400" y="2300760"/>
            <a:ext cx="8777520" cy="7599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ea typeface="DejaVu Sans"/>
              </a:rPr>
              <a:t>- The first thing to check is the distribution of product stock according to which warehouse location the stock is being stored.</a:t>
            </a:r>
            <a:endParaRPr b="0" lang="en-CA" sz="2200" spc="-1" strike="noStrike">
              <a:solidFill>
                <a:srgbClr val="000000"/>
              </a:solidFill>
              <a:latin typeface="Arial"/>
            </a:endParaRPr>
          </a:p>
        </p:txBody>
      </p:sp>
      <p:pic>
        <p:nvPicPr>
          <p:cNvPr id="20" name="Picture 5" descr="output_11_0.png"/>
          <p:cNvPicPr/>
          <p:nvPr/>
        </p:nvPicPr>
        <p:blipFill>
          <a:blip r:embed="rId1"/>
          <a:stretch/>
        </p:blipFill>
        <p:spPr>
          <a:xfrm>
            <a:off x="1260000" y="3240000"/>
            <a:ext cx="7559640" cy="305064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 name="Rectangle 3"/>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22" name="Rectangle 4"/>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23" name="TextBox 1"/>
          <p:cNvSpPr/>
          <p:nvPr/>
        </p:nvSpPr>
        <p:spPr>
          <a:xfrm>
            <a:off x="640080" y="685800"/>
            <a:ext cx="8777520" cy="13698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ea typeface="DejaVu Sans"/>
              </a:rPr>
              <a:t>Initial inspection of stock on hand by warehouse location</a:t>
            </a:r>
            <a:endParaRPr b="0" lang="en-CA" sz="4200" spc="-1" strike="noStrike">
              <a:solidFill>
                <a:srgbClr val="000000"/>
              </a:solidFill>
              <a:latin typeface="Arial"/>
            </a:endParaRPr>
          </a:p>
        </p:txBody>
      </p:sp>
      <p:sp>
        <p:nvSpPr>
          <p:cNvPr id="24" name="TextBox 6"/>
          <p:cNvSpPr/>
          <p:nvPr/>
        </p:nvSpPr>
        <p:spPr>
          <a:xfrm>
            <a:off x="640080" y="2286000"/>
            <a:ext cx="8777520" cy="185688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ea typeface="DejaVu Sans"/>
              </a:rPr>
              <a:t>- The largest share of product stock is stored in Warehouse B.</a:t>
            </a:r>
            <a:endParaRPr b="0" lang="en-CA" sz="22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200" spc="-1" strike="noStrike">
                <a:solidFill>
                  <a:srgbClr val="ffffff"/>
                </a:solidFill>
                <a:latin typeface="Arial"/>
                <a:ea typeface="DejaVu Sans"/>
              </a:rPr>
              <a:t>- The cost of the stock in Warehouse B is comparatively higher than the cost of the stock stored in any of the other warehouses as demonstrated by the 'Investment Value' being roughly 7% higher than the 'Stock Quantity'</a:t>
            </a:r>
            <a:endParaRPr b="0" lang="en-CA" sz="2200" spc="-1" strike="noStrike">
              <a:solidFill>
                <a:srgbClr val="000000"/>
              </a:solidFill>
              <a:latin typeface="Arial"/>
            </a:endParaRPr>
          </a:p>
        </p:txBody>
      </p:sp>
      <p:pic>
        <p:nvPicPr>
          <p:cNvPr id="25" name="Picture 1" descr="output_11_0.png"/>
          <p:cNvPicPr/>
          <p:nvPr/>
        </p:nvPicPr>
        <p:blipFill>
          <a:blip r:embed="rId1"/>
          <a:stretch/>
        </p:blipFill>
        <p:spPr>
          <a:xfrm>
            <a:off x="2428200" y="4216320"/>
            <a:ext cx="5131440" cy="207108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 name="Rectangle 1"/>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27" name="Rectangle 2"/>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28" name="TextBox 3"/>
          <p:cNvSpPr/>
          <p:nvPr/>
        </p:nvSpPr>
        <p:spPr>
          <a:xfrm>
            <a:off x="595800" y="920160"/>
            <a:ext cx="8777520" cy="9126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5400" spc="-1" strike="noStrike">
                <a:solidFill>
                  <a:srgbClr val="ffffff"/>
                </a:solidFill>
                <a:latin typeface="Arial"/>
                <a:ea typeface="DejaVu Sans"/>
              </a:rPr>
              <a:t>Check Customer Locations</a:t>
            </a:r>
            <a:endParaRPr b="0" lang="en-CA" sz="5400" spc="-1" strike="noStrike">
              <a:solidFill>
                <a:srgbClr val="000000"/>
              </a:solidFill>
              <a:latin typeface="Arial"/>
            </a:endParaRPr>
          </a:p>
        </p:txBody>
      </p:sp>
      <p:sp>
        <p:nvSpPr>
          <p:cNvPr id="29" name="TextBox 4"/>
          <p:cNvSpPr/>
          <p:nvPr/>
        </p:nvSpPr>
        <p:spPr>
          <a:xfrm>
            <a:off x="640080" y="2286000"/>
            <a:ext cx="8777520" cy="8514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ea typeface="DejaVu Sans"/>
              </a:rPr>
              <a:t>- Where does each warehouse ship its products?</a:t>
            </a:r>
            <a:endParaRPr b="0" lang="en-CA" sz="22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200" spc="-1" strike="noStrike">
                <a:solidFill>
                  <a:srgbClr val="ffffff"/>
                </a:solidFill>
                <a:latin typeface="Arial"/>
                <a:ea typeface="DejaVu Sans"/>
              </a:rPr>
              <a:t>- Does each warehouse service its own geographic location?</a:t>
            </a:r>
            <a:endParaRPr b="0" lang="en-CA" sz="2200" spc="-1" strike="noStrike">
              <a:solidFill>
                <a:srgbClr val="000000"/>
              </a:solidFill>
              <a:latin typeface="Arial"/>
            </a:endParaRPr>
          </a:p>
        </p:txBody>
      </p:sp>
      <p:pic>
        <p:nvPicPr>
          <p:cNvPr id="30" name="Picture 5" descr="9cd8f22a-1241-4222-9e36-da9f3df30ceb.png"/>
          <p:cNvPicPr/>
          <p:nvPr/>
        </p:nvPicPr>
        <p:blipFill>
          <a:blip r:embed="rId1"/>
          <a:stretch/>
        </p:blipFill>
        <p:spPr>
          <a:xfrm>
            <a:off x="1410840" y="3225600"/>
            <a:ext cx="7196040" cy="305964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 name="Rectangle 20"/>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32" name="Rectangle 25"/>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33" name="TextBox 27"/>
          <p:cNvSpPr/>
          <p:nvPr/>
        </p:nvSpPr>
        <p:spPr>
          <a:xfrm>
            <a:off x="595800" y="920160"/>
            <a:ext cx="8777520" cy="9126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5400" spc="-1" strike="noStrike">
                <a:solidFill>
                  <a:srgbClr val="ffffff"/>
                </a:solidFill>
                <a:latin typeface="Arial"/>
                <a:ea typeface="DejaVu Sans"/>
              </a:rPr>
              <a:t>Check Customer Locations</a:t>
            </a:r>
            <a:endParaRPr b="0" lang="en-CA" sz="5400" spc="-1" strike="noStrike">
              <a:solidFill>
                <a:srgbClr val="000000"/>
              </a:solidFill>
              <a:latin typeface="Arial"/>
            </a:endParaRPr>
          </a:p>
        </p:txBody>
      </p:sp>
      <p:sp>
        <p:nvSpPr>
          <p:cNvPr id="34" name="TextBox 28"/>
          <p:cNvSpPr/>
          <p:nvPr/>
        </p:nvSpPr>
        <p:spPr>
          <a:xfrm>
            <a:off x="640080" y="2286000"/>
            <a:ext cx="8777520" cy="7599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ea typeface="DejaVu Sans"/>
              </a:rPr>
              <a:t>- The map shows that each of the four warehouses ship to all customer regions.</a:t>
            </a:r>
            <a:endParaRPr b="0" lang="en-CA" sz="2200" spc="-1" strike="noStrike">
              <a:solidFill>
                <a:srgbClr val="000000"/>
              </a:solidFill>
              <a:latin typeface="Arial"/>
            </a:endParaRPr>
          </a:p>
        </p:txBody>
      </p:sp>
      <p:pic>
        <p:nvPicPr>
          <p:cNvPr id="35" name="Picture 11" descr="9cd8f22a-1241-4222-9e36-da9f3df30ceb.png"/>
          <p:cNvPicPr/>
          <p:nvPr/>
        </p:nvPicPr>
        <p:blipFill>
          <a:blip r:embed="rId1"/>
          <a:stretch/>
        </p:blipFill>
        <p:spPr>
          <a:xfrm>
            <a:off x="1410840" y="3225600"/>
            <a:ext cx="7196040" cy="305964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Rectangle 1"/>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37" name="Rectangle 2"/>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38" name="TextBox 3"/>
          <p:cNvSpPr/>
          <p:nvPr/>
        </p:nvSpPr>
        <p:spPr>
          <a:xfrm>
            <a:off x="640080" y="685800"/>
            <a:ext cx="8777520" cy="13698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ea typeface="DejaVu Sans"/>
              </a:rPr>
              <a:t>Check Warehouse Sales &amp; Overhead</a:t>
            </a:r>
            <a:endParaRPr b="0" lang="en-CA" sz="4200" spc="-1" strike="noStrike">
              <a:solidFill>
                <a:srgbClr val="000000"/>
              </a:solidFill>
              <a:latin typeface="Arial"/>
            </a:endParaRPr>
          </a:p>
        </p:txBody>
      </p:sp>
      <p:sp>
        <p:nvSpPr>
          <p:cNvPr id="39" name="TextBox 4"/>
          <p:cNvSpPr/>
          <p:nvPr/>
        </p:nvSpPr>
        <p:spPr>
          <a:xfrm>
            <a:off x="640080" y="2286000"/>
            <a:ext cx="8777520" cy="8514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ea typeface="DejaVu Sans"/>
              </a:rPr>
              <a:t>- What does the overall product overhead look like?</a:t>
            </a:r>
            <a:endParaRPr b="0" lang="en-CA" sz="22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200" spc="-1" strike="noStrike">
                <a:solidFill>
                  <a:srgbClr val="ffffff"/>
                </a:solidFill>
                <a:latin typeface="Arial"/>
                <a:ea typeface="DejaVu Sans"/>
              </a:rPr>
              <a:t>- How much overhead investment cost is in each warehouse?</a:t>
            </a:r>
            <a:endParaRPr b="0" lang="en-CA" sz="2200" spc="-1" strike="noStrike">
              <a:solidFill>
                <a:srgbClr val="000000"/>
              </a:solidFill>
              <a:latin typeface="Arial"/>
            </a:endParaRPr>
          </a:p>
        </p:txBody>
      </p:sp>
      <p:pic>
        <p:nvPicPr>
          <p:cNvPr id="40" name="Picture 5" descr="output_22_0.png"/>
          <p:cNvPicPr/>
          <p:nvPr/>
        </p:nvPicPr>
        <p:blipFill>
          <a:blip r:embed="rId1"/>
          <a:stretch/>
        </p:blipFill>
        <p:spPr>
          <a:xfrm>
            <a:off x="1373040" y="3225240"/>
            <a:ext cx="7310520" cy="287964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 name="Rectangle 9"/>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42" name="Rectangle 10"/>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43" name="TextBox 11"/>
          <p:cNvSpPr/>
          <p:nvPr/>
        </p:nvSpPr>
        <p:spPr>
          <a:xfrm>
            <a:off x="640080" y="685800"/>
            <a:ext cx="8777520" cy="13698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ea typeface="DejaVu Sans"/>
              </a:rPr>
              <a:t>Check Warehouse Sales &amp; Overhead</a:t>
            </a:r>
            <a:endParaRPr b="0" lang="en-CA" sz="4200" spc="-1" strike="noStrike">
              <a:solidFill>
                <a:srgbClr val="000000"/>
              </a:solidFill>
              <a:latin typeface="Arial"/>
            </a:endParaRPr>
          </a:p>
        </p:txBody>
      </p:sp>
      <p:sp>
        <p:nvSpPr>
          <p:cNvPr id="44" name="TextBox 12"/>
          <p:cNvSpPr/>
          <p:nvPr/>
        </p:nvSpPr>
        <p:spPr>
          <a:xfrm>
            <a:off x="640080" y="2286000"/>
            <a:ext cx="8777520" cy="155268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100" spc="-1" strike="noStrike">
                <a:solidFill>
                  <a:srgbClr val="ffffff"/>
                </a:solidFill>
                <a:latin typeface="Arial"/>
                <a:ea typeface="DejaVu Sans"/>
              </a:rPr>
              <a:t>- Overall, sales look reasonable across all product codes with no serious problems in terms of extreme poor sales performance.</a:t>
            </a:r>
            <a:endParaRPr b="0" lang="en-CA" sz="21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100" spc="-1" strike="noStrike">
                <a:solidFill>
                  <a:srgbClr val="ffffff"/>
                </a:solidFill>
                <a:latin typeface="Arial"/>
                <a:ea typeface="DejaVu Sans"/>
              </a:rPr>
              <a:t>- The amount of inventory for each product code is fairly inconsistent.</a:t>
            </a:r>
            <a:endParaRPr b="0" lang="en-CA" sz="21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100" spc="-1" strike="noStrike">
                <a:solidFill>
                  <a:srgbClr val="ffffff"/>
                </a:solidFill>
                <a:latin typeface="Arial"/>
                <a:ea typeface="DejaVu Sans"/>
              </a:rPr>
              <a:t>- Several products show extremely low inventory on hand.</a:t>
            </a:r>
            <a:endParaRPr b="0" lang="en-CA" sz="2100" spc="-1" strike="noStrike">
              <a:solidFill>
                <a:srgbClr val="000000"/>
              </a:solidFill>
              <a:latin typeface="Arial"/>
            </a:endParaRPr>
          </a:p>
        </p:txBody>
      </p:sp>
      <p:pic>
        <p:nvPicPr>
          <p:cNvPr id="45" name="Picture 4" descr="output_22_0.png"/>
          <p:cNvPicPr/>
          <p:nvPr/>
        </p:nvPicPr>
        <p:blipFill>
          <a:blip r:embed="rId1"/>
          <a:stretch/>
        </p:blipFill>
        <p:spPr>
          <a:xfrm>
            <a:off x="2038680" y="3960000"/>
            <a:ext cx="5939640" cy="233964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 name="Rectangle 1"/>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47" name="Rectangle 2"/>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48" name="TextBox 3"/>
          <p:cNvSpPr/>
          <p:nvPr/>
        </p:nvSpPr>
        <p:spPr>
          <a:xfrm>
            <a:off x="581760" y="964080"/>
            <a:ext cx="8777520" cy="8211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800" spc="-1" strike="noStrike">
                <a:solidFill>
                  <a:srgbClr val="ffffff"/>
                </a:solidFill>
                <a:latin typeface="Arial"/>
                <a:ea typeface="DejaVu Sans"/>
              </a:rPr>
              <a:t>Sort Products by Warehouse</a:t>
            </a:r>
            <a:endParaRPr b="0" lang="en-CA" sz="4800" spc="-1" strike="noStrike">
              <a:solidFill>
                <a:srgbClr val="000000"/>
              </a:solidFill>
              <a:latin typeface="Arial"/>
            </a:endParaRPr>
          </a:p>
        </p:txBody>
      </p:sp>
      <p:sp>
        <p:nvSpPr>
          <p:cNvPr id="49" name="TextBox 4"/>
          <p:cNvSpPr/>
          <p:nvPr/>
        </p:nvSpPr>
        <p:spPr>
          <a:xfrm>
            <a:off x="640080" y="2286000"/>
            <a:ext cx="8777520" cy="43992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1" lang="en-CA" sz="2300" spc="-1" strike="noStrike">
                <a:solidFill>
                  <a:srgbClr val="ffffff"/>
                </a:solidFill>
                <a:latin typeface="Arial"/>
                <a:ea typeface="DejaVu Sans"/>
              </a:rPr>
              <a:t>Notice that there have been ZERO sales for product S18_3233</a:t>
            </a:r>
            <a:endParaRPr b="0" lang="en-CA" sz="2300" spc="-1" strike="noStrike">
              <a:solidFill>
                <a:srgbClr val="000000"/>
              </a:solidFill>
              <a:latin typeface="Arial"/>
            </a:endParaRPr>
          </a:p>
        </p:txBody>
      </p:sp>
      <p:sp>
        <p:nvSpPr>
          <p:cNvPr id="50" name="TextBox 5"/>
          <p:cNvSpPr/>
          <p:nvPr/>
        </p:nvSpPr>
        <p:spPr>
          <a:xfrm>
            <a:off x="1014480" y="4562640"/>
            <a:ext cx="8179560" cy="11865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ea typeface="DejaVu Sans"/>
              </a:rPr>
              <a:t>- Product S18_3233 is a 1985 Toyota Supra by Highway 66 Mini Classics.</a:t>
            </a:r>
            <a:endParaRPr b="0" lang="en-CA" sz="22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200" spc="-1" strike="noStrike">
                <a:solidFill>
                  <a:srgbClr val="ffffff"/>
                </a:solidFill>
                <a:latin typeface="Arial"/>
                <a:ea typeface="DejaVu Sans"/>
              </a:rPr>
              <a:t>- This SKU should possibly be considered for discontinuation.</a:t>
            </a:r>
            <a:endParaRPr b="0" lang="en-CA" sz="2200" spc="-1" strike="noStrike">
              <a:solidFill>
                <a:srgbClr val="000000"/>
              </a:solidFill>
              <a:latin typeface="Arial"/>
            </a:endParaRPr>
          </a:p>
        </p:txBody>
      </p:sp>
      <p:pic>
        <p:nvPicPr>
          <p:cNvPr id="51" name="Picture 6" descr="table_0.png"/>
          <p:cNvPicPr/>
          <p:nvPr/>
        </p:nvPicPr>
        <p:blipFill>
          <a:blip r:embed="rId1"/>
          <a:srcRect l="0" t="29910" r="0" b="30739"/>
          <a:stretch/>
        </p:blipFill>
        <p:spPr>
          <a:xfrm>
            <a:off x="1440000" y="2880000"/>
            <a:ext cx="7021800" cy="1400400"/>
          </a:xfrm>
          <a:prstGeom prst="rect">
            <a:avLst/>
          </a:prstGeom>
          <a:ln w="0">
            <a:noFill/>
          </a:ln>
          <a:effectLst>
            <a:outerShdw blurRad="101520" dir="9206096" dist="80498" rotWithShape="0">
              <a:srgbClr val="333333">
                <a:alpha val="65000"/>
              </a:srgbClr>
            </a:outerShdw>
          </a:effectLst>
        </p:spPr>
      </p:pic>
      <p:sp>
        <p:nvSpPr>
          <p:cNvPr id="52" name=""/>
          <p:cNvSpPr/>
          <p:nvPr/>
        </p:nvSpPr>
        <p:spPr>
          <a:xfrm>
            <a:off x="3269520" y="3103920"/>
            <a:ext cx="5579640" cy="359640"/>
          </a:xfrm>
          <a:prstGeom prst="ellipse">
            <a:avLst/>
          </a:prstGeom>
          <a:noFill/>
          <a:ln w="29160">
            <a:solidFill>
              <a:srgbClr val="ff0000"/>
            </a:solidFill>
            <a:round/>
          </a:ln>
          <a:effectLst>
            <a:outerShdw blurRad="101520" dir="8100000" dist="50402" rotWithShape="0">
              <a:srgbClr val="666666">
                <a:alpha val="65000"/>
              </a:srgbClr>
            </a:outerShdw>
          </a:effectLst>
        </p:spPr>
        <p:style>
          <a:lnRef idx="0"/>
          <a:fillRef idx="0"/>
          <a:effectRef idx="0"/>
          <a:fontRef idx="minor"/>
        </p:style>
        <p:txBody>
          <a:bodyPr lIns="104400" rIns="104400" tIns="59400" bIns="59400" anchor="ctr">
            <a:noAutofit/>
          </a:bodyPr>
          <a:p>
            <a:pPr>
              <a:lnSpc>
                <a:spcPct val="100000"/>
              </a:lnSpc>
            </a:pPr>
            <a:endParaRPr b="0" lang="en-CA"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Rectangle 13"/>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54" name="Rectangle 14"/>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55" name="TextBox 15"/>
          <p:cNvSpPr/>
          <p:nvPr/>
        </p:nvSpPr>
        <p:spPr>
          <a:xfrm>
            <a:off x="581760" y="964080"/>
            <a:ext cx="8777520" cy="8211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800" spc="-1" strike="noStrike">
                <a:solidFill>
                  <a:srgbClr val="ffffff"/>
                </a:solidFill>
                <a:latin typeface="Arial"/>
                <a:ea typeface="DejaVu Sans"/>
              </a:rPr>
              <a:t>Sort Products by Warehouse</a:t>
            </a:r>
            <a:endParaRPr b="0" lang="en-CA" sz="4800" spc="-1" strike="noStrike">
              <a:solidFill>
                <a:srgbClr val="000000"/>
              </a:solidFill>
              <a:latin typeface="Arial"/>
            </a:endParaRPr>
          </a:p>
        </p:txBody>
      </p:sp>
      <p:sp>
        <p:nvSpPr>
          <p:cNvPr id="56" name="TextBox 16"/>
          <p:cNvSpPr/>
          <p:nvPr/>
        </p:nvSpPr>
        <p:spPr>
          <a:xfrm>
            <a:off x="604080" y="2322000"/>
            <a:ext cx="8777520" cy="179712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000" spc="-1" strike="noStrike">
                <a:solidFill>
                  <a:srgbClr val="ffffff"/>
                </a:solidFill>
                <a:latin typeface="Arial"/>
                <a:ea typeface="DejaVu Sans"/>
              </a:rPr>
              <a:t>- All warehouses are selling inventory with reasonable distributions.</a:t>
            </a:r>
            <a:endParaRPr b="0" lang="en-CA" sz="20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000" spc="-1" strike="noStrike">
                <a:solidFill>
                  <a:srgbClr val="ffffff"/>
                </a:solidFill>
                <a:latin typeface="Arial"/>
                <a:ea typeface="DejaVu Sans"/>
              </a:rPr>
              <a:t>- All warehouses contain some products which appear to contain insufficient stock levels based on previous sales.</a:t>
            </a:r>
            <a:endParaRPr b="0" lang="en-CA" sz="20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000" spc="-1" strike="noStrike">
                <a:solidFill>
                  <a:srgbClr val="ffffff"/>
                </a:solidFill>
                <a:latin typeface="Arial"/>
                <a:ea typeface="DejaVu Sans"/>
              </a:rPr>
              <a:t>- Depending on the reasons behind the low inventory of certain products it may be advisable to discontinue those particular products.</a:t>
            </a:r>
            <a:endParaRPr b="0" lang="en-CA" sz="2000" spc="-1" strike="noStrike">
              <a:solidFill>
                <a:srgbClr val="000000"/>
              </a:solidFill>
              <a:latin typeface="Arial"/>
            </a:endParaRPr>
          </a:p>
        </p:txBody>
      </p:sp>
      <p:pic>
        <p:nvPicPr>
          <p:cNvPr id="57" name="Picture 9" descr="output_30_0.png"/>
          <p:cNvPicPr/>
          <p:nvPr/>
        </p:nvPicPr>
        <p:blipFill>
          <a:blip r:embed="rId1"/>
          <a:stretch/>
        </p:blipFill>
        <p:spPr>
          <a:xfrm>
            <a:off x="1944000" y="4153680"/>
            <a:ext cx="6119640" cy="210924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 name="Rectangle 7"/>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59" name="Rectangle 8"/>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60" name="TextBox 9"/>
          <p:cNvSpPr/>
          <p:nvPr/>
        </p:nvSpPr>
        <p:spPr>
          <a:xfrm>
            <a:off x="654480" y="978840"/>
            <a:ext cx="8777520" cy="72972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ea typeface="DejaVu Sans"/>
              </a:rPr>
              <a:t>Check Low-Stock by Manufacturer</a:t>
            </a:r>
            <a:endParaRPr b="0" lang="en-CA" sz="4200" spc="-1" strike="noStrike">
              <a:solidFill>
                <a:srgbClr val="000000"/>
              </a:solidFill>
              <a:latin typeface="Arial"/>
            </a:endParaRPr>
          </a:p>
        </p:txBody>
      </p:sp>
      <p:sp>
        <p:nvSpPr>
          <p:cNvPr id="61" name="TextBox 10"/>
          <p:cNvSpPr/>
          <p:nvPr/>
        </p:nvSpPr>
        <p:spPr>
          <a:xfrm>
            <a:off x="640080" y="2286000"/>
            <a:ext cx="8777520" cy="14763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ea typeface="DejaVu Sans"/>
              </a:rPr>
              <a:t>-</a:t>
            </a:r>
            <a:r>
              <a:rPr b="0" lang="en-CA" sz="2100" spc="-1" strike="noStrike">
                <a:solidFill>
                  <a:srgbClr val="ffffff"/>
                </a:solidFill>
                <a:latin typeface="Arial"/>
                <a:ea typeface="DejaVu Sans"/>
              </a:rPr>
              <a:t> Check for low stock by the current investment in inventory by product code.</a:t>
            </a:r>
            <a:endParaRPr b="0" lang="en-CA" sz="21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100" spc="-1" strike="noStrike">
                <a:solidFill>
                  <a:srgbClr val="ffffff"/>
                </a:solidFill>
                <a:latin typeface="Arial"/>
                <a:ea typeface="DejaVu Sans"/>
              </a:rPr>
              <a:t>- Inspect whether there is any correlation between low-stock items and any particular manufacturer.</a:t>
            </a:r>
            <a:endParaRPr b="0" lang="en-CA" sz="2100" spc="-1" strike="noStrike">
              <a:solidFill>
                <a:srgbClr val="000000"/>
              </a:solidFill>
              <a:latin typeface="Arial"/>
            </a:endParaRPr>
          </a:p>
        </p:txBody>
      </p:sp>
      <p:pic>
        <p:nvPicPr>
          <p:cNvPr id="62" name="Picture 3" descr="table_1.png"/>
          <p:cNvPicPr/>
          <p:nvPr/>
        </p:nvPicPr>
        <p:blipFill>
          <a:blip r:embed="rId1"/>
          <a:srcRect l="0" t="19802" r="0" b="19539"/>
          <a:stretch/>
        </p:blipFill>
        <p:spPr>
          <a:xfrm>
            <a:off x="2079000" y="3960360"/>
            <a:ext cx="6020640" cy="215928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 name="Rectangle 1"/>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64" name="Rectangle 2"/>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65" name="TextBox 3"/>
          <p:cNvSpPr/>
          <p:nvPr/>
        </p:nvSpPr>
        <p:spPr>
          <a:xfrm>
            <a:off x="654480" y="978840"/>
            <a:ext cx="8777520" cy="72972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ea typeface="DejaVu Sans"/>
              </a:rPr>
              <a:t>Check Low-Stock by Manufacturer</a:t>
            </a:r>
            <a:endParaRPr b="0" lang="en-CA" sz="4200" spc="-1" strike="noStrike">
              <a:solidFill>
                <a:srgbClr val="000000"/>
              </a:solidFill>
              <a:latin typeface="Arial"/>
            </a:endParaRPr>
          </a:p>
        </p:txBody>
      </p:sp>
      <p:sp>
        <p:nvSpPr>
          <p:cNvPr id="66" name="TextBox 4"/>
          <p:cNvSpPr/>
          <p:nvPr/>
        </p:nvSpPr>
        <p:spPr>
          <a:xfrm>
            <a:off x="640080" y="2286000"/>
            <a:ext cx="8777520" cy="7599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ea typeface="DejaVu Sans"/>
              </a:rPr>
              <a:t>- Seven out of 13 product vendors are represented in the Top10 lowest inventory query.</a:t>
            </a:r>
            <a:endParaRPr b="0" lang="en-CA" sz="2200" spc="-1" strike="noStrike">
              <a:solidFill>
                <a:srgbClr val="000000"/>
              </a:solidFill>
              <a:latin typeface="Arial"/>
            </a:endParaRPr>
          </a:p>
        </p:txBody>
      </p:sp>
      <p:pic>
        <p:nvPicPr>
          <p:cNvPr id="67" name="Picture 5" descr="table_1.png"/>
          <p:cNvPicPr/>
          <p:nvPr/>
        </p:nvPicPr>
        <p:blipFill>
          <a:blip r:embed="rId1"/>
          <a:srcRect l="0" t="19802" r="34230" b="19539"/>
          <a:stretch/>
        </p:blipFill>
        <p:spPr>
          <a:xfrm>
            <a:off x="2340000" y="3240000"/>
            <a:ext cx="5399640" cy="294480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Rectangle 1"/>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69" name="Rectangle 2"/>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70" name="TextBox 3"/>
          <p:cNvSpPr/>
          <p:nvPr/>
        </p:nvSpPr>
        <p:spPr>
          <a:xfrm>
            <a:off x="640080" y="685800"/>
            <a:ext cx="8777520" cy="13698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ea typeface="DejaVu Sans"/>
              </a:rPr>
              <a:t>Reinspect the Overhead Graphs Sorted by Product Vendor</a:t>
            </a:r>
            <a:endParaRPr b="0" lang="en-CA" sz="4200" spc="-1" strike="noStrike">
              <a:solidFill>
                <a:srgbClr val="000000"/>
              </a:solidFill>
              <a:latin typeface="Arial"/>
            </a:endParaRPr>
          </a:p>
        </p:txBody>
      </p:sp>
      <p:sp>
        <p:nvSpPr>
          <p:cNvPr id="71" name="TextBox 4"/>
          <p:cNvSpPr/>
          <p:nvPr/>
        </p:nvSpPr>
        <p:spPr>
          <a:xfrm>
            <a:off x="640080" y="2286000"/>
            <a:ext cx="8777520" cy="7599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ea typeface="DejaVu Sans"/>
              </a:rPr>
              <a:t>- Clearly now, issues regarding low-stock inventory are with respect to individual products and not the fault of any single supplier.</a:t>
            </a:r>
            <a:endParaRPr b="0" lang="en-CA" sz="2200" spc="-1" strike="noStrike">
              <a:solidFill>
                <a:srgbClr val="000000"/>
              </a:solidFill>
              <a:latin typeface="Arial"/>
            </a:endParaRPr>
          </a:p>
        </p:txBody>
      </p:sp>
      <p:pic>
        <p:nvPicPr>
          <p:cNvPr id="72" name="Picture 5" descr="output_37_0.png"/>
          <p:cNvPicPr/>
          <p:nvPr/>
        </p:nvPicPr>
        <p:blipFill>
          <a:blip r:embed="rId1"/>
          <a:stretch/>
        </p:blipFill>
        <p:spPr>
          <a:xfrm>
            <a:off x="1980000" y="3178440"/>
            <a:ext cx="5939640" cy="305892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Rectangle 11"/>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74" name="Rectangle 12"/>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75" name="TextBox 13"/>
          <p:cNvSpPr/>
          <p:nvPr/>
        </p:nvSpPr>
        <p:spPr>
          <a:xfrm>
            <a:off x="640080" y="685800"/>
            <a:ext cx="8777520" cy="13698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ea typeface="DejaVu Sans"/>
              </a:rPr>
              <a:t>Reinspect the Overhead Graphs Sorted by Product Vendor</a:t>
            </a:r>
            <a:endParaRPr b="0" lang="en-CA" sz="4200" spc="-1" strike="noStrike">
              <a:solidFill>
                <a:srgbClr val="000000"/>
              </a:solidFill>
              <a:latin typeface="Arial"/>
            </a:endParaRPr>
          </a:p>
        </p:txBody>
      </p:sp>
      <p:sp>
        <p:nvSpPr>
          <p:cNvPr id="76" name="TextBox 14"/>
          <p:cNvSpPr/>
          <p:nvPr/>
        </p:nvSpPr>
        <p:spPr>
          <a:xfrm>
            <a:off x="640080" y="2286000"/>
            <a:ext cx="8777520" cy="152172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ea typeface="DejaVu Sans"/>
              </a:rPr>
              <a:t>- Low stock levels are not directly correlated to high sales volumes in most cases.</a:t>
            </a:r>
            <a:endParaRPr b="0" lang="en-CA" sz="22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200" spc="-1" strike="noStrike">
                <a:solidFill>
                  <a:srgbClr val="ffffff"/>
                </a:solidFill>
                <a:latin typeface="Arial"/>
                <a:ea typeface="DejaVu Sans"/>
              </a:rPr>
              <a:t>- The dataset lacks the necessary product supply information required to investigate any further at this time.</a:t>
            </a:r>
            <a:endParaRPr b="0" lang="en-CA" sz="2200" spc="-1" strike="noStrike">
              <a:solidFill>
                <a:srgbClr val="000000"/>
              </a:solidFill>
              <a:latin typeface="Arial"/>
            </a:endParaRPr>
          </a:p>
        </p:txBody>
      </p:sp>
      <p:pic>
        <p:nvPicPr>
          <p:cNvPr id="77" name="Picture 8" descr="output_37_0.png"/>
          <p:cNvPicPr/>
          <p:nvPr/>
        </p:nvPicPr>
        <p:blipFill>
          <a:blip r:embed="rId1"/>
          <a:stretch/>
        </p:blipFill>
        <p:spPr>
          <a:xfrm>
            <a:off x="2520000" y="3796920"/>
            <a:ext cx="4859640" cy="250272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Rectangle 1"/>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79" name="Rectangle 2"/>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80" name="TextBox 3"/>
          <p:cNvSpPr/>
          <p:nvPr/>
        </p:nvSpPr>
        <p:spPr>
          <a:xfrm>
            <a:off x="640080" y="900000"/>
            <a:ext cx="8777520" cy="8211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800" spc="-1" strike="noStrike">
                <a:solidFill>
                  <a:srgbClr val="ffffff"/>
                </a:solidFill>
                <a:latin typeface="Arial"/>
                <a:ea typeface="DejaVu Sans"/>
              </a:rPr>
              <a:t>Check Warehouse Volumes</a:t>
            </a:r>
            <a:endParaRPr b="0" lang="en-CA" sz="4800" spc="-1" strike="noStrike">
              <a:solidFill>
                <a:srgbClr val="000000"/>
              </a:solidFill>
              <a:latin typeface="Arial"/>
            </a:endParaRPr>
          </a:p>
        </p:txBody>
      </p:sp>
      <p:sp>
        <p:nvSpPr>
          <p:cNvPr id="81" name="TextBox 4"/>
          <p:cNvSpPr/>
          <p:nvPr/>
        </p:nvSpPr>
        <p:spPr>
          <a:xfrm>
            <a:off x="640080" y="2286000"/>
            <a:ext cx="8777520" cy="11865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ea typeface="DejaVu Sans"/>
              </a:rPr>
              <a:t>- Actual packaging volume information was not available.</a:t>
            </a:r>
            <a:endParaRPr b="0" lang="en-CA" sz="22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200" spc="-1" strike="noStrike">
                <a:solidFill>
                  <a:srgbClr val="ffffff"/>
                </a:solidFill>
                <a:latin typeface="Arial"/>
                <a:ea typeface="DejaVu Sans"/>
              </a:rPr>
              <a:t>- A list of the approximate product volumes has been generated based on product names and scale for the purpose of analysis.</a:t>
            </a:r>
            <a:endParaRPr b="0" lang="en-CA" sz="2200" spc="-1" strike="noStrike">
              <a:solidFill>
                <a:srgbClr val="000000"/>
              </a:solidFill>
              <a:latin typeface="Arial"/>
            </a:endParaRPr>
          </a:p>
        </p:txBody>
      </p:sp>
      <p:pic>
        <p:nvPicPr>
          <p:cNvPr id="82" name="Picture 5" descr="output_44_0.png"/>
          <p:cNvPicPr/>
          <p:nvPr/>
        </p:nvPicPr>
        <p:blipFill>
          <a:blip r:embed="rId1"/>
          <a:stretch/>
        </p:blipFill>
        <p:spPr>
          <a:xfrm>
            <a:off x="2340000" y="3596400"/>
            <a:ext cx="5462280" cy="270324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Rectangle 28"/>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84" name="Rectangle 29"/>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85" name="TextBox 32"/>
          <p:cNvSpPr/>
          <p:nvPr/>
        </p:nvSpPr>
        <p:spPr>
          <a:xfrm>
            <a:off x="640080" y="900000"/>
            <a:ext cx="8777520" cy="8211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800" spc="-1" strike="noStrike">
                <a:solidFill>
                  <a:srgbClr val="ffffff"/>
                </a:solidFill>
                <a:latin typeface="Arial"/>
                <a:ea typeface="DejaVu Sans"/>
              </a:rPr>
              <a:t>Check Warehouse Volumes</a:t>
            </a:r>
            <a:endParaRPr b="0" lang="en-CA" sz="4800" spc="-1" strike="noStrike">
              <a:solidFill>
                <a:srgbClr val="000000"/>
              </a:solidFill>
              <a:latin typeface="Arial"/>
            </a:endParaRPr>
          </a:p>
        </p:txBody>
      </p:sp>
      <p:pic>
        <p:nvPicPr>
          <p:cNvPr id="86" name="Picture 14" descr="output_44_0.png"/>
          <p:cNvPicPr/>
          <p:nvPr/>
        </p:nvPicPr>
        <p:blipFill>
          <a:blip r:embed="rId1"/>
          <a:stretch/>
        </p:blipFill>
        <p:spPr>
          <a:xfrm>
            <a:off x="2340000" y="3596400"/>
            <a:ext cx="5462280" cy="2703240"/>
          </a:xfrm>
          <a:prstGeom prst="rect">
            <a:avLst/>
          </a:prstGeom>
          <a:ln w="0">
            <a:noFill/>
          </a:ln>
          <a:effectLst>
            <a:outerShdw blurRad="101520" dir="9206096" dist="80498" rotWithShape="0">
              <a:srgbClr val="333333">
                <a:alpha val="65000"/>
              </a:srgbClr>
            </a:outerShdw>
          </a:effectLst>
        </p:spPr>
      </p:pic>
      <p:sp>
        <p:nvSpPr>
          <p:cNvPr id="87" name="TextBox 33"/>
          <p:cNvSpPr/>
          <p:nvPr/>
        </p:nvSpPr>
        <p:spPr>
          <a:xfrm>
            <a:off x="604080" y="2322000"/>
            <a:ext cx="8777520" cy="13395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1900" spc="-1" strike="noStrike">
                <a:solidFill>
                  <a:srgbClr val="ffffff"/>
                </a:solidFill>
                <a:latin typeface="Arial"/>
                <a:ea typeface="DejaVu Sans"/>
              </a:rPr>
              <a:t>- The largest warehouse, Warehouse B, shows enough space remaining to hold the stock from either Warehouse C or Warehouse D.</a:t>
            </a:r>
            <a:endParaRPr b="0" lang="en-CA" sz="19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1900" spc="-1" strike="noStrike">
                <a:solidFill>
                  <a:srgbClr val="ffffff"/>
                </a:solidFill>
                <a:latin typeface="Arial"/>
                <a:ea typeface="DejaVu Sans"/>
              </a:rPr>
              <a:t>- Considering that </a:t>
            </a:r>
            <a:r>
              <a:rPr b="1" lang="en-CA" sz="1900" spc="-1" strike="noStrike">
                <a:solidFill>
                  <a:srgbClr val="ffffff"/>
                </a:solidFill>
                <a:latin typeface="Arial"/>
                <a:ea typeface="DejaVu Sans"/>
              </a:rPr>
              <a:t>Warehouse C</a:t>
            </a:r>
            <a:r>
              <a:rPr b="0" lang="en-CA" sz="1900" spc="-1" strike="noStrike">
                <a:solidFill>
                  <a:srgbClr val="ffffff"/>
                </a:solidFill>
                <a:latin typeface="Arial"/>
                <a:ea typeface="DejaVu Sans"/>
              </a:rPr>
              <a:t> is half-empty, </a:t>
            </a:r>
            <a:r>
              <a:rPr b="1" lang="en-CA" sz="1900" spc="-1" strike="noStrike">
                <a:solidFill>
                  <a:srgbClr val="ffffff"/>
                </a:solidFill>
                <a:latin typeface="Arial"/>
                <a:ea typeface="DejaVu Sans"/>
              </a:rPr>
              <a:t>this may be a good candidate for closure.</a:t>
            </a:r>
            <a:endParaRPr b="0" lang="en-CA" sz="1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Rectangle 1"/>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89" name="Rectangle 2"/>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90" name="TextBox 3"/>
          <p:cNvSpPr/>
          <p:nvPr/>
        </p:nvSpPr>
        <p:spPr>
          <a:xfrm>
            <a:off x="640080" y="905760"/>
            <a:ext cx="8777520" cy="7599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400" spc="-1" strike="noStrike">
                <a:solidFill>
                  <a:srgbClr val="ffffff"/>
                </a:solidFill>
                <a:latin typeface="Arial"/>
                <a:ea typeface="DejaVu Sans"/>
              </a:rPr>
              <a:t>Check the Warehouse Contents</a:t>
            </a:r>
            <a:endParaRPr b="0" lang="en-CA" sz="4400" spc="-1" strike="noStrike">
              <a:solidFill>
                <a:srgbClr val="000000"/>
              </a:solidFill>
              <a:latin typeface="Arial"/>
            </a:endParaRPr>
          </a:p>
        </p:txBody>
      </p:sp>
      <p:sp>
        <p:nvSpPr>
          <p:cNvPr id="91" name="TextBox 4"/>
          <p:cNvSpPr/>
          <p:nvPr/>
        </p:nvSpPr>
        <p:spPr>
          <a:xfrm>
            <a:off x="640080" y="2286000"/>
            <a:ext cx="8777520" cy="21927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100" spc="-1" strike="noStrike">
                <a:solidFill>
                  <a:srgbClr val="ffffff"/>
                </a:solidFill>
                <a:latin typeface="Arial"/>
                <a:ea typeface="DejaVu Sans"/>
              </a:rPr>
              <a:t>- It can be seen that the large warehouse "B" contains only 'Classic Cars'.</a:t>
            </a:r>
            <a:endParaRPr b="0" lang="en-CA" sz="21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100" spc="-1" strike="noStrike">
                <a:solidFill>
                  <a:srgbClr val="ffffff"/>
                </a:solidFill>
                <a:latin typeface="Arial"/>
                <a:ea typeface="DejaVu Sans"/>
              </a:rPr>
              <a:t>- The warehouse which is a candidate for closure, "C", contains only 'Vintage Cars'.</a:t>
            </a:r>
            <a:endParaRPr b="0" lang="en-CA" sz="21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100" spc="-1" strike="noStrike">
                <a:solidFill>
                  <a:srgbClr val="ffffff"/>
                </a:solidFill>
                <a:latin typeface="Arial"/>
                <a:ea typeface="DejaVu Sans"/>
              </a:rPr>
              <a:t>- Merging the contents of warehouses B and C would allow for the full stock of 'Cars' to be housed in a single location.</a:t>
            </a:r>
            <a:endParaRPr b="0" lang="en-CA" sz="2100" spc="-1" strike="noStrike">
              <a:solidFill>
                <a:srgbClr val="000000"/>
              </a:solidFill>
              <a:latin typeface="Arial"/>
            </a:endParaRPr>
          </a:p>
        </p:txBody>
      </p:sp>
      <p:pic>
        <p:nvPicPr>
          <p:cNvPr id="92" name="Picture 5" descr="table_2.png"/>
          <p:cNvPicPr/>
          <p:nvPr/>
        </p:nvPicPr>
        <p:blipFill>
          <a:blip r:embed="rId1"/>
          <a:srcRect l="0" t="24856" r="0" b="24593"/>
          <a:stretch/>
        </p:blipFill>
        <p:spPr>
          <a:xfrm>
            <a:off x="1649160" y="4552560"/>
            <a:ext cx="6674400" cy="1778400"/>
          </a:xfrm>
          <a:prstGeom prst="rect">
            <a:avLst/>
          </a:prstGeom>
          <a:ln w="0">
            <a:noFill/>
          </a:ln>
          <a:effectLst>
            <a:outerShdw blurRad="101520" dir="9206096" dist="80498" rotWithShape="0">
              <a:srgbClr val="333333">
                <a:alpha val="65000"/>
              </a:srgbClr>
            </a:outerShdw>
          </a:effectLst>
        </p:spPr>
      </p:pic>
      <p:sp>
        <p:nvSpPr>
          <p:cNvPr id="93" name=""/>
          <p:cNvSpPr/>
          <p:nvPr/>
        </p:nvSpPr>
        <p:spPr>
          <a:xfrm>
            <a:off x="2461320" y="5113080"/>
            <a:ext cx="3779640" cy="539640"/>
          </a:xfrm>
          <a:prstGeom prst="ellipse">
            <a:avLst/>
          </a:prstGeom>
          <a:noFill/>
          <a:ln w="29160">
            <a:solidFill>
              <a:srgbClr val="ff0000"/>
            </a:solidFill>
            <a:round/>
          </a:ln>
          <a:effectLst>
            <a:outerShdw blurRad="101520" dir="8100000" dist="50402" rotWithShape="0">
              <a:srgbClr val="666666">
                <a:alpha val="65000"/>
              </a:srgbClr>
            </a:outerShdw>
          </a:effectLst>
        </p:spPr>
        <p:style>
          <a:lnRef idx="0"/>
          <a:fillRef idx="0"/>
          <a:effectRef idx="0"/>
          <a:fontRef idx="minor"/>
        </p:style>
        <p:txBody>
          <a:bodyPr lIns="104400" rIns="104400" tIns="59400" bIns="59400" anchor="ctr">
            <a:noAutofit/>
          </a:bodyPr>
          <a:p>
            <a:pPr>
              <a:lnSpc>
                <a:spcPct val="100000"/>
              </a:lnSpc>
            </a:pPr>
            <a:endParaRPr b="0" lang="en-CA" sz="1800" spc="-1" strike="noStrike">
              <a:solidFill>
                <a:srgbClr val="000000"/>
              </a:solidFill>
              <a:latin typeface="Arial"/>
              <a:ea typeface="DejaVu Sans"/>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4" name="Rectangle 1"/>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95" name="Rectangle 2"/>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96" name="TextBox 3"/>
          <p:cNvSpPr/>
          <p:nvPr/>
        </p:nvSpPr>
        <p:spPr>
          <a:xfrm>
            <a:off x="640080" y="685800"/>
            <a:ext cx="8777520" cy="13698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ea typeface="DejaVu Sans"/>
              </a:rPr>
              <a:t>Look into Warehouse Shipping Efficiency</a:t>
            </a:r>
            <a:endParaRPr b="0" lang="en-CA" sz="4200" spc="-1" strike="noStrike">
              <a:solidFill>
                <a:srgbClr val="000000"/>
              </a:solidFill>
              <a:latin typeface="Arial"/>
            </a:endParaRPr>
          </a:p>
        </p:txBody>
      </p:sp>
      <p:sp>
        <p:nvSpPr>
          <p:cNvPr id="97" name="TextBox 4"/>
          <p:cNvSpPr/>
          <p:nvPr/>
        </p:nvSpPr>
        <p:spPr>
          <a:xfrm>
            <a:off x="640080" y="2743560"/>
            <a:ext cx="8777520" cy="301644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just">
              <a:lnSpc>
                <a:spcPct val="100000"/>
              </a:lnSpc>
            </a:pPr>
            <a:r>
              <a:rPr b="0" lang="en-CA" sz="3200" spc="-1" strike="noStrike">
                <a:solidFill>
                  <a:srgbClr val="ffffff"/>
                </a:solidFill>
                <a:latin typeface="Arial"/>
                <a:ea typeface="DejaVu Sans"/>
              </a:rPr>
              <a:t>Orders shipped from multiple warehouses DO NOT differentiate their date of shipment from each warehouse individually, THEREFORE the aggregated totals for each will only show a difference if a given warehouse is performing differently than average.</a:t>
            </a:r>
            <a:endParaRPr b="0" lang="en-CA" sz="3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Rectangle 15"/>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99" name="Rectangle 16"/>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100" name="TextBox 17"/>
          <p:cNvSpPr/>
          <p:nvPr/>
        </p:nvSpPr>
        <p:spPr>
          <a:xfrm>
            <a:off x="640080" y="685800"/>
            <a:ext cx="8777520" cy="13698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ea typeface="DejaVu Sans"/>
              </a:rPr>
              <a:t>Look into Warehouse Shipping Efficiency</a:t>
            </a:r>
            <a:endParaRPr b="0" lang="en-CA" sz="4200" spc="-1" strike="noStrike">
              <a:solidFill>
                <a:srgbClr val="000000"/>
              </a:solidFill>
              <a:latin typeface="Arial"/>
            </a:endParaRPr>
          </a:p>
        </p:txBody>
      </p:sp>
      <p:sp>
        <p:nvSpPr>
          <p:cNvPr id="101" name="TextBox 19"/>
          <p:cNvSpPr/>
          <p:nvPr/>
        </p:nvSpPr>
        <p:spPr>
          <a:xfrm>
            <a:off x="640080" y="2349720"/>
            <a:ext cx="8777520" cy="118728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000" spc="-1" strike="noStrike">
                <a:solidFill>
                  <a:srgbClr val="ffffff"/>
                </a:solidFill>
                <a:latin typeface="Arial"/>
                <a:ea typeface="DejaVu Sans"/>
              </a:rPr>
              <a:t>- Check the amount of time each warehouse requires to ship an order.</a:t>
            </a:r>
            <a:endParaRPr b="0" lang="en-CA" sz="20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000" spc="-1" strike="noStrike">
                <a:solidFill>
                  <a:srgbClr val="ffffff"/>
                </a:solidFill>
                <a:latin typeface="Arial"/>
                <a:ea typeface="DejaVu Sans"/>
              </a:rPr>
              <a:t>- Look for shipping delays from each warehouse.</a:t>
            </a:r>
            <a:endParaRPr b="0" lang="en-CA" sz="20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000" spc="-1" strike="noStrike">
                <a:solidFill>
                  <a:srgbClr val="ffffff"/>
                </a:solidFill>
                <a:latin typeface="Arial"/>
                <a:ea typeface="DejaVu Sans"/>
              </a:rPr>
              <a:t>- Determine if shipping delays are incidental or a systemic issue.</a:t>
            </a:r>
            <a:endParaRPr b="0" lang="en-CA" sz="2000" spc="-1" strike="noStrike">
              <a:solidFill>
                <a:srgbClr val="000000"/>
              </a:solidFill>
              <a:latin typeface="Arial"/>
            </a:endParaRPr>
          </a:p>
        </p:txBody>
      </p:sp>
      <p:pic>
        <p:nvPicPr>
          <p:cNvPr id="102" name="Picture 10" descr="output_55_0.png"/>
          <p:cNvPicPr/>
          <p:nvPr/>
        </p:nvPicPr>
        <p:blipFill>
          <a:blip r:embed="rId1"/>
          <a:stretch/>
        </p:blipFill>
        <p:spPr>
          <a:xfrm>
            <a:off x="2293920" y="3537720"/>
            <a:ext cx="5445720" cy="269964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Rectangle 17"/>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104" name="Rectangle 18"/>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105" name="TextBox 18"/>
          <p:cNvSpPr/>
          <p:nvPr/>
        </p:nvSpPr>
        <p:spPr>
          <a:xfrm>
            <a:off x="640080" y="900000"/>
            <a:ext cx="8777520" cy="8211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800" spc="-1" strike="noStrike">
                <a:solidFill>
                  <a:srgbClr val="ffffff"/>
                </a:solidFill>
                <a:latin typeface="Arial"/>
                <a:ea typeface="DejaVu Sans"/>
              </a:rPr>
              <a:t>Warehouse Shipping Efficiency</a:t>
            </a:r>
            <a:endParaRPr b="0" lang="en-CA" sz="4800" spc="-1" strike="noStrike">
              <a:solidFill>
                <a:srgbClr val="000000"/>
              </a:solidFill>
              <a:latin typeface="Arial"/>
            </a:endParaRPr>
          </a:p>
        </p:txBody>
      </p:sp>
      <p:sp>
        <p:nvSpPr>
          <p:cNvPr id="106" name="TextBox 20"/>
          <p:cNvSpPr/>
          <p:nvPr/>
        </p:nvSpPr>
        <p:spPr>
          <a:xfrm>
            <a:off x="720000" y="2462040"/>
            <a:ext cx="8553960" cy="9435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800" spc="-1" strike="noStrike">
                <a:solidFill>
                  <a:srgbClr val="ffffff"/>
                </a:solidFill>
                <a:latin typeface="Arial"/>
                <a:ea typeface="DejaVu Sans"/>
              </a:rPr>
              <a:t>After splitting the shipping delays into occurrences by location, normalized to maximum orders per bin:</a:t>
            </a:r>
            <a:endParaRPr b="0" lang="en-CA" sz="2800" spc="-1" strike="noStrike">
              <a:solidFill>
                <a:srgbClr val="000000"/>
              </a:solidFill>
              <a:latin typeface="Arial"/>
            </a:endParaRPr>
          </a:p>
        </p:txBody>
      </p:sp>
      <p:pic>
        <p:nvPicPr>
          <p:cNvPr id="107" name="Picture 7" descr="output_58_0.png"/>
          <p:cNvPicPr/>
          <p:nvPr/>
        </p:nvPicPr>
        <p:blipFill>
          <a:blip r:embed="rId1"/>
          <a:stretch/>
        </p:blipFill>
        <p:spPr>
          <a:xfrm>
            <a:off x="1080000" y="3656520"/>
            <a:ext cx="7919640" cy="256176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Rectangle 5"/>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109" name="Rectangle 6"/>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110" name="TextBox 7"/>
          <p:cNvSpPr/>
          <p:nvPr/>
        </p:nvSpPr>
        <p:spPr>
          <a:xfrm>
            <a:off x="640080" y="900000"/>
            <a:ext cx="8777520" cy="8211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800" spc="-1" strike="noStrike">
                <a:solidFill>
                  <a:srgbClr val="ffffff"/>
                </a:solidFill>
                <a:latin typeface="Arial"/>
                <a:ea typeface="DejaVu Sans"/>
              </a:rPr>
              <a:t>Warehouse Shipping Efficiency</a:t>
            </a:r>
            <a:endParaRPr b="0" lang="en-CA" sz="4800" spc="-1" strike="noStrike">
              <a:solidFill>
                <a:srgbClr val="000000"/>
              </a:solidFill>
              <a:latin typeface="Arial"/>
            </a:endParaRPr>
          </a:p>
        </p:txBody>
      </p:sp>
      <p:sp>
        <p:nvSpPr>
          <p:cNvPr id="111" name="TextBox 8"/>
          <p:cNvSpPr/>
          <p:nvPr/>
        </p:nvSpPr>
        <p:spPr>
          <a:xfrm>
            <a:off x="640080" y="2491200"/>
            <a:ext cx="8777520" cy="8211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400" spc="-1" strike="noStrike">
                <a:solidFill>
                  <a:srgbClr val="ffffff"/>
                </a:solidFill>
                <a:latin typeface="Arial"/>
                <a:ea typeface="DejaVu Sans"/>
              </a:rPr>
              <a:t>- Warehouse 'B' has proportionally more One-Day shipping delays than warehouse 'C'.</a:t>
            </a:r>
            <a:endParaRPr b="0" lang="en-CA" sz="2400" spc="-1" strike="noStrike">
              <a:solidFill>
                <a:srgbClr val="000000"/>
              </a:solidFill>
              <a:latin typeface="Arial"/>
            </a:endParaRPr>
          </a:p>
        </p:txBody>
      </p:sp>
      <p:pic>
        <p:nvPicPr>
          <p:cNvPr id="112" name="Picture 2" descr="output_58_0.png"/>
          <p:cNvPicPr/>
          <p:nvPr/>
        </p:nvPicPr>
        <p:blipFill>
          <a:blip r:embed="rId1"/>
          <a:stretch/>
        </p:blipFill>
        <p:spPr>
          <a:xfrm>
            <a:off x="1080000" y="3656520"/>
            <a:ext cx="7919640" cy="256176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Rectangle 23"/>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114" name="Rectangle 24"/>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115" name="TextBox 23"/>
          <p:cNvSpPr/>
          <p:nvPr/>
        </p:nvSpPr>
        <p:spPr>
          <a:xfrm>
            <a:off x="640080" y="900000"/>
            <a:ext cx="8777520" cy="8211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800" spc="-1" strike="noStrike">
                <a:solidFill>
                  <a:srgbClr val="ffffff"/>
                </a:solidFill>
                <a:latin typeface="Arial"/>
                <a:ea typeface="DejaVu Sans"/>
              </a:rPr>
              <a:t>Warehouse Shipping Efficiency</a:t>
            </a:r>
            <a:endParaRPr b="0" lang="en-CA" sz="4800" spc="-1" strike="noStrike">
              <a:solidFill>
                <a:srgbClr val="000000"/>
              </a:solidFill>
              <a:latin typeface="Arial"/>
            </a:endParaRPr>
          </a:p>
        </p:txBody>
      </p:sp>
      <p:sp>
        <p:nvSpPr>
          <p:cNvPr id="116" name="TextBox 24"/>
          <p:cNvSpPr/>
          <p:nvPr/>
        </p:nvSpPr>
        <p:spPr>
          <a:xfrm>
            <a:off x="640080" y="2286000"/>
            <a:ext cx="8777520" cy="13698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100" spc="-1" strike="noStrike">
                <a:solidFill>
                  <a:srgbClr val="ffffff"/>
                </a:solidFill>
                <a:latin typeface="Arial"/>
                <a:ea typeface="DejaVu Sans"/>
              </a:rPr>
              <a:t>- If the One-Day and Two-Day shipping delays associated with warehouse 'B' are the result of order volume, staffing, or warehouse operations efficiency, then these potential bottlenecks should be rectified prior to moving extra inventory into warehouse 'B'.</a:t>
            </a:r>
            <a:endParaRPr b="0" lang="en-CA" sz="2100" spc="-1" strike="noStrike">
              <a:solidFill>
                <a:srgbClr val="000000"/>
              </a:solidFill>
              <a:latin typeface="Arial"/>
            </a:endParaRPr>
          </a:p>
        </p:txBody>
      </p:sp>
      <p:pic>
        <p:nvPicPr>
          <p:cNvPr id="117" name="Picture 13" descr="output_58_0.png"/>
          <p:cNvPicPr/>
          <p:nvPr/>
        </p:nvPicPr>
        <p:blipFill>
          <a:blip r:embed="rId1"/>
          <a:stretch/>
        </p:blipFill>
        <p:spPr>
          <a:xfrm>
            <a:off x="1080000" y="3656520"/>
            <a:ext cx="7919640" cy="2561760"/>
          </a:xfrm>
          <a:prstGeom prst="rect">
            <a:avLst/>
          </a:prstGeom>
          <a:ln w="0">
            <a:noFill/>
          </a:ln>
          <a:effectLst>
            <a:outerShdw blurRad="101520" dir="9206096" dist="80498" rotWithShape="0">
              <a:srgbClr val="333333">
                <a:alpha val="65000"/>
              </a:srgbClr>
            </a:outerShdw>
          </a:effectLst>
        </p:spPr>
      </p:pic>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Rectangle 1"/>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19" name="Rectangle 2"/>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20" name="TextBox 3"/>
          <p:cNvSpPr/>
          <p:nvPr/>
        </p:nvSpPr>
        <p:spPr>
          <a:xfrm>
            <a:off x="640080" y="887400"/>
            <a:ext cx="8777520" cy="9126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5400" spc="-1" strike="noStrike">
                <a:solidFill>
                  <a:srgbClr val="ffffff"/>
                </a:solidFill>
                <a:latin typeface="Arial"/>
                <a:ea typeface="DejaVu Sans"/>
              </a:rPr>
              <a:t>Next Steps:</a:t>
            </a:r>
            <a:endParaRPr b="0" lang="en-CA" sz="5400" spc="-1" strike="noStrike">
              <a:solidFill>
                <a:srgbClr val="000000"/>
              </a:solidFill>
              <a:latin typeface="Arial"/>
            </a:endParaRPr>
          </a:p>
        </p:txBody>
      </p:sp>
      <p:sp>
        <p:nvSpPr>
          <p:cNvPr id="121" name="TextBox 4"/>
          <p:cNvSpPr/>
          <p:nvPr/>
        </p:nvSpPr>
        <p:spPr>
          <a:xfrm>
            <a:off x="640080" y="2286000"/>
            <a:ext cx="8777520" cy="7599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ea typeface="DejaVu Sans"/>
              </a:rPr>
              <a:t>Compare the actual volumes of Warehouse B and Warehouse C against the estimated model</a:t>
            </a:r>
            <a:endParaRPr b="0" lang="en-CA" sz="2200" spc="-1" strike="noStrike">
              <a:solidFill>
                <a:srgbClr val="000000"/>
              </a:solidFill>
              <a:latin typeface="Arial"/>
            </a:endParaRPr>
          </a:p>
        </p:txBody>
      </p:sp>
      <p:sp>
        <p:nvSpPr>
          <p:cNvPr id="122" name="TextBox 5"/>
          <p:cNvSpPr/>
          <p:nvPr/>
        </p:nvSpPr>
        <p:spPr>
          <a:xfrm>
            <a:off x="860040" y="3063600"/>
            <a:ext cx="8417520" cy="329004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just">
              <a:lnSpc>
                <a:spcPct val="100000"/>
              </a:lnSpc>
            </a:pPr>
            <a:r>
              <a:rPr b="0" lang="en-CA" sz="1800" spc="-1" strike="noStrike">
                <a:solidFill>
                  <a:srgbClr val="ffffff"/>
                </a:solidFill>
                <a:latin typeface="Arial"/>
                <a:ea typeface="DejaVu Sans"/>
              </a:rPr>
              <a:t>- It is extremely important to remember that the amount of space that any given portion of inventory shall occupy has been estimated here without the spacial burden of the items' packaging.</a:t>
            </a:r>
            <a:endParaRPr b="0" lang="en-CA" sz="1800" spc="-1" strike="noStrike">
              <a:solidFill>
                <a:srgbClr val="000000"/>
              </a:solidFill>
              <a:latin typeface="Arial"/>
            </a:endParaRPr>
          </a:p>
          <a:p>
            <a:pPr algn="just">
              <a:lnSpc>
                <a:spcPct val="100000"/>
              </a:lnSpc>
            </a:pPr>
            <a:endParaRPr b="0" lang="en-CA" sz="600" spc="-1" strike="noStrike">
              <a:solidFill>
                <a:srgbClr val="000000"/>
              </a:solidFill>
              <a:latin typeface="Arial"/>
            </a:endParaRPr>
          </a:p>
          <a:p>
            <a:pPr algn="just">
              <a:lnSpc>
                <a:spcPct val="100000"/>
              </a:lnSpc>
            </a:pPr>
            <a:r>
              <a:rPr b="0" lang="en-CA" sz="1800" spc="-1" strike="noStrike">
                <a:solidFill>
                  <a:srgbClr val="ffffff"/>
                </a:solidFill>
                <a:latin typeface="Arial"/>
                <a:ea typeface="DejaVu Sans"/>
              </a:rPr>
              <a:t>- It would be unsurprising to discover that the smaller scale models of current Warehouse C have proportionally more packaging than the somewhat larger models currently occupying Warehouse B.</a:t>
            </a:r>
            <a:endParaRPr b="0" lang="en-CA" sz="1800" spc="-1" strike="noStrike">
              <a:solidFill>
                <a:srgbClr val="000000"/>
              </a:solidFill>
              <a:latin typeface="Arial"/>
            </a:endParaRPr>
          </a:p>
          <a:p>
            <a:pPr algn="just">
              <a:lnSpc>
                <a:spcPct val="100000"/>
              </a:lnSpc>
            </a:pPr>
            <a:endParaRPr b="0" lang="en-CA" sz="600" spc="-1" strike="noStrike">
              <a:solidFill>
                <a:srgbClr val="000000"/>
              </a:solidFill>
              <a:latin typeface="Arial"/>
            </a:endParaRPr>
          </a:p>
          <a:p>
            <a:pPr algn="just">
              <a:lnSpc>
                <a:spcPct val="100000"/>
              </a:lnSpc>
            </a:pPr>
            <a:r>
              <a:rPr b="0" lang="en-CA" sz="1800" spc="-1" strike="noStrike">
                <a:solidFill>
                  <a:srgbClr val="ffffff"/>
                </a:solidFill>
                <a:latin typeface="Arial"/>
                <a:ea typeface="DejaVu Sans"/>
              </a:rPr>
              <a:t>- Both Warehouse B and Warehouse C will, in reality, be much larger than the generated volumes which were used to compare warehouse capacities.  Comparing the ratio of (Actual:Estimated) warehouse volume for each warehouse could possibly be used in lieu of ascertaining complete product packaging size information.</a:t>
            </a:r>
            <a:endParaRPr b="0" lang="en-CA"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Rectangle 1"/>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24" name="Rectangle 2"/>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25" name="TextBox 3"/>
          <p:cNvSpPr/>
          <p:nvPr/>
        </p:nvSpPr>
        <p:spPr>
          <a:xfrm>
            <a:off x="640080" y="887400"/>
            <a:ext cx="8777520" cy="9126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5400" spc="-1" strike="noStrike">
                <a:solidFill>
                  <a:srgbClr val="ffffff"/>
                </a:solidFill>
                <a:latin typeface="Arial"/>
                <a:ea typeface="DejaVu Sans"/>
              </a:rPr>
              <a:t>Next Steps:</a:t>
            </a:r>
            <a:endParaRPr b="0" lang="en-CA" sz="5400" spc="-1" strike="noStrike">
              <a:solidFill>
                <a:srgbClr val="000000"/>
              </a:solidFill>
              <a:latin typeface="Arial"/>
            </a:endParaRPr>
          </a:p>
        </p:txBody>
      </p:sp>
      <p:sp>
        <p:nvSpPr>
          <p:cNvPr id="126" name="TextBox 4"/>
          <p:cNvSpPr/>
          <p:nvPr/>
        </p:nvSpPr>
        <p:spPr>
          <a:xfrm>
            <a:off x="640080" y="2286000"/>
            <a:ext cx="8777520" cy="7599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ea typeface="DejaVu Sans"/>
              </a:rPr>
              <a:t>Look into the reasons why some items have incredibly low inventory stock</a:t>
            </a:r>
            <a:endParaRPr b="0" lang="en-CA" sz="2200" spc="-1" strike="noStrike">
              <a:solidFill>
                <a:srgbClr val="000000"/>
              </a:solidFill>
              <a:latin typeface="Arial"/>
            </a:endParaRPr>
          </a:p>
        </p:txBody>
      </p:sp>
      <p:sp>
        <p:nvSpPr>
          <p:cNvPr id="127" name="TextBox 5"/>
          <p:cNvSpPr/>
          <p:nvPr/>
        </p:nvSpPr>
        <p:spPr>
          <a:xfrm>
            <a:off x="1050840" y="3176640"/>
            <a:ext cx="8337600" cy="25128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100" spc="-1" strike="noStrike">
                <a:solidFill>
                  <a:srgbClr val="ffffff"/>
                </a:solidFill>
                <a:latin typeface="Arial"/>
                <a:ea typeface="DejaVu Sans"/>
              </a:rPr>
              <a:t>- Are any of these items no longer available or difficult to acquire from the manufacturer?</a:t>
            </a:r>
            <a:endParaRPr b="0" lang="en-CA" sz="21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100" spc="-1" strike="noStrike">
                <a:solidFill>
                  <a:srgbClr val="ffffff"/>
                </a:solidFill>
                <a:latin typeface="Arial"/>
                <a:ea typeface="DejaVu Sans"/>
              </a:rPr>
              <a:t>- If so, consider dropping those products from the Mint Classics products catalogue.</a:t>
            </a:r>
            <a:endParaRPr b="0" lang="en-CA" sz="2100" spc="-1" strike="noStrike">
              <a:solidFill>
                <a:srgbClr val="000000"/>
              </a:solidFill>
              <a:latin typeface="Arial"/>
            </a:endParaRPr>
          </a:p>
          <a:p>
            <a:pPr>
              <a:lnSpc>
                <a:spcPct val="100000"/>
              </a:lnSpc>
            </a:pPr>
            <a:endParaRPr b="0" lang="en-CA" sz="600" spc="-1" strike="noStrike">
              <a:solidFill>
                <a:srgbClr val="000000"/>
              </a:solidFill>
              <a:latin typeface="Arial"/>
            </a:endParaRPr>
          </a:p>
          <a:p>
            <a:pPr>
              <a:lnSpc>
                <a:spcPct val="100000"/>
              </a:lnSpc>
            </a:pPr>
            <a:r>
              <a:rPr b="0" lang="en-CA" sz="2100" spc="-1" strike="noStrike">
                <a:solidFill>
                  <a:srgbClr val="ffffff"/>
                </a:solidFill>
                <a:latin typeface="Arial"/>
                <a:ea typeface="DejaVu Sans"/>
              </a:rPr>
              <a:t>- This method could be useful in warehouse reorganization. More storage volume might be achieved from the same square footage with less individual product codes to keep organized and accessible.</a:t>
            </a:r>
            <a:endParaRPr b="0" lang="en-CA" sz="2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Rectangle 26"/>
          <p:cNvSpPr/>
          <p:nvPr/>
        </p:nvSpPr>
        <p:spPr>
          <a:xfrm>
            <a:off x="640080" y="685800"/>
            <a:ext cx="8777520" cy="13708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129" name="Rectangle 27"/>
          <p:cNvSpPr/>
          <p:nvPr/>
        </p:nvSpPr>
        <p:spPr>
          <a:xfrm>
            <a:off x="640080" y="2286000"/>
            <a:ext cx="8777520" cy="41140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130" name="TextBox 29"/>
          <p:cNvSpPr/>
          <p:nvPr/>
        </p:nvSpPr>
        <p:spPr>
          <a:xfrm>
            <a:off x="640080" y="887400"/>
            <a:ext cx="8777520" cy="9126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5400" spc="-1" strike="noStrike">
                <a:solidFill>
                  <a:srgbClr val="ffffff"/>
                </a:solidFill>
                <a:latin typeface="Arial"/>
                <a:ea typeface="DejaVu Sans"/>
              </a:rPr>
              <a:t>Next Steps:</a:t>
            </a:r>
            <a:endParaRPr b="0" lang="en-CA" sz="5400" spc="-1" strike="noStrike">
              <a:solidFill>
                <a:srgbClr val="000000"/>
              </a:solidFill>
              <a:latin typeface="Arial"/>
            </a:endParaRPr>
          </a:p>
        </p:txBody>
      </p:sp>
      <p:sp>
        <p:nvSpPr>
          <p:cNvPr id="131" name="TextBox 30"/>
          <p:cNvSpPr/>
          <p:nvPr/>
        </p:nvSpPr>
        <p:spPr>
          <a:xfrm>
            <a:off x="604080" y="2322000"/>
            <a:ext cx="8777520" cy="7599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nSpc>
                <a:spcPct val="100000"/>
              </a:lnSpc>
            </a:pPr>
            <a:r>
              <a:rPr b="0" lang="en-CA" sz="2200" spc="-1" strike="noStrike">
                <a:solidFill>
                  <a:srgbClr val="ffffff"/>
                </a:solidFill>
                <a:latin typeface="Arial"/>
                <a:ea typeface="DejaVu Sans"/>
              </a:rPr>
              <a:t>Consider the ability to handle the logistics of increased shipping from Warehouse B</a:t>
            </a:r>
            <a:endParaRPr b="0" lang="en-CA" sz="2200" spc="-1" strike="noStrike">
              <a:solidFill>
                <a:srgbClr val="000000"/>
              </a:solidFill>
              <a:latin typeface="Arial"/>
            </a:endParaRPr>
          </a:p>
        </p:txBody>
      </p:sp>
      <p:sp>
        <p:nvSpPr>
          <p:cNvPr id="132" name="TextBox 31"/>
          <p:cNvSpPr/>
          <p:nvPr/>
        </p:nvSpPr>
        <p:spPr>
          <a:xfrm>
            <a:off x="1044000" y="3139200"/>
            <a:ext cx="8099640" cy="301680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just">
              <a:lnSpc>
                <a:spcPct val="100000"/>
              </a:lnSpc>
            </a:pPr>
            <a:r>
              <a:rPr b="0" lang="en-CA" sz="2000" spc="-1" strike="noStrike">
                <a:solidFill>
                  <a:srgbClr val="ffffff"/>
                </a:solidFill>
                <a:latin typeface="Arial"/>
                <a:ea typeface="DejaVu Sans"/>
              </a:rPr>
              <a:t>- At the outset of this analysis, Mint Classics expressed an interest in being able to ship products within 24 hours of receiving a purchase order.</a:t>
            </a:r>
            <a:endParaRPr b="0" lang="en-CA" sz="2000" spc="-1" strike="noStrike">
              <a:solidFill>
                <a:srgbClr val="000000"/>
              </a:solidFill>
              <a:latin typeface="Arial"/>
            </a:endParaRPr>
          </a:p>
          <a:p>
            <a:pPr algn="just">
              <a:lnSpc>
                <a:spcPct val="100000"/>
              </a:lnSpc>
            </a:pPr>
            <a:endParaRPr b="0" lang="en-CA" sz="600" spc="-1" strike="noStrike">
              <a:solidFill>
                <a:srgbClr val="000000"/>
              </a:solidFill>
              <a:latin typeface="Arial"/>
            </a:endParaRPr>
          </a:p>
          <a:p>
            <a:pPr algn="just">
              <a:lnSpc>
                <a:spcPct val="100000"/>
              </a:lnSpc>
            </a:pPr>
            <a:r>
              <a:rPr b="0" lang="en-CA" sz="2000" spc="-1" strike="noStrike">
                <a:solidFill>
                  <a:srgbClr val="ffffff"/>
                </a:solidFill>
                <a:latin typeface="Arial"/>
                <a:ea typeface="DejaVu Sans"/>
              </a:rPr>
              <a:t>- The warehouse to which the inventory of the proposed closure would be moved has a higher proportion of 2-3 day delays than the other warehouses.</a:t>
            </a:r>
            <a:endParaRPr b="0" lang="en-CA" sz="2000" spc="-1" strike="noStrike">
              <a:solidFill>
                <a:srgbClr val="000000"/>
              </a:solidFill>
              <a:latin typeface="Arial"/>
            </a:endParaRPr>
          </a:p>
          <a:p>
            <a:pPr algn="just">
              <a:lnSpc>
                <a:spcPct val="100000"/>
              </a:lnSpc>
            </a:pPr>
            <a:endParaRPr b="0" lang="en-CA" sz="600" spc="-1" strike="noStrike">
              <a:solidFill>
                <a:srgbClr val="000000"/>
              </a:solidFill>
              <a:latin typeface="Arial"/>
            </a:endParaRPr>
          </a:p>
          <a:p>
            <a:pPr algn="just">
              <a:lnSpc>
                <a:spcPct val="100000"/>
              </a:lnSpc>
            </a:pPr>
            <a:r>
              <a:rPr b="0" lang="en-CA" sz="2000" spc="-1" strike="noStrike">
                <a:solidFill>
                  <a:srgbClr val="ffffff"/>
                </a:solidFill>
                <a:latin typeface="Arial"/>
                <a:ea typeface="DejaVu Sans"/>
              </a:rPr>
              <a:t>- Condense the existing inventory in Warehouse B creating a completely separate and empty space for the inventory of Warehouse C prior to shutting down Warehouse C.</a:t>
            </a:r>
            <a:endParaRPr b="0" lang="en-CA"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 name="Rectangle 1"/>
          <p:cNvSpPr/>
          <p:nvPr/>
        </p:nvSpPr>
        <p:spPr>
          <a:xfrm>
            <a:off x="640080" y="822960"/>
            <a:ext cx="8777520" cy="50284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CA" sz="1800" spc="-1" strike="noStrike">
              <a:solidFill>
                <a:schemeClr val="lt1"/>
              </a:solidFill>
              <a:latin typeface="Arial"/>
              <a:ea typeface="DejaVu Sans"/>
            </a:endParaRPr>
          </a:p>
        </p:txBody>
      </p:sp>
      <p:sp>
        <p:nvSpPr>
          <p:cNvPr id="134" name="TextBox 22"/>
          <p:cNvSpPr/>
          <p:nvPr/>
        </p:nvSpPr>
        <p:spPr>
          <a:xfrm>
            <a:off x="540000" y="1670040"/>
            <a:ext cx="8777520" cy="264996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4200" spc="-1" strike="noStrike">
                <a:solidFill>
                  <a:srgbClr val="ffffff"/>
                </a:solidFill>
                <a:latin typeface="Arial"/>
                <a:ea typeface="DejaVu Sans"/>
              </a:rPr>
              <a:t>Please feel free to come back with any other more specific questions regarding any aspect of this ongoing project.</a:t>
            </a:r>
            <a:endParaRPr b="0" lang="en-CA" sz="4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 name="Rectangle 19"/>
          <p:cNvSpPr/>
          <p:nvPr/>
        </p:nvSpPr>
        <p:spPr>
          <a:xfrm>
            <a:off x="640080" y="822960"/>
            <a:ext cx="8777520" cy="5028480"/>
          </a:xfrm>
          <a:prstGeom prst="rect">
            <a:avLst/>
          </a:prstGeom>
          <a:solidFill>
            <a:srgbClr val="9b9b9b"/>
          </a:solidFill>
          <a:ln w="31750">
            <a:solidFill>
              <a:srgbClr val="848484"/>
            </a:solidFill>
          </a:ln>
          <a:effectLst>
            <a:outerShdw blurRad="101520" dir="8100000" dist="50402" rotWithShape="0">
              <a:srgbClr val="666666">
                <a:alpha val="6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CA" sz="1800" spc="-1" strike="noStrike">
              <a:solidFill>
                <a:schemeClr val="lt1"/>
              </a:solidFill>
              <a:latin typeface="Arial"/>
              <a:ea typeface="DejaVu Sans"/>
            </a:endParaRPr>
          </a:p>
        </p:txBody>
      </p:sp>
      <p:sp>
        <p:nvSpPr>
          <p:cNvPr id="136" name="TextBox 21"/>
          <p:cNvSpPr/>
          <p:nvPr/>
        </p:nvSpPr>
        <p:spPr>
          <a:xfrm>
            <a:off x="640080" y="2192760"/>
            <a:ext cx="8777520" cy="1918440"/>
          </a:xfrm>
          <a:prstGeom prst="rect">
            <a:avLst/>
          </a:prstGeom>
          <a:noFill/>
          <a:ln w="0">
            <a:noFill/>
          </a:ln>
          <a:effectLst>
            <a:outerShdw blurRad="101520" dir="8100000" dist="50402" rotWithShape="0">
              <a:srgbClr val="666666">
                <a:alpha val="65000"/>
              </a:srgbClr>
            </a:outerShdw>
          </a:effectLst>
        </p:spPr>
        <p:style>
          <a:lnRef idx="0"/>
          <a:fillRef idx="0"/>
          <a:effectRef idx="0"/>
          <a:fontRef idx="minor"/>
        </p:style>
        <p:txBody>
          <a:bodyPr lIns="90000" rIns="90000" tIns="45000" bIns="45000" anchor="t">
            <a:spAutoFit/>
          </a:bodyPr>
          <a:p>
            <a:pPr algn="ctr">
              <a:lnSpc>
                <a:spcPct val="100000"/>
              </a:lnSpc>
            </a:pPr>
            <a:r>
              <a:rPr b="0" lang="en-CA" sz="6000" spc="-1" strike="noStrike">
                <a:solidFill>
                  <a:srgbClr val="ffffff"/>
                </a:solidFill>
                <a:latin typeface="Arial"/>
                <a:ea typeface="DejaVu Sans"/>
              </a:rPr>
              <a:t>Thank You for choosing BCPM Custom Analytics!</a:t>
            </a:r>
            <a:endParaRPr b="0" lang="en-CA" sz="6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118</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2026-10-08T11:54:15Z</dcterms:created>
  <dc:creator/>
  <dc:description/>
  <dc:language>en-CA</dc:language>
  <cp:lastModifiedBy/>
  <dcterms:modified xsi:type="dcterms:W3CDTF">2026-10-21T10:59:04Z</dcterms:modified>
  <cp:revision>55</cp:revision>
  <dc:subject/>
  <dc:title/>
</cp:coreProperties>
</file>

<file path=docProps/custom.xml><?xml version="1.0" encoding="utf-8"?>
<Properties xmlns="http://schemas.openxmlformats.org/officeDocument/2006/custom-properties" xmlns:vt="http://schemas.openxmlformats.org/officeDocument/2006/docPropsVTypes"/>
</file>