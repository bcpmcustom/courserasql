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pPr indent="0" algn="ctr">
              <a:buNone/>
            </a:pPr>
            <a:endParaRPr b="0" lang="en-CA" sz="5860" spc="-1" strike="noStrike">
              <a:solidFill>
                <a:srgbClr val="ffffff"/>
              </a:solidFill>
              <a:latin typeface="Arial"/>
            </a:endParaRPr>
          </a:p>
        </p:txBody>
      </p:sp>
      <p:sp>
        <p:nvSpPr>
          <p:cNvPr id="7" name="PlaceHolder 2"/>
          <p:cNvSpPr>
            <a:spLocks noGrp="1"/>
          </p:cNvSpPr>
          <p:nvPr>
            <p:ph type="subTitle"/>
          </p:nvPr>
        </p:nvSpPr>
        <p:spPr>
          <a:xfrm>
            <a:off x="504000" y="1768680"/>
            <a:ext cx="9071640" cy="4384440"/>
          </a:xfrm>
          <a:prstGeom prst="rect">
            <a:avLst/>
          </a:prstGeom>
          <a:noFill/>
          <a:ln w="0">
            <a:noFill/>
          </a:ln>
        </p:spPr>
        <p:txBody>
          <a:bodyPr lIns="0" rIns="0" tIns="0" bIns="0" anchor="ctr">
            <a:noAutofit/>
          </a:bodyPr>
          <a:p>
            <a:pPr indent="0" algn="ctr">
              <a:buNone/>
            </a:pPr>
            <a:endParaRPr b="0" lang="en-CA"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8F6E903-68F0-47D2-97FC-67E9FDB613C3}" type="slidenum">
              <a:t>&lt;#&gt;</a:t>
            </a:fld>
          </a:p>
        </p:txBody>
      </p:sp>
      <p:sp>
        <p:nvSpPr>
          <p:cNvPr id="6" name="PlaceHolder 5"/>
          <p:cNvSpPr>
            <a:spLocks noGrp="1"/>
          </p:cNvSpPr>
          <p:nvPr>
            <p:ph type="dt" idx="1"/>
          </p:nvPr>
        </p:nvSpPr>
        <p:spPr/>
        <p:txBody>
          <a:bodyPr/>
          <a:p>
            <a:r>
              <a:rPr lang="en-CA"/>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9000">
              <a:srgbClr val="c2c2c2"/>
            </a:gs>
            <a:gs pos="100000">
              <a:srgbClr val="666666"/>
            </a:gs>
          </a:gsLst>
          <a:lin ang="14160000"/>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pPr indent="0" algn="ctr">
              <a:buNone/>
            </a:pPr>
            <a:r>
              <a:rPr b="0" lang="en-CA" sz="5860" spc="-1" strike="noStrike">
                <a:solidFill>
                  <a:srgbClr val="ffffff"/>
                </a:solidFill>
                <a:latin typeface="Arial"/>
              </a:rPr>
              <a:t>Click to edit the title text format</a:t>
            </a:r>
            <a:endParaRPr b="0" lang="en-CA" sz="5860" spc="-1" strike="noStrike">
              <a:solidFill>
                <a:srgbClr val="ffffff"/>
              </a:solidFill>
              <a:latin typeface="Arial"/>
            </a:endParaRPr>
          </a:p>
        </p:txBody>
      </p:sp>
      <p:sp>
        <p:nvSpPr>
          <p:cNvPr id="1" name="PlaceHolder 2"/>
          <p:cNvSpPr>
            <a:spLocks noGrp="1"/>
          </p:cNvSpPr>
          <p:nvPr>
            <p:ph type="body"/>
          </p:nvPr>
        </p:nvSpPr>
        <p:spPr>
          <a:xfrm>
            <a:off x="504000" y="1768680"/>
            <a:ext cx="9071640" cy="4384440"/>
          </a:xfrm>
          <a:prstGeom prst="rect">
            <a:avLst/>
          </a:prstGeom>
          <a:noFill/>
          <a:ln w="0">
            <a:noFill/>
          </a:ln>
        </p:spPr>
        <p:txBody>
          <a:bodyPr lIns="0" rIns="0" tIns="0" bIns="0" anchor="t">
            <a:normAutofit/>
          </a:bodyPr>
          <a:p>
            <a:pPr marL="432000" indent="-324000">
              <a:spcBef>
                <a:spcPts val="1888"/>
              </a:spcBef>
              <a:buClr>
                <a:srgbClr val="ffffff"/>
              </a:buClr>
              <a:buSzPct val="45000"/>
              <a:buFont typeface="Wingdings" charset="2"/>
              <a:buChar char=""/>
            </a:pPr>
            <a:r>
              <a:rPr b="0" lang="en-CA" sz="4270" spc="-1" strike="noStrike">
                <a:solidFill>
                  <a:srgbClr val="ffffff"/>
                </a:solidFill>
                <a:latin typeface="Arial"/>
              </a:rPr>
              <a:t>Click to edit the outline text format</a:t>
            </a:r>
            <a:endParaRPr b="0" lang="en-CA" sz="4270" spc="-1" strike="noStrike">
              <a:solidFill>
                <a:srgbClr val="ffffff"/>
              </a:solidFill>
              <a:latin typeface="Arial"/>
            </a:endParaRPr>
          </a:p>
          <a:p>
            <a:pPr lvl="1" marL="864000" indent="-324000">
              <a:spcBef>
                <a:spcPts val="1511"/>
              </a:spcBef>
              <a:buClr>
                <a:srgbClr val="ffffff"/>
              </a:buClr>
              <a:buSzPct val="75000"/>
              <a:buFont typeface="Symbol" charset="2"/>
              <a:buChar char=""/>
            </a:pPr>
            <a:r>
              <a:rPr b="0" lang="en-CA" sz="3730" spc="-1" strike="noStrike">
                <a:solidFill>
                  <a:srgbClr val="ffffff"/>
                </a:solidFill>
                <a:latin typeface="Arial"/>
              </a:rPr>
              <a:t>Second Outline Level</a:t>
            </a:r>
            <a:endParaRPr b="0" lang="en-CA" sz="3730" spc="-1" strike="noStrike">
              <a:solidFill>
                <a:srgbClr val="ffffff"/>
              </a:solidFill>
              <a:latin typeface="Arial"/>
            </a:endParaRPr>
          </a:p>
          <a:p>
            <a:pPr lvl="2" marL="1296000" indent="-288000">
              <a:spcBef>
                <a:spcPts val="1131"/>
              </a:spcBef>
              <a:buClr>
                <a:srgbClr val="ffffff"/>
              </a:buClr>
              <a:buSzPct val="45000"/>
              <a:buFont typeface="Wingdings" charset="2"/>
              <a:buChar char=""/>
            </a:pPr>
            <a:r>
              <a:rPr b="0" lang="en-CA" sz="3200" spc="-1" strike="noStrike">
                <a:solidFill>
                  <a:srgbClr val="ffffff"/>
                </a:solidFill>
                <a:latin typeface="Arial"/>
              </a:rPr>
              <a:t>Third Outline Level</a:t>
            </a:r>
            <a:endParaRPr b="0" lang="en-CA" sz="3200" spc="-1" strike="noStrike">
              <a:solidFill>
                <a:srgbClr val="ffffff"/>
              </a:solidFill>
              <a:latin typeface="Arial"/>
            </a:endParaRPr>
          </a:p>
          <a:p>
            <a:pPr lvl="3" marL="1728000" indent="-216000">
              <a:spcBef>
                <a:spcPts val="754"/>
              </a:spcBef>
              <a:buClr>
                <a:srgbClr val="ffffff"/>
              </a:buClr>
              <a:buSzPct val="75000"/>
              <a:buFont typeface="Symbol" charset="2"/>
              <a:buChar char=""/>
            </a:pPr>
            <a:r>
              <a:rPr b="0" lang="en-CA" sz="2670" spc="-1" strike="noStrike">
                <a:solidFill>
                  <a:srgbClr val="ffffff"/>
                </a:solidFill>
                <a:latin typeface="Arial"/>
              </a:rPr>
              <a:t>Fourth Outline Level</a:t>
            </a:r>
            <a:endParaRPr b="0" lang="en-CA" sz="2670" spc="-1" strike="noStrike">
              <a:solidFill>
                <a:srgbClr val="ffffff"/>
              </a:solidFill>
              <a:latin typeface="Arial"/>
            </a:endParaRPr>
          </a:p>
          <a:p>
            <a:pPr lvl="4" marL="2160000" indent="-216000">
              <a:spcBef>
                <a:spcPts val="377"/>
              </a:spcBef>
              <a:buClr>
                <a:srgbClr val="ffffff"/>
              </a:buClr>
              <a:buSzPct val="45000"/>
              <a:buFont typeface="Wingdings" charset="2"/>
              <a:buChar char=""/>
            </a:pPr>
            <a:r>
              <a:rPr b="0" lang="en-CA" sz="2670" spc="-1" strike="noStrike">
                <a:solidFill>
                  <a:srgbClr val="ffffff"/>
                </a:solidFill>
                <a:latin typeface="Arial"/>
              </a:rPr>
              <a:t>Fifth Outline Level</a:t>
            </a:r>
            <a:endParaRPr b="0" lang="en-CA" sz="2670" spc="-1" strike="noStrike">
              <a:solidFill>
                <a:srgbClr val="ffffff"/>
              </a:solidFill>
              <a:latin typeface="Arial"/>
            </a:endParaRPr>
          </a:p>
          <a:p>
            <a:pPr lvl="5" marL="2592000" indent="-216000">
              <a:spcBef>
                <a:spcPts val="377"/>
              </a:spcBef>
              <a:buClr>
                <a:srgbClr val="ffffff"/>
              </a:buClr>
              <a:buSzPct val="45000"/>
              <a:buFont typeface="Wingdings" charset="2"/>
              <a:buChar char=""/>
            </a:pPr>
            <a:r>
              <a:rPr b="0" lang="en-CA" sz="2670" spc="-1" strike="noStrike">
                <a:solidFill>
                  <a:srgbClr val="ffffff"/>
                </a:solidFill>
                <a:latin typeface="Arial"/>
              </a:rPr>
              <a:t>Sixth Outline Level</a:t>
            </a:r>
            <a:endParaRPr b="0" lang="en-CA" sz="2670" spc="-1" strike="noStrike">
              <a:solidFill>
                <a:srgbClr val="ffffff"/>
              </a:solidFill>
              <a:latin typeface="Arial"/>
            </a:endParaRPr>
          </a:p>
          <a:p>
            <a:pPr lvl="6" marL="3024000" indent="-216000">
              <a:spcBef>
                <a:spcPts val="377"/>
              </a:spcBef>
              <a:buClr>
                <a:srgbClr val="ffffff"/>
              </a:buClr>
              <a:buSzPct val="45000"/>
              <a:buFont typeface="Wingdings" charset="2"/>
              <a:buChar char=""/>
            </a:pPr>
            <a:r>
              <a:rPr b="0" lang="en-CA" sz="2670" spc="-1" strike="noStrike">
                <a:solidFill>
                  <a:srgbClr val="ffffff"/>
                </a:solidFill>
                <a:latin typeface="Arial"/>
              </a:rPr>
              <a:t>Seventh Outline Level</a:t>
            </a:r>
            <a:endParaRPr b="0" lang="en-CA" sz="2670" spc="-1" strike="noStrike">
              <a:solidFill>
                <a:srgbClr val="ffffff"/>
              </a:solidFill>
              <a:latin typeface="Arial"/>
            </a:endParaRPr>
          </a:p>
        </p:txBody>
      </p:sp>
      <p:sp>
        <p:nvSpPr>
          <p:cNvPr id="2" name="PlaceHolder 3"/>
          <p:cNvSpPr>
            <a:spLocks noGrp="1"/>
          </p:cNvSpPr>
          <p:nvPr>
            <p:ph type="dt" idx="1"/>
          </p:nvPr>
        </p:nvSpPr>
        <p:spPr>
          <a:xfrm>
            <a:off x="504000" y="6886800"/>
            <a:ext cx="2348280" cy="520920"/>
          </a:xfrm>
          <a:prstGeom prst="rect">
            <a:avLst/>
          </a:prstGeom>
          <a:noFill/>
          <a:ln w="0">
            <a:noFill/>
          </a:ln>
        </p:spPr>
        <p:txBody>
          <a:bodyPr lIns="0" rIns="0" tIns="0" bIns="0" anchor="t">
            <a:noAutofit/>
          </a:bodyPr>
          <a:lstStyle>
            <a:lvl1pPr indent="0">
              <a:buNone/>
              <a:defRPr b="0" lang="en-CA" sz="1400" spc="-1" strike="noStrike">
                <a:solidFill>
                  <a:srgbClr val="ffffff"/>
                </a:solidFill>
                <a:latin typeface="Times New Roman"/>
              </a:defRPr>
            </a:lvl1pPr>
          </a:lstStyle>
          <a:p>
            <a:pPr indent="0">
              <a:buNone/>
            </a:pPr>
            <a:r>
              <a:rPr b="0" lang="en-CA" sz="1400" spc="-1" strike="noStrike">
                <a:solidFill>
                  <a:srgbClr val="ffffff"/>
                </a:solidFill>
                <a:latin typeface="Times New Roman"/>
              </a:rPr>
              <a:t>&lt;date/time&gt;</a:t>
            </a:r>
            <a:endParaRPr b="0" lang="en-CA" sz="1400" spc="-1" strike="noStrike">
              <a:solidFill>
                <a:srgbClr val="ffffff"/>
              </a:solidFill>
              <a:latin typeface="Times New Roman"/>
            </a:endParaRPr>
          </a:p>
        </p:txBody>
      </p:sp>
      <p:sp>
        <p:nvSpPr>
          <p:cNvPr id="3" name="PlaceHolder 4"/>
          <p:cNvSpPr>
            <a:spLocks noGrp="1"/>
          </p:cNvSpPr>
          <p:nvPr>
            <p:ph type="ftr" idx="2"/>
          </p:nvPr>
        </p:nvSpPr>
        <p:spPr>
          <a:xfrm>
            <a:off x="3447360" y="6886800"/>
            <a:ext cx="3195000" cy="520920"/>
          </a:xfrm>
          <a:prstGeom prst="rect">
            <a:avLst/>
          </a:prstGeom>
          <a:noFill/>
          <a:ln w="0">
            <a:noFill/>
          </a:ln>
        </p:spPr>
        <p:txBody>
          <a:bodyPr lIns="0" rIns="0" tIns="0" bIns="0" anchor="t">
            <a:noAutofit/>
          </a:bodyPr>
          <a:lstStyle>
            <a:lvl1pPr indent="0" algn="ctr">
              <a:buNone/>
              <a:defRPr b="0" lang="en-CA" sz="1400" spc="-1" strike="noStrike">
                <a:solidFill>
                  <a:srgbClr val="ffffff"/>
                </a:solidFill>
                <a:latin typeface="Times New Roman"/>
              </a:defRPr>
            </a:lvl1pPr>
          </a:lstStyle>
          <a:p>
            <a:pPr indent="0" algn="ctr">
              <a:buNone/>
            </a:pPr>
            <a:r>
              <a:rPr b="0" lang="en-CA" sz="1400" spc="-1" strike="noStrike">
                <a:solidFill>
                  <a:srgbClr val="ffffff"/>
                </a:solidFill>
                <a:latin typeface="Times New Roman"/>
              </a:rPr>
              <a:t>&lt;footer&gt;</a:t>
            </a:r>
            <a:endParaRPr b="0" lang="en-CA" sz="1400" spc="-1" strike="noStrike">
              <a:solidFill>
                <a:srgbClr val="ffffff"/>
              </a:solidFill>
              <a:latin typeface="Times New Roman"/>
            </a:endParaRPr>
          </a:p>
        </p:txBody>
      </p:sp>
      <p:sp>
        <p:nvSpPr>
          <p:cNvPr id="4" name="PlaceHolder 5"/>
          <p:cNvSpPr>
            <a:spLocks noGrp="1"/>
          </p:cNvSpPr>
          <p:nvPr>
            <p:ph type="sldNum" idx="3"/>
          </p:nvPr>
        </p:nvSpPr>
        <p:spPr>
          <a:xfrm>
            <a:off x="7227360" y="6886800"/>
            <a:ext cx="2348280" cy="520920"/>
          </a:xfrm>
          <a:prstGeom prst="rect">
            <a:avLst/>
          </a:prstGeom>
          <a:noFill/>
          <a:ln w="0">
            <a:noFill/>
          </a:ln>
        </p:spPr>
        <p:txBody>
          <a:bodyPr lIns="0" rIns="0" tIns="0" bIns="0" anchor="t">
            <a:noAutofit/>
          </a:bodyPr>
          <a:lstStyle>
            <a:lvl1pPr indent="0" algn="r">
              <a:buNone/>
              <a:defRPr b="0" lang="en-CA" sz="1400" spc="-1" strike="noStrike">
                <a:solidFill>
                  <a:srgbClr val="ffffff"/>
                </a:solidFill>
                <a:latin typeface="Times New Roman"/>
              </a:defRPr>
            </a:lvl1pPr>
          </a:lstStyle>
          <a:p>
            <a:pPr indent="0" algn="r">
              <a:buNone/>
            </a:pPr>
            <a:fld id="{A210F2F7-BB75-45C5-9561-59209842C42C}" type="slidenum">
              <a:rPr b="0" lang="en-CA" sz="1400" spc="-1" strike="noStrike">
                <a:solidFill>
                  <a:srgbClr val="ffffff"/>
                </a:solidFill>
                <a:latin typeface="Times New Roman"/>
              </a:rPr>
              <a:t>&lt;number&gt;</a:t>
            </a:fld>
            <a:endParaRPr b="0" lang="en-CA" sz="1400" spc="-1" strike="noStrike">
              <a:solidFill>
                <a:srgbClr val="ffffff"/>
              </a:solidFill>
              <a:latin typeface="Times New Roman"/>
            </a:endParaRPr>
          </a:p>
        </p:txBody>
      </p:sp>
      <p:pic>
        <p:nvPicPr>
          <p:cNvPr id="5" name="" descr=""/>
          <p:cNvPicPr/>
          <p:nvPr/>
        </p:nvPicPr>
        <p:blipFill>
          <a:blip r:embed="rId2"/>
          <a:stretch/>
        </p:blipFill>
        <p:spPr>
          <a:xfrm>
            <a:off x="8834400" y="6660000"/>
            <a:ext cx="902880" cy="5400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1640" cy="1261800"/>
          </a:xfrm>
          <a:prstGeom prst="rect">
            <a:avLst/>
          </a:prstGeom>
          <a:noFill/>
          <a:ln w="0">
            <a:noFill/>
          </a:ln>
        </p:spPr>
        <p:txBody>
          <a:bodyPr lIns="0" rIns="0" tIns="0" bIns="0" anchor="ctr">
            <a:noAutofit/>
          </a:bodyPr>
          <a:p>
            <a:r>
              <a:t>MintClassics Warehouse Elimination Study</a:t>
            </a:r>
          </a:p>
        </p:txBody>
      </p:sp>
      <p:sp>
        <p:nvSpPr>
          <p:cNvPr id="9" name="PlaceHolder 2"/>
          <p:cNvSpPr>
            <a:spLocks noGrp="1"/>
          </p:cNvSpPr>
          <p:nvPr>
            <p:ph type="subTitle"/>
          </p:nvPr>
        </p:nvSpPr>
        <p:spPr>
          <a:xfrm>
            <a:off x="504000" y="1768680"/>
            <a:ext cx="9071640" cy="4384440"/>
          </a:xfrm>
          <a:prstGeom prst="rect">
            <a:avLst/>
          </a:prstGeom>
          <a:noFill/>
          <a:ln w="0">
            <a:noFill/>
          </a:ln>
        </p:spPr>
        <p:txBody>
          <a:bodyPr lIns="0" rIns="0" tIns="0" bIns="0" anchor="ctr">
            <a:noAutofit/>
          </a:bodyPr>
          <a:p>
            <a:pPr indent="0" algn="ctr">
              <a:buNone/>
            </a:pPr>
            <a:endParaRPr b="0" lang="en-CA" sz="42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Initial inspection of stock on hand by warehouse location</a:t>
            </a:r>
          </a:p>
          <a:p>
            <a:r>
              <a:t>The first thing to check is the distribution of product stock according to which warehouse location the stock is being stored.</a:t>
            </a:r>
          </a:p>
          <a:p>
            <a:r>
              <a:t>The majority of product stock is stored in Warehouse A.</a:t>
            </a:r>
          </a:p>
          <a:p>
            <a:r>
              <a:t>The cost of the stock in Warehouse A is comparatively higher than the cost of the stock stored in any of the other warehouses as demonstrated by the 'Investment Value' being 6% higher than the 'Stock Quantity'</a:t>
            </a:r>
          </a:p>
        </p:txBody>
      </p:sp>
      <p:sp>
        <p:nvSpPr>
          <p:cNvPr id="3" name="Subtitle 2"/>
          <p:cNvSpPr>
            <a:spLocks noGrp="1"/>
          </p:cNvSpPr>
          <p:nvPr>
            <p:ph type="subTitle"/>
          </p:nvPr>
        </p:nvSpPr>
        <p:spPr/>
        <p:txBody>
          <a:bodyPr/>
          <a:lstStyle/>
          <a:p/>
        </p:txBody>
      </p:sp>
      <p:pic>
        <p:nvPicPr>
          <p:cNvPr id="4" name="Picture 3" descr="table_0.png"/>
          <p:cNvPicPr>
            <a:picLocks noChangeAspect="1"/>
          </p:cNvPicPr>
          <p:nvPr/>
        </p:nvPicPr>
        <p:blipFill>
          <a:blip r:embed="rId2"/>
          <a:stretch>
            <a:fillRect/>
          </a:stretch>
        </p:blipFill>
        <p:spPr>
          <a:xfrm>
            <a:off x="914400" y="914400"/>
            <a:ext cx="7411212" cy="3561588"/>
          </a:xfrm>
          <a:prstGeom prst="rect">
            <a:avLst/>
          </a:prstGeom>
        </p:spPr>
      </p:pic>
      <p:pic>
        <p:nvPicPr>
          <p:cNvPr id="5" name="Picture 4" descr="output_9_0.png"/>
          <p:cNvPicPr>
            <a:picLocks noChangeAspect="1"/>
          </p:cNvPicPr>
          <p:nvPr/>
        </p:nvPicPr>
        <p:blipFill>
          <a:blip r:embed="rId3"/>
          <a:stretch>
            <a:fillRect/>
          </a:stretch>
        </p:blipFill>
        <p:spPr>
          <a:xfrm>
            <a:off x="914400" y="914400"/>
            <a:ext cx="14648688" cy="595274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Customer Locations</a:t>
            </a:r>
          </a:p>
          <a:p>
            <a:r>
              <a:t>Where does each warehouse ship it's products?</a:t>
            </a:r>
          </a:p>
          <a:p>
            <a:r>
              <a:t>Does each warehouse service it's own geographic location?</a:t>
            </a:r>
          </a:p>
          <a:p>
            <a:r>
              <a:t>The map shows that each of the four warehouses ship to all customer regions.</a:t>
            </a:r>
          </a:p>
        </p:txBody>
      </p:sp>
      <p:sp>
        <p:nvSpPr>
          <p:cNvPr id="3" name="Subtitle 2"/>
          <p:cNvSpPr>
            <a:spLocks noGrp="1"/>
          </p:cNvSpPr>
          <p:nvPr>
            <p:ph type="subTitle"/>
          </p:nvPr>
        </p:nvSpPr>
        <p:spPr/>
        <p:txBody>
          <a:bodyPr/>
          <a:lstStyle/>
          <a:p/>
        </p:txBody>
      </p:sp>
      <p:pic>
        <p:nvPicPr>
          <p:cNvPr id="4" name="Picture 3" descr="9cd8f22a-1241-4222-9e36-da9f3df30ceb.png"/>
          <p:cNvPicPr>
            <a:picLocks noChangeAspect="1"/>
          </p:cNvPicPr>
          <p:nvPr/>
        </p:nvPicPr>
        <p:blipFill>
          <a:blip r:embed="rId2"/>
          <a:stretch>
            <a:fillRect/>
          </a:stretch>
        </p:blipFill>
        <p:spPr>
          <a:xfrm>
            <a:off x="914400" y="914400"/>
            <a:ext cx="17322800" cy="736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Warehouse Sales &amp; Overhead</a:t>
            </a:r>
          </a:p>
          <a:p>
            <a:r>
              <a:t>What does the overall product overhead look like?</a:t>
            </a:r>
          </a:p>
          <a:p>
            <a:r>
              <a:t>How much overhead investment cost is in each warehouse?</a:t>
            </a:r>
          </a:p>
          <a:p>
            <a:r>
              <a:t>Overall, sales look reasonable across all product codes with no serious problems in terms of extreme poor sales performance.</a:t>
            </a:r>
          </a:p>
          <a:p>
            <a:r>
              <a:t>The amount of inventory for each product code is fairly inconsistent.</a:t>
            </a:r>
          </a:p>
          <a:p>
            <a:r>
              <a:t>Several products show extremely low inventory on hand.</a:t>
            </a:r>
          </a:p>
        </p:txBody>
      </p:sp>
      <p:sp>
        <p:nvSpPr>
          <p:cNvPr id="3" name="Subtitle 2"/>
          <p:cNvSpPr>
            <a:spLocks noGrp="1"/>
          </p:cNvSpPr>
          <p:nvPr>
            <p:ph type="subTitle"/>
          </p:nvPr>
        </p:nvSpPr>
        <p:spPr/>
        <p:txBody>
          <a:bodyPr/>
          <a:lstStyle/>
          <a:p/>
        </p:txBody>
      </p:sp>
      <p:pic>
        <p:nvPicPr>
          <p:cNvPr id="4" name="Picture 3" descr="table_1.png"/>
          <p:cNvPicPr>
            <a:picLocks noChangeAspect="1"/>
          </p:cNvPicPr>
          <p:nvPr/>
        </p:nvPicPr>
        <p:blipFill>
          <a:blip r:embed="rId2"/>
          <a:stretch>
            <a:fillRect/>
          </a:stretch>
        </p:blipFill>
        <p:spPr>
          <a:xfrm>
            <a:off x="914400" y="914400"/>
            <a:ext cx="5312664" cy="3561588"/>
          </a:xfrm>
          <a:prstGeom prst="rect">
            <a:avLst/>
          </a:prstGeom>
        </p:spPr>
      </p:pic>
      <p:pic>
        <p:nvPicPr>
          <p:cNvPr id="5" name="Picture 4" descr="output_18_0.png"/>
          <p:cNvPicPr>
            <a:picLocks noChangeAspect="1"/>
          </p:cNvPicPr>
          <p:nvPr/>
        </p:nvPicPr>
        <p:blipFill>
          <a:blip r:embed="rId3"/>
          <a:stretch>
            <a:fillRect/>
          </a:stretch>
        </p:blipFill>
        <p:spPr>
          <a:xfrm>
            <a:off x="914400" y="914400"/>
            <a:ext cx="9052560" cy="35661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 Products by Warehouse</a:t>
            </a:r>
          </a:p>
          <a:p>
            <a:r>
              <a:t>All warehouses are selling inventory with reasonable distributions.</a:t>
            </a:r>
          </a:p>
          <a:p>
            <a:r>
              <a:t>All warehouses contain some products which appear to contain insufficient stock levels based on previous sales.</a:t>
            </a:r>
          </a:p>
          <a:p>
            <a:r>
              <a:t>Depending on the resons behind the low inventory of certain products it may be advisable to discontinue those particular products.</a:t>
            </a:r>
          </a:p>
        </p:txBody>
      </p:sp>
      <p:sp>
        <p:nvSpPr>
          <p:cNvPr id="3" name="Subtitle 2"/>
          <p:cNvSpPr>
            <a:spLocks noGrp="1"/>
          </p:cNvSpPr>
          <p:nvPr>
            <p:ph type="subTitle"/>
          </p:nvPr>
        </p:nvSpPr>
        <p:spPr/>
        <p:txBody>
          <a:bodyPr/>
          <a:lstStyle/>
          <a:p/>
        </p:txBody>
      </p:sp>
      <p:pic>
        <p:nvPicPr>
          <p:cNvPr id="4" name="Picture 3" descr="table_2.png"/>
          <p:cNvPicPr>
            <a:picLocks noChangeAspect="1"/>
          </p:cNvPicPr>
          <p:nvPr/>
        </p:nvPicPr>
        <p:blipFill>
          <a:blip r:embed="rId2"/>
          <a:stretch>
            <a:fillRect/>
          </a:stretch>
        </p:blipFill>
        <p:spPr>
          <a:xfrm>
            <a:off x="914400" y="914400"/>
            <a:ext cx="7022592" cy="3561588"/>
          </a:xfrm>
          <a:prstGeom prst="rect">
            <a:avLst/>
          </a:prstGeom>
        </p:spPr>
      </p:pic>
      <p:pic>
        <p:nvPicPr>
          <p:cNvPr id="5" name="Picture 4" descr="output_23_0.png"/>
          <p:cNvPicPr>
            <a:picLocks noChangeAspect="1"/>
          </p:cNvPicPr>
          <p:nvPr/>
        </p:nvPicPr>
        <p:blipFill>
          <a:blip r:embed="rId3"/>
          <a:stretch>
            <a:fillRect/>
          </a:stretch>
        </p:blipFill>
        <p:spPr>
          <a:xfrm>
            <a:off x="914400" y="914400"/>
            <a:ext cx="10954512" cy="37764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Low-Stock by Manufacturer</a:t>
            </a:r>
          </a:p>
          <a:p>
            <a:r>
              <a:t>Check for low stock by the current investment in inventory by product code.</a:t>
            </a:r>
          </a:p>
          <a:p>
            <a:r>
              <a:t>Inspect whether there is any correlation between low-stock items and any particular manufacturer.</a:t>
            </a:r>
          </a:p>
          <a:p>
            <a:r>
              <a:t>Seven out of 13 product vendors are represented in the Top10 lowest inventory query.</a:t>
            </a:r>
          </a:p>
        </p:txBody>
      </p:sp>
      <p:sp>
        <p:nvSpPr>
          <p:cNvPr id="3" name="Subtitle 2"/>
          <p:cNvSpPr>
            <a:spLocks noGrp="1"/>
          </p:cNvSpPr>
          <p:nvPr>
            <p:ph type="subTitle"/>
          </p:nvPr>
        </p:nvSpPr>
        <p:spPr/>
        <p:txBody>
          <a:bodyPr/>
          <a:lstStyle/>
          <a:p/>
        </p:txBody>
      </p:sp>
      <p:pic>
        <p:nvPicPr>
          <p:cNvPr id="4" name="Picture 3" descr="table_3.png"/>
          <p:cNvPicPr>
            <a:picLocks noChangeAspect="1"/>
          </p:cNvPicPr>
          <p:nvPr/>
        </p:nvPicPr>
        <p:blipFill>
          <a:blip r:embed="rId2"/>
          <a:stretch>
            <a:fillRect/>
          </a:stretch>
        </p:blipFill>
        <p:spPr>
          <a:xfrm>
            <a:off x="914400" y="914400"/>
            <a:ext cx="6021324" cy="356158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Reinspect the Overhead Graphs Sorted by Product Vendor</a:t>
            </a:r>
          </a:p>
          <a:p>
            <a:r>
              <a:t>Clearly now, issues regarding low-stock inventory are with respect to individual products and not the fault of any single suppier.</a:t>
            </a:r>
          </a:p>
          <a:p>
            <a:r>
              <a:t>Low stock levels are not directly correlated to high sales volumes in most cases.</a:t>
            </a:r>
          </a:p>
          <a:p>
            <a:r>
              <a:t>The dataset lacks the necessary product supply information required to investigate any further at this time.</a:t>
            </a:r>
          </a:p>
        </p:txBody>
      </p:sp>
      <p:sp>
        <p:nvSpPr>
          <p:cNvPr id="3" name="Subtitle 2"/>
          <p:cNvSpPr>
            <a:spLocks noGrp="1"/>
          </p:cNvSpPr>
          <p:nvPr>
            <p:ph type="subTitle"/>
          </p:nvPr>
        </p:nvSpPr>
        <p:spPr/>
        <p:txBody>
          <a:bodyPr/>
          <a:lstStyle/>
          <a:p/>
        </p:txBody>
      </p:sp>
      <p:pic>
        <p:nvPicPr>
          <p:cNvPr id="4" name="Picture 3" descr="output_30_0.png"/>
          <p:cNvPicPr>
            <a:picLocks noChangeAspect="1"/>
          </p:cNvPicPr>
          <p:nvPr/>
        </p:nvPicPr>
        <p:blipFill>
          <a:blip r:embed="rId2"/>
          <a:stretch>
            <a:fillRect/>
          </a:stretch>
        </p:blipFill>
        <p:spPr>
          <a:xfrm>
            <a:off x="914400" y="914400"/>
            <a:ext cx="11000232" cy="56418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Warehouse Volumes</a:t>
            </a:r>
          </a:p>
          <a:p>
            <a:r>
              <a:t>Actual packaging volume information was not available.</a:t>
            </a:r>
          </a:p>
          <a:p>
            <a:r>
              <a:t>A list of the approximate product volumes has been generated based on product names and scale for the purpose of analysis.</a:t>
            </a:r>
          </a:p>
          <a:p>
            <a:r>
              <a:t>The largest warehouse, Warehouse B, shows enough space remaining to hold the stock from either Warehouse C or Warehouse D.</a:t>
            </a:r>
          </a:p>
          <a:p>
            <a:r>
              <a:t>Considering that Warehouse C is half-empty, this may a good candidate for closure.</a:t>
            </a:r>
          </a:p>
          <a:p>
            <a:r>
              <a:t>It can be seen that the large warehouse "B" contains only 'Classic Cars'.</a:t>
            </a:r>
          </a:p>
          <a:p>
            <a:r>
              <a:t>The warehouse which is a candidate for closure, "C", contains only 'Vintage Cars'.</a:t>
            </a:r>
          </a:p>
          <a:p>
            <a:r>
              <a:t>Merging the contents of warehouses B and C would allow for the full stock of 'Cars' to be housed in a single location.</a:t>
            </a:r>
          </a:p>
        </p:txBody>
      </p:sp>
      <p:sp>
        <p:nvSpPr>
          <p:cNvPr id="3" name="Subtitle 2"/>
          <p:cNvSpPr>
            <a:spLocks noGrp="1"/>
          </p:cNvSpPr>
          <p:nvPr>
            <p:ph type="subTitle"/>
          </p:nvPr>
        </p:nvSpPr>
        <p:spPr/>
        <p:txBody>
          <a:bodyPr/>
          <a:lstStyle/>
          <a:p/>
        </p:txBody>
      </p:sp>
      <p:pic>
        <p:nvPicPr>
          <p:cNvPr id="4" name="Picture 3" descr="table_4.png"/>
          <p:cNvPicPr>
            <a:picLocks noChangeAspect="1"/>
          </p:cNvPicPr>
          <p:nvPr/>
        </p:nvPicPr>
        <p:blipFill>
          <a:blip r:embed="rId2"/>
          <a:stretch>
            <a:fillRect/>
          </a:stretch>
        </p:blipFill>
        <p:spPr>
          <a:xfrm>
            <a:off x="914400" y="914400"/>
            <a:ext cx="7059168" cy="3561588"/>
          </a:xfrm>
          <a:prstGeom prst="rect">
            <a:avLst/>
          </a:prstGeom>
        </p:spPr>
      </p:pic>
      <p:pic>
        <p:nvPicPr>
          <p:cNvPr id="5" name="Picture 4" descr="output_35_0.png"/>
          <p:cNvPicPr>
            <a:picLocks noChangeAspect="1"/>
          </p:cNvPicPr>
          <p:nvPr/>
        </p:nvPicPr>
        <p:blipFill>
          <a:blip r:embed="rId3"/>
          <a:stretch>
            <a:fillRect/>
          </a:stretch>
        </p:blipFill>
        <p:spPr>
          <a:xfrm>
            <a:off x="914400" y="914400"/>
            <a:ext cx="9052560" cy="4480560"/>
          </a:xfrm>
          <a:prstGeom prst="rect">
            <a:avLst/>
          </a:prstGeom>
        </p:spPr>
      </p:pic>
      <p:pic>
        <p:nvPicPr>
          <p:cNvPr id="6" name="Picture 5" descr="table_5.png"/>
          <p:cNvPicPr>
            <a:picLocks noChangeAspect="1"/>
          </p:cNvPicPr>
          <p:nvPr/>
        </p:nvPicPr>
        <p:blipFill>
          <a:blip r:embed="rId4"/>
          <a:stretch>
            <a:fillRect/>
          </a:stretch>
        </p:blipFill>
        <p:spPr>
          <a:xfrm>
            <a:off x="914400" y="914400"/>
            <a:ext cx="6752844" cy="356158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 into Warehouse Shipping Efficiency</a:t>
            </a:r>
          </a:p>
          <a:p>
            <a:r>
              <a:t>Check the amount of time each warehouse requires to ship an order.</a:t>
            </a:r>
          </a:p>
          <a:p>
            <a:r>
              <a:t>Look for shipping delays from each warehouse.</a:t>
            </a:r>
          </a:p>
          <a:p>
            <a:r>
              <a:t>Determine if shipping delays are incidental or a systemic issue.</a:t>
            </a:r>
          </a:p>
        </p:txBody>
      </p:sp>
      <p:sp>
        <p:nvSpPr>
          <p:cNvPr id="3" name="Subtitle 2"/>
          <p:cNvSpPr>
            <a:spLocks noGrp="1"/>
          </p:cNvSpPr>
          <p:nvPr>
            <p:ph type="subTitle"/>
          </p:nvPr>
        </p:nvSpPr>
        <p:spPr/>
        <p:txBody>
          <a:bodyPr/>
          <a:lstStyle/>
          <a:p/>
        </p:txBody>
      </p:sp>
      <p:pic>
        <p:nvPicPr>
          <p:cNvPr id="4" name="Picture 3" descr="table_6.png"/>
          <p:cNvPicPr>
            <a:picLocks noChangeAspect="1"/>
          </p:cNvPicPr>
          <p:nvPr/>
        </p:nvPicPr>
        <p:blipFill>
          <a:blip r:embed="rId2"/>
          <a:stretch>
            <a:fillRect/>
          </a:stretch>
        </p:blipFill>
        <p:spPr>
          <a:xfrm>
            <a:off x="914400" y="914400"/>
            <a:ext cx="10040112" cy="3561588"/>
          </a:xfrm>
          <a:prstGeom prst="rect">
            <a:avLst/>
          </a:prstGeom>
        </p:spPr>
      </p:pic>
      <p:pic>
        <p:nvPicPr>
          <p:cNvPr id="5" name="Picture 4" descr="output_43_0.png"/>
          <p:cNvPicPr>
            <a:picLocks noChangeAspect="1"/>
          </p:cNvPicPr>
          <p:nvPr/>
        </p:nvPicPr>
        <p:blipFill>
          <a:blip r:embed="rId3"/>
          <a:stretch>
            <a:fillRect/>
          </a:stretch>
        </p:blipFill>
        <p:spPr>
          <a:xfrm>
            <a:off x="914400" y="914400"/>
            <a:ext cx="10881360" cy="5394960"/>
          </a:xfrm>
          <a:prstGeom prst="rect">
            <a:avLst/>
          </a:prstGeom>
        </p:spPr>
      </p:pic>
      <p:sp>
        <p:nvSpPr>
          <p:cNvPr id="6" name="TextBox 5"/>
          <p:cNvSpPr txBox="1"/>
          <p:nvPr/>
        </p:nvSpPr>
        <p:spPr>
          <a:xfrm>
            <a:off x="914400" y="914400"/>
            <a:ext cx="914400" cy="914400"/>
          </a:xfrm>
          <a:prstGeom prst="rect">
            <a:avLst/>
          </a:prstGeom>
          <a:noFill/>
        </p:spPr>
        <p:txBody>
          <a:bodyPr wrap="none">
            <a:spAutoFit/>
          </a:bodyPr>
          <a:lstStyle/>
          <a:p/>
          <a:p>
            <a:pPr>
              <a:defRPr sz="2000"/>
            </a:pPr>
            <a:r>
              <a:t>Orders shipped from multiple warehouses DO NOT differentiate their date of shipment from each warehouse individually, THEREFORE the aggregated totals for each will only show a difference if a given warehouse is performing differently than average.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Warehouse Shipping Efficiency (cont'd)</a:t>
            </a:r>
          </a:p>
          <a:p>
            <a:r>
              <a:t>Warehouse 'B' has proportionally more One-Day shipping delays than the other warehouses.</a:t>
            </a:r>
          </a:p>
          <a:p>
            <a:r>
              <a:t>If warehouse 'C' were to be moved into warehouse 'B' then warehouse 'B' must be able to accomodate an extra 100 orders worth of source/process/ship per day.</a:t>
            </a:r>
          </a:p>
          <a:p>
            <a:r>
              <a:t>If the One-Day and Two-Day shipping delays associated with warehouse 'B' are the result of order volume, staffing, or warehouse operations efficiency, then these potential bottlenecks should be rectified prior to moving extra inventory into warehouse 'B'.</a:t>
            </a:r>
          </a:p>
        </p:txBody>
      </p:sp>
      <p:sp>
        <p:nvSpPr>
          <p:cNvPr id="3" name="Subtitle 2"/>
          <p:cNvSpPr>
            <a:spLocks noGrp="1"/>
          </p:cNvSpPr>
          <p:nvPr>
            <p:ph type="subTitle"/>
          </p:nvPr>
        </p:nvSpPr>
        <p:spPr/>
        <p:txBody>
          <a:bodyPr/>
          <a:lstStyle/>
          <a:p/>
        </p:txBody>
      </p:sp>
      <p:pic>
        <p:nvPicPr>
          <p:cNvPr id="4" name="Picture 3" descr="output_46_0.png"/>
          <p:cNvPicPr>
            <a:picLocks noChangeAspect="1"/>
          </p:cNvPicPr>
          <p:nvPr/>
        </p:nvPicPr>
        <p:blipFill>
          <a:blip r:embed="rId2"/>
          <a:stretch>
            <a:fillRect/>
          </a:stretch>
        </p:blipFill>
        <p:spPr>
          <a:xfrm>
            <a:off x="914400" y="914400"/>
            <a:ext cx="10881360" cy="3520440"/>
          </a:xfrm>
          <a:prstGeom prst="rect">
            <a:avLst/>
          </a:prstGeom>
        </p:spPr>
      </p:pic>
      <p:sp>
        <p:nvSpPr>
          <p:cNvPr id="5" name="TextBox 4"/>
          <p:cNvSpPr txBox="1"/>
          <p:nvPr/>
        </p:nvSpPr>
        <p:spPr>
          <a:xfrm>
            <a:off x="914400" y="914400"/>
            <a:ext cx="914400" cy="914400"/>
          </a:xfrm>
          <a:prstGeom prst="rect">
            <a:avLst/>
          </a:prstGeom>
          <a:noFill/>
        </p:spPr>
        <p:txBody>
          <a:bodyPr wrap="none">
            <a:spAutoFit/>
          </a:bodyPr>
          <a:lstStyle/>
          <a:p/>
          <a:p>
            <a:pPr>
              <a:defRPr sz="2000"/>
            </a:pPr>
            <a:r>
              <a:t>After splitting the shipping delays into occurances by location, normalized to maximum orders per bin: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a:p>
            <a:r>
              <a:t>It is extremely important to remember that the amount of space that any given portion of inventory shall occupy has been estimated here without the spacial burden of the items' packaging.</a:t>
            </a:r>
          </a:p>
          <a:p>
            <a:r>
              <a:t>It would be unsurprising to discover that the smaller scale models of current Warehouse C have proportionally more packaging than the somewhat larger models currently occupying Warehouse B.</a:t>
            </a:r>
          </a:p>
          <a:p>
            <a:r>
              <a:t>Both Warehouse B and Warehouse C will, in reality, be much larger than the generated volumes which were used to compare warehouse capacities.  Comparing the ratio of (Actual:Estimated) warehouse volume for each warehouse could possibly be used in lieu of ascertaining complete product packaging size information.</a:t>
            </a:r>
          </a:p>
          <a:p>
            <a:r>
              <a:t>Are any of these items no longer availible or difficult to acquire from the manufacturer?</a:t>
            </a:r>
          </a:p>
          <a:p>
            <a:r>
              <a:t>If so, consider dropping those products from the Mint Classics products catalogue.</a:t>
            </a:r>
          </a:p>
          <a:p>
            <a:r>
              <a:t>This method could be useful in warehouse reorganization more storage volume might be achieved from the same square footage with less individual product codes to keep organized and accessible.</a:t>
            </a:r>
          </a:p>
          <a:p>
            <a:r>
              <a:t>At the outset of this analysis, Mint Classics expressed an interest in being able to ship products within 24 hours of recieving a purchase order.</a:t>
            </a:r>
          </a:p>
          <a:p>
            <a:r>
              <a:t>The warehouse to which the inventory of the proposed closure would be moved has a higher proportion of 2-3 day delays than the other warehouses.</a:t>
            </a:r>
          </a:p>
          <a:p>
            <a:r>
              <a:t>Ensure that warehouse staffing and logistics in Warehouse B will be capable of accomodating the estimated 100 extra line items of orders per day after ammalgamation.</a:t>
            </a:r>
          </a:p>
          <a:p>
            <a:r>
              <a:t>Condense the existing inventory in Warehouse B creating a completely seperate and empty space for the inventory of Warehouse C prior to shutting down Warehouse.</a:t>
            </a:r>
          </a:p>
        </p:txBody>
      </p:sp>
      <p:sp>
        <p:nvSpPr>
          <p:cNvPr id="3" name="Subtitle 2"/>
          <p:cNvSpPr>
            <a:spLocks noGrp="1"/>
          </p:cNvSpPr>
          <p:nvPr>
            <p:ph type="subTitle"/>
          </p:nvPr>
        </p:nvSpPr>
        <p:spPr/>
        <p:txBody>
          <a:bodyPr/>
          <a:lstStyle/>
          <a:p/>
        </p:txBody>
      </p:sp>
      <p:sp>
        <p:nvSpPr>
          <p:cNvPr id="4" name="TextBox 3"/>
          <p:cNvSpPr txBox="1"/>
          <p:nvPr/>
        </p:nvSpPr>
        <p:spPr>
          <a:xfrm>
            <a:off x="914400" y="914400"/>
            <a:ext cx="914400" cy="914400"/>
          </a:xfrm>
          <a:prstGeom prst="rect">
            <a:avLst/>
          </a:prstGeom>
          <a:noFill/>
        </p:spPr>
        <p:txBody>
          <a:bodyPr wrap="none">
            <a:spAutoFit/>
          </a:bodyPr>
          <a:lstStyle/>
          <a:p/>
          <a:p>
            <a:pPr>
              <a:defRPr sz="2000"/>
            </a:pPr>
            <a:r>
              <a:t>- Compare the actual volumes of Warehouse B and Warehouse C against the estimated model</a:t>
            </a:r>
          </a:p>
        </p:txBody>
      </p:sp>
      <p:sp>
        <p:nvSpPr>
          <p:cNvPr id="5" name="TextBox 4"/>
          <p:cNvSpPr txBox="1"/>
          <p:nvPr/>
        </p:nvSpPr>
        <p:spPr>
          <a:xfrm>
            <a:off x="914400" y="914400"/>
            <a:ext cx="914400" cy="914400"/>
          </a:xfrm>
          <a:prstGeom prst="rect">
            <a:avLst/>
          </a:prstGeom>
          <a:noFill/>
        </p:spPr>
        <p:txBody>
          <a:bodyPr wrap="none">
            <a:spAutoFit/>
          </a:bodyPr>
          <a:lstStyle/>
          <a:p/>
          <a:p>
            <a:pPr>
              <a:defRPr sz="2000"/>
            </a:pPr>
            <a:r>
              <a:t>- Look into the reasons why some items have incredibly low inventory stock</a:t>
            </a:r>
          </a:p>
        </p:txBody>
      </p:sp>
      <p:sp>
        <p:nvSpPr>
          <p:cNvPr id="6" name="TextBox 5"/>
          <p:cNvSpPr txBox="1"/>
          <p:nvPr/>
        </p:nvSpPr>
        <p:spPr>
          <a:xfrm>
            <a:off x="914400" y="914400"/>
            <a:ext cx="914400" cy="914400"/>
          </a:xfrm>
          <a:prstGeom prst="rect">
            <a:avLst/>
          </a:prstGeom>
          <a:noFill/>
        </p:spPr>
        <p:txBody>
          <a:bodyPr wrap="none">
            <a:spAutoFit/>
          </a:bodyPr>
          <a:lstStyle/>
          <a:p/>
          <a:p>
            <a:pPr>
              <a:defRPr sz="2000"/>
            </a:pPr>
            <a:r>
              <a:t>- Consider the ability to handle the logistics of increased shipping from Warehouse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Please feel free to come back with any other more specific questions regarding any aspect of this ongoing project.</a:t>
            </a:r>
          </a:p>
        </p:txBody>
      </p:sp>
      <p:sp>
        <p:nvSpPr>
          <p:cNvPr id="3" name="Subtitle 2"/>
          <p:cNvSpPr>
            <a:spLocks noGrp="1"/>
          </p:cNvSpPr>
          <p:nvPr>
            <p:ph type="subTitle"/>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for choosing BCPMcustom Analytics!</a:t>
            </a:r>
          </a:p>
        </p:txBody>
      </p:sp>
      <p:sp>
        <p:nvSpPr>
          <p:cNvPr id="3" name="Subtitle 2"/>
          <p:cNvSpPr>
            <a:spLocks noGrp="1"/>
          </p:cNvSpPr>
          <p:nvPr>
            <p:ph type="subTitle"/>
          </p:nvPr>
        </p:nvSpPr>
        <p:spPr/>
        <p:txBody>
          <a:bodyPr/>
          <a:lstStyle/>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2026-09-30T15:43:40Z</dcterms:created>
  <dc:creator/>
  <dc:description/>
  <dc:language>en-CA</dc:language>
  <cp:lastModifiedBy/>
  <dcterms:modified xsi:type="dcterms:W3CDTF">2026-09-30T16:02:19Z</dcterms:modified>
  <cp:revision>4</cp:revision>
  <dc:subject/>
  <dc:title/>
</cp:coreProperties>
</file>